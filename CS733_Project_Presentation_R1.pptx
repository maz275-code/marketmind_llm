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Sora"/>
      <p:regular r:id="rId34"/>
      <p:bold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0" roundtripDataSignature="AMtx7mgG4SMxB719BeTRn1OV7a86V60Y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603A28-FFD9-49F6-A8E3-1C9D12FBBF8B}">
  <a:tblStyle styleId="{3E603A28-FFD9-49F6-A8E3-1C9D12FBBF8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Sora-bold.fntdata"/><Relationship Id="rId12" Type="http://schemas.openxmlformats.org/officeDocument/2006/relationships/slide" Target="slides/slide6.xml"/><Relationship Id="rId34" Type="http://schemas.openxmlformats.org/officeDocument/2006/relationships/font" Target="fonts/Sora-regular.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6" name="Google Shape;88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3" name="Google Shape;9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3" name="Google Shape;11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9" name="Google Shape;116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8ca009c97a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4" name="Google Shape;1174;g38ca009c97a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8ca009c97a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0" name="Google Shape;1180;g38ca009c97a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8ca009c97a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6" name="Google Shape;1186;g38ca009c97a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8c99c5b32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1" name="Google Shape;1191;g38c99c5b32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8c99c5b328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7" name="Google Shape;1197;g38c99c5b328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8c99c5b328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3" name="Google Shape;1203;g38c99c5b328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8ca009c97a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8" name="Google Shape;1208;g38ca009c97a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8ca009c97a_2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5" name="Google Shape;1215;g38ca009c97a_2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8ca009c97a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1" name="Google Shape;1221;g38ca009c97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a282e196e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7" name="Google Shape;1227;g3a282e196e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3a282e196e3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3" name="Google Shape;1233;g3a282e196e3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0" name="Google Shape;124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ae338ccf5b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7" name="Google Shape;1247;g3ae338ccf5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ae338ccf5b_1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4" name="Google Shape;1254;g3ae338ccf5b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ae338ccf5b_1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1" name="Google Shape;1261;g3ae338ccf5b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ae338ccf5b_1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7" name="Google Shape;1267;g3ae338ccf5b_1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ae338ccf5b_1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3" name="Google Shape;1273;g3ae338ccf5b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ae338ccf5b_1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1" name="Google Shape;1281;g3ae338ccf5b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7" name="Google Shape;12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39aeb08826c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8" name="Google Shape;1298;g39aeb08826c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4" name="Google Shape;130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0" name="Google Shape;131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12"/>
          <p:cNvGrpSpPr/>
          <p:nvPr/>
        </p:nvGrpSpPr>
        <p:grpSpPr>
          <a:xfrm>
            <a:off x="518850" y="392550"/>
            <a:ext cx="8106300" cy="4358400"/>
            <a:chOff x="518850" y="392550"/>
            <a:chExt cx="8106300" cy="4358400"/>
          </a:xfrm>
        </p:grpSpPr>
        <p:grpSp>
          <p:nvGrpSpPr>
            <p:cNvPr id="10" name="Google Shape;10;p12"/>
            <p:cNvGrpSpPr/>
            <p:nvPr/>
          </p:nvGrpSpPr>
          <p:grpSpPr>
            <a:xfrm>
              <a:off x="518850" y="392550"/>
              <a:ext cx="8106300" cy="396000"/>
              <a:chOff x="518850" y="385283"/>
              <a:chExt cx="8106300" cy="396000"/>
            </a:xfrm>
          </p:grpSpPr>
          <p:cxnSp>
            <p:nvCxnSpPr>
              <p:cNvPr id="11" name="Google Shape;11;p12"/>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12" name="Google Shape;12;p12"/>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13" name="Google Shape;13;p12"/>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14" name="Google Shape;14;p12"/>
            <p:cNvGrpSpPr/>
            <p:nvPr/>
          </p:nvGrpSpPr>
          <p:grpSpPr>
            <a:xfrm rot="10800000">
              <a:off x="518850" y="4354950"/>
              <a:ext cx="8106300" cy="396000"/>
              <a:chOff x="518850" y="385283"/>
              <a:chExt cx="8106300" cy="396000"/>
            </a:xfrm>
          </p:grpSpPr>
          <p:cxnSp>
            <p:nvCxnSpPr>
              <p:cNvPr id="15" name="Google Shape;15;p12"/>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16" name="Google Shape;16;p12"/>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17" name="Google Shape;17;p12"/>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sp>
        <p:nvSpPr>
          <p:cNvPr id="18" name="Google Shape;18;p12"/>
          <p:cNvSpPr txBox="1"/>
          <p:nvPr>
            <p:ph type="ctrTitle"/>
          </p:nvPr>
        </p:nvSpPr>
        <p:spPr>
          <a:xfrm>
            <a:off x="713225" y="1252927"/>
            <a:ext cx="4370100" cy="215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6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9" name="Google Shape;19;p12"/>
          <p:cNvSpPr txBox="1"/>
          <p:nvPr>
            <p:ph idx="1" type="subTitle"/>
          </p:nvPr>
        </p:nvSpPr>
        <p:spPr>
          <a:xfrm>
            <a:off x="713225" y="3414773"/>
            <a:ext cx="4370100" cy="47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0" name="Shape 20"/>
        <p:cNvGrpSpPr/>
        <p:nvPr/>
      </p:nvGrpSpPr>
      <p:grpSpPr>
        <a:xfrm>
          <a:off x="0" y="0"/>
          <a:ext cx="0" cy="0"/>
          <a:chOff x="0" y="0"/>
          <a:chExt cx="0" cy="0"/>
        </a:xfrm>
      </p:grpSpPr>
      <p:sp>
        <p:nvSpPr>
          <p:cNvPr id="21" name="Google Shape;21;p13"/>
          <p:cNvSpPr txBox="1"/>
          <p:nvPr>
            <p:ph type="title"/>
          </p:nvPr>
        </p:nvSpPr>
        <p:spPr>
          <a:xfrm>
            <a:off x="720000" y="1404675"/>
            <a:ext cx="761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2" name="Google Shape;22;p13"/>
          <p:cNvSpPr txBox="1"/>
          <p:nvPr>
            <p:ph idx="2" type="title"/>
          </p:nvPr>
        </p:nvSpPr>
        <p:spPr>
          <a:xfrm>
            <a:off x="720000" y="3066688"/>
            <a:ext cx="761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 name="Google Shape;23;p13"/>
          <p:cNvSpPr txBox="1"/>
          <p:nvPr>
            <p:ph idx="3" type="title"/>
          </p:nvPr>
        </p:nvSpPr>
        <p:spPr>
          <a:xfrm>
            <a:off x="2709178" y="1404675"/>
            <a:ext cx="761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4" name="Google Shape;24;p13"/>
          <p:cNvSpPr txBox="1"/>
          <p:nvPr>
            <p:ph idx="4" type="title"/>
          </p:nvPr>
        </p:nvSpPr>
        <p:spPr>
          <a:xfrm>
            <a:off x="2709178" y="3066688"/>
            <a:ext cx="761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5" name="Google Shape;25;p13"/>
          <p:cNvSpPr txBox="1"/>
          <p:nvPr>
            <p:ph idx="5" type="title"/>
          </p:nvPr>
        </p:nvSpPr>
        <p:spPr>
          <a:xfrm>
            <a:off x="4698355" y="1404675"/>
            <a:ext cx="761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 name="Google Shape;26;p13"/>
          <p:cNvSpPr txBox="1"/>
          <p:nvPr>
            <p:ph idx="6" type="title"/>
          </p:nvPr>
        </p:nvSpPr>
        <p:spPr>
          <a:xfrm>
            <a:off x="4698355" y="3066688"/>
            <a:ext cx="761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7" name="Google Shape;27;p13"/>
          <p:cNvSpPr txBox="1"/>
          <p:nvPr>
            <p:ph idx="1" type="subTitle"/>
          </p:nvPr>
        </p:nvSpPr>
        <p:spPr>
          <a:xfrm>
            <a:off x="720000" y="1852268"/>
            <a:ext cx="1593900" cy="7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algn="l">
              <a:lnSpc>
                <a:spcPct val="100000"/>
              </a:lnSpc>
              <a:spcBef>
                <a:spcPts val="0"/>
              </a:spcBef>
              <a:spcAft>
                <a:spcPts val="0"/>
              </a:spcAft>
              <a:buSzPts val="2400"/>
              <a:buFont typeface="Sora"/>
              <a:buNone/>
              <a:defRPr b="1" sz="2400">
                <a:latin typeface="Sora"/>
                <a:ea typeface="Sora"/>
                <a:cs typeface="Sora"/>
                <a:sym typeface="Sora"/>
              </a:defRPr>
            </a:lvl2pPr>
            <a:lvl3pPr lvl="2" algn="l">
              <a:lnSpc>
                <a:spcPct val="100000"/>
              </a:lnSpc>
              <a:spcBef>
                <a:spcPts val="0"/>
              </a:spcBef>
              <a:spcAft>
                <a:spcPts val="0"/>
              </a:spcAft>
              <a:buSzPts val="2400"/>
              <a:buFont typeface="Sora"/>
              <a:buNone/>
              <a:defRPr b="1" sz="2400">
                <a:latin typeface="Sora"/>
                <a:ea typeface="Sora"/>
                <a:cs typeface="Sora"/>
                <a:sym typeface="Sora"/>
              </a:defRPr>
            </a:lvl3pPr>
            <a:lvl4pPr lvl="3" algn="l">
              <a:lnSpc>
                <a:spcPct val="100000"/>
              </a:lnSpc>
              <a:spcBef>
                <a:spcPts val="0"/>
              </a:spcBef>
              <a:spcAft>
                <a:spcPts val="0"/>
              </a:spcAft>
              <a:buSzPts val="2400"/>
              <a:buFont typeface="Sora"/>
              <a:buNone/>
              <a:defRPr b="1" sz="2400">
                <a:latin typeface="Sora"/>
                <a:ea typeface="Sora"/>
                <a:cs typeface="Sora"/>
                <a:sym typeface="Sora"/>
              </a:defRPr>
            </a:lvl4pPr>
            <a:lvl5pPr lvl="4" algn="l">
              <a:lnSpc>
                <a:spcPct val="100000"/>
              </a:lnSpc>
              <a:spcBef>
                <a:spcPts val="0"/>
              </a:spcBef>
              <a:spcAft>
                <a:spcPts val="0"/>
              </a:spcAft>
              <a:buSzPts val="2400"/>
              <a:buFont typeface="Sora"/>
              <a:buNone/>
              <a:defRPr b="1" sz="2400">
                <a:latin typeface="Sora"/>
                <a:ea typeface="Sora"/>
                <a:cs typeface="Sora"/>
                <a:sym typeface="Sora"/>
              </a:defRPr>
            </a:lvl5pPr>
            <a:lvl6pPr lvl="5" algn="l">
              <a:lnSpc>
                <a:spcPct val="100000"/>
              </a:lnSpc>
              <a:spcBef>
                <a:spcPts val="0"/>
              </a:spcBef>
              <a:spcAft>
                <a:spcPts val="0"/>
              </a:spcAft>
              <a:buSzPts val="2400"/>
              <a:buFont typeface="Sora"/>
              <a:buNone/>
              <a:defRPr b="1" sz="2400">
                <a:latin typeface="Sora"/>
                <a:ea typeface="Sora"/>
                <a:cs typeface="Sora"/>
                <a:sym typeface="Sora"/>
              </a:defRPr>
            </a:lvl6pPr>
            <a:lvl7pPr lvl="6" algn="l">
              <a:lnSpc>
                <a:spcPct val="100000"/>
              </a:lnSpc>
              <a:spcBef>
                <a:spcPts val="0"/>
              </a:spcBef>
              <a:spcAft>
                <a:spcPts val="0"/>
              </a:spcAft>
              <a:buSzPts val="2400"/>
              <a:buFont typeface="Sora"/>
              <a:buNone/>
              <a:defRPr b="1" sz="2400">
                <a:latin typeface="Sora"/>
                <a:ea typeface="Sora"/>
                <a:cs typeface="Sora"/>
                <a:sym typeface="Sora"/>
              </a:defRPr>
            </a:lvl7pPr>
            <a:lvl8pPr lvl="7" algn="l">
              <a:lnSpc>
                <a:spcPct val="100000"/>
              </a:lnSpc>
              <a:spcBef>
                <a:spcPts val="0"/>
              </a:spcBef>
              <a:spcAft>
                <a:spcPts val="0"/>
              </a:spcAft>
              <a:buSzPts val="2400"/>
              <a:buFont typeface="Sora"/>
              <a:buNone/>
              <a:defRPr b="1" sz="2400">
                <a:latin typeface="Sora"/>
                <a:ea typeface="Sora"/>
                <a:cs typeface="Sora"/>
                <a:sym typeface="Sora"/>
              </a:defRPr>
            </a:lvl8pPr>
            <a:lvl9pPr lvl="8" algn="l">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8" name="Google Shape;28;p13"/>
          <p:cNvSpPr txBox="1"/>
          <p:nvPr>
            <p:ph idx="7" type="subTitle"/>
          </p:nvPr>
        </p:nvSpPr>
        <p:spPr>
          <a:xfrm>
            <a:off x="2709178" y="1852268"/>
            <a:ext cx="1593900" cy="7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algn="l">
              <a:lnSpc>
                <a:spcPct val="100000"/>
              </a:lnSpc>
              <a:spcBef>
                <a:spcPts val="0"/>
              </a:spcBef>
              <a:spcAft>
                <a:spcPts val="0"/>
              </a:spcAft>
              <a:buSzPts val="2400"/>
              <a:buFont typeface="Sora"/>
              <a:buNone/>
              <a:defRPr b="1" sz="2400">
                <a:latin typeface="Sora"/>
                <a:ea typeface="Sora"/>
                <a:cs typeface="Sora"/>
                <a:sym typeface="Sora"/>
              </a:defRPr>
            </a:lvl2pPr>
            <a:lvl3pPr lvl="2" algn="l">
              <a:lnSpc>
                <a:spcPct val="100000"/>
              </a:lnSpc>
              <a:spcBef>
                <a:spcPts val="0"/>
              </a:spcBef>
              <a:spcAft>
                <a:spcPts val="0"/>
              </a:spcAft>
              <a:buSzPts val="2400"/>
              <a:buFont typeface="Sora"/>
              <a:buNone/>
              <a:defRPr b="1" sz="2400">
                <a:latin typeface="Sora"/>
                <a:ea typeface="Sora"/>
                <a:cs typeface="Sora"/>
                <a:sym typeface="Sora"/>
              </a:defRPr>
            </a:lvl3pPr>
            <a:lvl4pPr lvl="3" algn="l">
              <a:lnSpc>
                <a:spcPct val="100000"/>
              </a:lnSpc>
              <a:spcBef>
                <a:spcPts val="0"/>
              </a:spcBef>
              <a:spcAft>
                <a:spcPts val="0"/>
              </a:spcAft>
              <a:buSzPts val="2400"/>
              <a:buFont typeface="Sora"/>
              <a:buNone/>
              <a:defRPr b="1" sz="2400">
                <a:latin typeface="Sora"/>
                <a:ea typeface="Sora"/>
                <a:cs typeface="Sora"/>
                <a:sym typeface="Sora"/>
              </a:defRPr>
            </a:lvl4pPr>
            <a:lvl5pPr lvl="4" algn="l">
              <a:lnSpc>
                <a:spcPct val="100000"/>
              </a:lnSpc>
              <a:spcBef>
                <a:spcPts val="0"/>
              </a:spcBef>
              <a:spcAft>
                <a:spcPts val="0"/>
              </a:spcAft>
              <a:buSzPts val="2400"/>
              <a:buFont typeface="Sora"/>
              <a:buNone/>
              <a:defRPr b="1" sz="2400">
                <a:latin typeface="Sora"/>
                <a:ea typeface="Sora"/>
                <a:cs typeface="Sora"/>
                <a:sym typeface="Sora"/>
              </a:defRPr>
            </a:lvl5pPr>
            <a:lvl6pPr lvl="5" algn="l">
              <a:lnSpc>
                <a:spcPct val="100000"/>
              </a:lnSpc>
              <a:spcBef>
                <a:spcPts val="0"/>
              </a:spcBef>
              <a:spcAft>
                <a:spcPts val="0"/>
              </a:spcAft>
              <a:buSzPts val="2400"/>
              <a:buFont typeface="Sora"/>
              <a:buNone/>
              <a:defRPr b="1" sz="2400">
                <a:latin typeface="Sora"/>
                <a:ea typeface="Sora"/>
                <a:cs typeface="Sora"/>
                <a:sym typeface="Sora"/>
              </a:defRPr>
            </a:lvl6pPr>
            <a:lvl7pPr lvl="6" algn="l">
              <a:lnSpc>
                <a:spcPct val="100000"/>
              </a:lnSpc>
              <a:spcBef>
                <a:spcPts val="0"/>
              </a:spcBef>
              <a:spcAft>
                <a:spcPts val="0"/>
              </a:spcAft>
              <a:buSzPts val="2400"/>
              <a:buFont typeface="Sora"/>
              <a:buNone/>
              <a:defRPr b="1" sz="2400">
                <a:latin typeface="Sora"/>
                <a:ea typeface="Sora"/>
                <a:cs typeface="Sora"/>
                <a:sym typeface="Sora"/>
              </a:defRPr>
            </a:lvl7pPr>
            <a:lvl8pPr lvl="7" algn="l">
              <a:lnSpc>
                <a:spcPct val="100000"/>
              </a:lnSpc>
              <a:spcBef>
                <a:spcPts val="0"/>
              </a:spcBef>
              <a:spcAft>
                <a:spcPts val="0"/>
              </a:spcAft>
              <a:buSzPts val="2400"/>
              <a:buFont typeface="Sora"/>
              <a:buNone/>
              <a:defRPr b="1" sz="2400">
                <a:latin typeface="Sora"/>
                <a:ea typeface="Sora"/>
                <a:cs typeface="Sora"/>
                <a:sym typeface="Sora"/>
              </a:defRPr>
            </a:lvl8pPr>
            <a:lvl9pPr lvl="8" algn="l">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9" name="Google Shape;29;p13"/>
          <p:cNvSpPr txBox="1"/>
          <p:nvPr>
            <p:ph idx="8" type="subTitle"/>
          </p:nvPr>
        </p:nvSpPr>
        <p:spPr>
          <a:xfrm>
            <a:off x="4698355" y="1852268"/>
            <a:ext cx="1593900" cy="7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algn="l">
              <a:lnSpc>
                <a:spcPct val="100000"/>
              </a:lnSpc>
              <a:spcBef>
                <a:spcPts val="0"/>
              </a:spcBef>
              <a:spcAft>
                <a:spcPts val="0"/>
              </a:spcAft>
              <a:buSzPts val="2400"/>
              <a:buFont typeface="Sora"/>
              <a:buNone/>
              <a:defRPr b="1" sz="2400">
                <a:latin typeface="Sora"/>
                <a:ea typeface="Sora"/>
                <a:cs typeface="Sora"/>
                <a:sym typeface="Sora"/>
              </a:defRPr>
            </a:lvl2pPr>
            <a:lvl3pPr lvl="2" algn="l">
              <a:lnSpc>
                <a:spcPct val="100000"/>
              </a:lnSpc>
              <a:spcBef>
                <a:spcPts val="0"/>
              </a:spcBef>
              <a:spcAft>
                <a:spcPts val="0"/>
              </a:spcAft>
              <a:buSzPts val="2400"/>
              <a:buFont typeface="Sora"/>
              <a:buNone/>
              <a:defRPr b="1" sz="2400">
                <a:latin typeface="Sora"/>
                <a:ea typeface="Sora"/>
                <a:cs typeface="Sora"/>
                <a:sym typeface="Sora"/>
              </a:defRPr>
            </a:lvl3pPr>
            <a:lvl4pPr lvl="3" algn="l">
              <a:lnSpc>
                <a:spcPct val="100000"/>
              </a:lnSpc>
              <a:spcBef>
                <a:spcPts val="0"/>
              </a:spcBef>
              <a:spcAft>
                <a:spcPts val="0"/>
              </a:spcAft>
              <a:buSzPts val="2400"/>
              <a:buFont typeface="Sora"/>
              <a:buNone/>
              <a:defRPr b="1" sz="2400">
                <a:latin typeface="Sora"/>
                <a:ea typeface="Sora"/>
                <a:cs typeface="Sora"/>
                <a:sym typeface="Sora"/>
              </a:defRPr>
            </a:lvl4pPr>
            <a:lvl5pPr lvl="4" algn="l">
              <a:lnSpc>
                <a:spcPct val="100000"/>
              </a:lnSpc>
              <a:spcBef>
                <a:spcPts val="0"/>
              </a:spcBef>
              <a:spcAft>
                <a:spcPts val="0"/>
              </a:spcAft>
              <a:buSzPts val="2400"/>
              <a:buFont typeface="Sora"/>
              <a:buNone/>
              <a:defRPr b="1" sz="2400">
                <a:latin typeface="Sora"/>
                <a:ea typeface="Sora"/>
                <a:cs typeface="Sora"/>
                <a:sym typeface="Sora"/>
              </a:defRPr>
            </a:lvl5pPr>
            <a:lvl6pPr lvl="5" algn="l">
              <a:lnSpc>
                <a:spcPct val="100000"/>
              </a:lnSpc>
              <a:spcBef>
                <a:spcPts val="0"/>
              </a:spcBef>
              <a:spcAft>
                <a:spcPts val="0"/>
              </a:spcAft>
              <a:buSzPts val="2400"/>
              <a:buFont typeface="Sora"/>
              <a:buNone/>
              <a:defRPr b="1" sz="2400">
                <a:latin typeface="Sora"/>
                <a:ea typeface="Sora"/>
                <a:cs typeface="Sora"/>
                <a:sym typeface="Sora"/>
              </a:defRPr>
            </a:lvl6pPr>
            <a:lvl7pPr lvl="6" algn="l">
              <a:lnSpc>
                <a:spcPct val="100000"/>
              </a:lnSpc>
              <a:spcBef>
                <a:spcPts val="0"/>
              </a:spcBef>
              <a:spcAft>
                <a:spcPts val="0"/>
              </a:spcAft>
              <a:buSzPts val="2400"/>
              <a:buFont typeface="Sora"/>
              <a:buNone/>
              <a:defRPr b="1" sz="2400">
                <a:latin typeface="Sora"/>
                <a:ea typeface="Sora"/>
                <a:cs typeface="Sora"/>
                <a:sym typeface="Sora"/>
              </a:defRPr>
            </a:lvl7pPr>
            <a:lvl8pPr lvl="7" algn="l">
              <a:lnSpc>
                <a:spcPct val="100000"/>
              </a:lnSpc>
              <a:spcBef>
                <a:spcPts val="0"/>
              </a:spcBef>
              <a:spcAft>
                <a:spcPts val="0"/>
              </a:spcAft>
              <a:buSzPts val="2400"/>
              <a:buFont typeface="Sora"/>
              <a:buNone/>
              <a:defRPr b="1" sz="2400">
                <a:latin typeface="Sora"/>
                <a:ea typeface="Sora"/>
                <a:cs typeface="Sora"/>
                <a:sym typeface="Sora"/>
              </a:defRPr>
            </a:lvl8pPr>
            <a:lvl9pPr lvl="8" algn="l">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30" name="Google Shape;30;p13"/>
          <p:cNvSpPr txBox="1"/>
          <p:nvPr>
            <p:ph idx="9" type="subTitle"/>
          </p:nvPr>
        </p:nvSpPr>
        <p:spPr>
          <a:xfrm>
            <a:off x="720000" y="3514248"/>
            <a:ext cx="1593900" cy="7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algn="l">
              <a:lnSpc>
                <a:spcPct val="100000"/>
              </a:lnSpc>
              <a:spcBef>
                <a:spcPts val="0"/>
              </a:spcBef>
              <a:spcAft>
                <a:spcPts val="0"/>
              </a:spcAft>
              <a:buSzPts val="2400"/>
              <a:buFont typeface="Sora"/>
              <a:buNone/>
              <a:defRPr b="1" sz="2400">
                <a:latin typeface="Sora"/>
                <a:ea typeface="Sora"/>
                <a:cs typeface="Sora"/>
                <a:sym typeface="Sora"/>
              </a:defRPr>
            </a:lvl2pPr>
            <a:lvl3pPr lvl="2" algn="l">
              <a:lnSpc>
                <a:spcPct val="100000"/>
              </a:lnSpc>
              <a:spcBef>
                <a:spcPts val="0"/>
              </a:spcBef>
              <a:spcAft>
                <a:spcPts val="0"/>
              </a:spcAft>
              <a:buSzPts val="2400"/>
              <a:buFont typeface="Sora"/>
              <a:buNone/>
              <a:defRPr b="1" sz="2400">
                <a:latin typeface="Sora"/>
                <a:ea typeface="Sora"/>
                <a:cs typeface="Sora"/>
                <a:sym typeface="Sora"/>
              </a:defRPr>
            </a:lvl3pPr>
            <a:lvl4pPr lvl="3" algn="l">
              <a:lnSpc>
                <a:spcPct val="100000"/>
              </a:lnSpc>
              <a:spcBef>
                <a:spcPts val="0"/>
              </a:spcBef>
              <a:spcAft>
                <a:spcPts val="0"/>
              </a:spcAft>
              <a:buSzPts val="2400"/>
              <a:buFont typeface="Sora"/>
              <a:buNone/>
              <a:defRPr b="1" sz="2400">
                <a:latin typeface="Sora"/>
                <a:ea typeface="Sora"/>
                <a:cs typeface="Sora"/>
                <a:sym typeface="Sora"/>
              </a:defRPr>
            </a:lvl4pPr>
            <a:lvl5pPr lvl="4" algn="l">
              <a:lnSpc>
                <a:spcPct val="100000"/>
              </a:lnSpc>
              <a:spcBef>
                <a:spcPts val="0"/>
              </a:spcBef>
              <a:spcAft>
                <a:spcPts val="0"/>
              </a:spcAft>
              <a:buSzPts val="2400"/>
              <a:buFont typeface="Sora"/>
              <a:buNone/>
              <a:defRPr b="1" sz="2400">
                <a:latin typeface="Sora"/>
                <a:ea typeface="Sora"/>
                <a:cs typeface="Sora"/>
                <a:sym typeface="Sora"/>
              </a:defRPr>
            </a:lvl5pPr>
            <a:lvl6pPr lvl="5" algn="l">
              <a:lnSpc>
                <a:spcPct val="100000"/>
              </a:lnSpc>
              <a:spcBef>
                <a:spcPts val="0"/>
              </a:spcBef>
              <a:spcAft>
                <a:spcPts val="0"/>
              </a:spcAft>
              <a:buSzPts val="2400"/>
              <a:buFont typeface="Sora"/>
              <a:buNone/>
              <a:defRPr b="1" sz="2400">
                <a:latin typeface="Sora"/>
                <a:ea typeface="Sora"/>
                <a:cs typeface="Sora"/>
                <a:sym typeface="Sora"/>
              </a:defRPr>
            </a:lvl6pPr>
            <a:lvl7pPr lvl="6" algn="l">
              <a:lnSpc>
                <a:spcPct val="100000"/>
              </a:lnSpc>
              <a:spcBef>
                <a:spcPts val="0"/>
              </a:spcBef>
              <a:spcAft>
                <a:spcPts val="0"/>
              </a:spcAft>
              <a:buSzPts val="2400"/>
              <a:buFont typeface="Sora"/>
              <a:buNone/>
              <a:defRPr b="1" sz="2400">
                <a:latin typeface="Sora"/>
                <a:ea typeface="Sora"/>
                <a:cs typeface="Sora"/>
                <a:sym typeface="Sora"/>
              </a:defRPr>
            </a:lvl7pPr>
            <a:lvl8pPr lvl="7" algn="l">
              <a:lnSpc>
                <a:spcPct val="100000"/>
              </a:lnSpc>
              <a:spcBef>
                <a:spcPts val="0"/>
              </a:spcBef>
              <a:spcAft>
                <a:spcPts val="0"/>
              </a:spcAft>
              <a:buSzPts val="2400"/>
              <a:buFont typeface="Sora"/>
              <a:buNone/>
              <a:defRPr b="1" sz="2400">
                <a:latin typeface="Sora"/>
                <a:ea typeface="Sora"/>
                <a:cs typeface="Sora"/>
                <a:sym typeface="Sora"/>
              </a:defRPr>
            </a:lvl8pPr>
            <a:lvl9pPr lvl="8" algn="l">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31" name="Google Shape;31;p13"/>
          <p:cNvSpPr txBox="1"/>
          <p:nvPr>
            <p:ph idx="13" type="subTitle"/>
          </p:nvPr>
        </p:nvSpPr>
        <p:spPr>
          <a:xfrm>
            <a:off x="2709178" y="3514248"/>
            <a:ext cx="1593900" cy="7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algn="l">
              <a:lnSpc>
                <a:spcPct val="100000"/>
              </a:lnSpc>
              <a:spcBef>
                <a:spcPts val="0"/>
              </a:spcBef>
              <a:spcAft>
                <a:spcPts val="0"/>
              </a:spcAft>
              <a:buSzPts val="2400"/>
              <a:buFont typeface="Sora"/>
              <a:buNone/>
              <a:defRPr b="1" sz="2400">
                <a:latin typeface="Sora"/>
                <a:ea typeface="Sora"/>
                <a:cs typeface="Sora"/>
                <a:sym typeface="Sora"/>
              </a:defRPr>
            </a:lvl2pPr>
            <a:lvl3pPr lvl="2" algn="l">
              <a:lnSpc>
                <a:spcPct val="100000"/>
              </a:lnSpc>
              <a:spcBef>
                <a:spcPts val="0"/>
              </a:spcBef>
              <a:spcAft>
                <a:spcPts val="0"/>
              </a:spcAft>
              <a:buSzPts val="2400"/>
              <a:buFont typeface="Sora"/>
              <a:buNone/>
              <a:defRPr b="1" sz="2400">
                <a:latin typeface="Sora"/>
                <a:ea typeface="Sora"/>
                <a:cs typeface="Sora"/>
                <a:sym typeface="Sora"/>
              </a:defRPr>
            </a:lvl3pPr>
            <a:lvl4pPr lvl="3" algn="l">
              <a:lnSpc>
                <a:spcPct val="100000"/>
              </a:lnSpc>
              <a:spcBef>
                <a:spcPts val="0"/>
              </a:spcBef>
              <a:spcAft>
                <a:spcPts val="0"/>
              </a:spcAft>
              <a:buSzPts val="2400"/>
              <a:buFont typeface="Sora"/>
              <a:buNone/>
              <a:defRPr b="1" sz="2400">
                <a:latin typeface="Sora"/>
                <a:ea typeface="Sora"/>
                <a:cs typeface="Sora"/>
                <a:sym typeface="Sora"/>
              </a:defRPr>
            </a:lvl4pPr>
            <a:lvl5pPr lvl="4" algn="l">
              <a:lnSpc>
                <a:spcPct val="100000"/>
              </a:lnSpc>
              <a:spcBef>
                <a:spcPts val="0"/>
              </a:spcBef>
              <a:spcAft>
                <a:spcPts val="0"/>
              </a:spcAft>
              <a:buSzPts val="2400"/>
              <a:buFont typeface="Sora"/>
              <a:buNone/>
              <a:defRPr b="1" sz="2400">
                <a:latin typeface="Sora"/>
                <a:ea typeface="Sora"/>
                <a:cs typeface="Sora"/>
                <a:sym typeface="Sora"/>
              </a:defRPr>
            </a:lvl5pPr>
            <a:lvl6pPr lvl="5" algn="l">
              <a:lnSpc>
                <a:spcPct val="100000"/>
              </a:lnSpc>
              <a:spcBef>
                <a:spcPts val="0"/>
              </a:spcBef>
              <a:spcAft>
                <a:spcPts val="0"/>
              </a:spcAft>
              <a:buSzPts val="2400"/>
              <a:buFont typeface="Sora"/>
              <a:buNone/>
              <a:defRPr b="1" sz="2400">
                <a:latin typeface="Sora"/>
                <a:ea typeface="Sora"/>
                <a:cs typeface="Sora"/>
                <a:sym typeface="Sora"/>
              </a:defRPr>
            </a:lvl6pPr>
            <a:lvl7pPr lvl="6" algn="l">
              <a:lnSpc>
                <a:spcPct val="100000"/>
              </a:lnSpc>
              <a:spcBef>
                <a:spcPts val="0"/>
              </a:spcBef>
              <a:spcAft>
                <a:spcPts val="0"/>
              </a:spcAft>
              <a:buSzPts val="2400"/>
              <a:buFont typeface="Sora"/>
              <a:buNone/>
              <a:defRPr b="1" sz="2400">
                <a:latin typeface="Sora"/>
                <a:ea typeface="Sora"/>
                <a:cs typeface="Sora"/>
                <a:sym typeface="Sora"/>
              </a:defRPr>
            </a:lvl7pPr>
            <a:lvl8pPr lvl="7" algn="l">
              <a:lnSpc>
                <a:spcPct val="100000"/>
              </a:lnSpc>
              <a:spcBef>
                <a:spcPts val="0"/>
              </a:spcBef>
              <a:spcAft>
                <a:spcPts val="0"/>
              </a:spcAft>
              <a:buSzPts val="2400"/>
              <a:buFont typeface="Sora"/>
              <a:buNone/>
              <a:defRPr b="1" sz="2400">
                <a:latin typeface="Sora"/>
                <a:ea typeface="Sora"/>
                <a:cs typeface="Sora"/>
                <a:sym typeface="Sora"/>
              </a:defRPr>
            </a:lvl8pPr>
            <a:lvl9pPr lvl="8" algn="l">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32" name="Google Shape;32;p13"/>
          <p:cNvSpPr txBox="1"/>
          <p:nvPr>
            <p:ph idx="14" type="subTitle"/>
          </p:nvPr>
        </p:nvSpPr>
        <p:spPr>
          <a:xfrm>
            <a:off x="4698355" y="3514248"/>
            <a:ext cx="1593900" cy="7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algn="l">
              <a:lnSpc>
                <a:spcPct val="100000"/>
              </a:lnSpc>
              <a:spcBef>
                <a:spcPts val="0"/>
              </a:spcBef>
              <a:spcAft>
                <a:spcPts val="0"/>
              </a:spcAft>
              <a:buSzPts val="2400"/>
              <a:buFont typeface="Sora"/>
              <a:buNone/>
              <a:defRPr b="1" sz="2400">
                <a:latin typeface="Sora"/>
                <a:ea typeface="Sora"/>
                <a:cs typeface="Sora"/>
                <a:sym typeface="Sora"/>
              </a:defRPr>
            </a:lvl2pPr>
            <a:lvl3pPr lvl="2" algn="l">
              <a:lnSpc>
                <a:spcPct val="100000"/>
              </a:lnSpc>
              <a:spcBef>
                <a:spcPts val="0"/>
              </a:spcBef>
              <a:spcAft>
                <a:spcPts val="0"/>
              </a:spcAft>
              <a:buSzPts val="2400"/>
              <a:buFont typeface="Sora"/>
              <a:buNone/>
              <a:defRPr b="1" sz="2400">
                <a:latin typeface="Sora"/>
                <a:ea typeface="Sora"/>
                <a:cs typeface="Sora"/>
                <a:sym typeface="Sora"/>
              </a:defRPr>
            </a:lvl3pPr>
            <a:lvl4pPr lvl="3" algn="l">
              <a:lnSpc>
                <a:spcPct val="100000"/>
              </a:lnSpc>
              <a:spcBef>
                <a:spcPts val="0"/>
              </a:spcBef>
              <a:spcAft>
                <a:spcPts val="0"/>
              </a:spcAft>
              <a:buSzPts val="2400"/>
              <a:buFont typeface="Sora"/>
              <a:buNone/>
              <a:defRPr b="1" sz="2400">
                <a:latin typeface="Sora"/>
                <a:ea typeface="Sora"/>
                <a:cs typeface="Sora"/>
                <a:sym typeface="Sora"/>
              </a:defRPr>
            </a:lvl4pPr>
            <a:lvl5pPr lvl="4" algn="l">
              <a:lnSpc>
                <a:spcPct val="100000"/>
              </a:lnSpc>
              <a:spcBef>
                <a:spcPts val="0"/>
              </a:spcBef>
              <a:spcAft>
                <a:spcPts val="0"/>
              </a:spcAft>
              <a:buSzPts val="2400"/>
              <a:buFont typeface="Sora"/>
              <a:buNone/>
              <a:defRPr b="1" sz="2400">
                <a:latin typeface="Sora"/>
                <a:ea typeface="Sora"/>
                <a:cs typeface="Sora"/>
                <a:sym typeface="Sora"/>
              </a:defRPr>
            </a:lvl5pPr>
            <a:lvl6pPr lvl="5" algn="l">
              <a:lnSpc>
                <a:spcPct val="100000"/>
              </a:lnSpc>
              <a:spcBef>
                <a:spcPts val="0"/>
              </a:spcBef>
              <a:spcAft>
                <a:spcPts val="0"/>
              </a:spcAft>
              <a:buSzPts val="2400"/>
              <a:buFont typeface="Sora"/>
              <a:buNone/>
              <a:defRPr b="1" sz="2400">
                <a:latin typeface="Sora"/>
                <a:ea typeface="Sora"/>
                <a:cs typeface="Sora"/>
                <a:sym typeface="Sora"/>
              </a:defRPr>
            </a:lvl6pPr>
            <a:lvl7pPr lvl="6" algn="l">
              <a:lnSpc>
                <a:spcPct val="100000"/>
              </a:lnSpc>
              <a:spcBef>
                <a:spcPts val="0"/>
              </a:spcBef>
              <a:spcAft>
                <a:spcPts val="0"/>
              </a:spcAft>
              <a:buSzPts val="2400"/>
              <a:buFont typeface="Sora"/>
              <a:buNone/>
              <a:defRPr b="1" sz="2400">
                <a:latin typeface="Sora"/>
                <a:ea typeface="Sora"/>
                <a:cs typeface="Sora"/>
                <a:sym typeface="Sora"/>
              </a:defRPr>
            </a:lvl7pPr>
            <a:lvl8pPr lvl="7" algn="l">
              <a:lnSpc>
                <a:spcPct val="100000"/>
              </a:lnSpc>
              <a:spcBef>
                <a:spcPts val="0"/>
              </a:spcBef>
              <a:spcAft>
                <a:spcPts val="0"/>
              </a:spcAft>
              <a:buSzPts val="2400"/>
              <a:buFont typeface="Sora"/>
              <a:buNone/>
              <a:defRPr b="1" sz="2400">
                <a:latin typeface="Sora"/>
                <a:ea typeface="Sora"/>
                <a:cs typeface="Sora"/>
                <a:sym typeface="Sora"/>
              </a:defRPr>
            </a:lvl8pPr>
            <a:lvl9pPr lvl="8" algn="l">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33" name="Google Shape;33;p13"/>
          <p:cNvGrpSpPr/>
          <p:nvPr/>
        </p:nvGrpSpPr>
        <p:grpSpPr>
          <a:xfrm>
            <a:off x="518850" y="392550"/>
            <a:ext cx="8106300" cy="4358400"/>
            <a:chOff x="518850" y="392550"/>
            <a:chExt cx="8106300" cy="4358400"/>
          </a:xfrm>
        </p:grpSpPr>
        <p:grpSp>
          <p:nvGrpSpPr>
            <p:cNvPr id="34" name="Google Shape;34;p13"/>
            <p:cNvGrpSpPr/>
            <p:nvPr/>
          </p:nvGrpSpPr>
          <p:grpSpPr>
            <a:xfrm>
              <a:off x="518850" y="392550"/>
              <a:ext cx="8106300" cy="396000"/>
              <a:chOff x="518850" y="385283"/>
              <a:chExt cx="8106300" cy="396000"/>
            </a:xfrm>
          </p:grpSpPr>
          <p:cxnSp>
            <p:nvCxnSpPr>
              <p:cNvPr id="35" name="Google Shape;35;p13"/>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36" name="Google Shape;36;p13"/>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37" name="Google Shape;37;p13"/>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38" name="Google Shape;38;p13"/>
            <p:cNvGrpSpPr/>
            <p:nvPr/>
          </p:nvGrpSpPr>
          <p:grpSpPr>
            <a:xfrm rot="10800000">
              <a:off x="518850" y="4354950"/>
              <a:ext cx="8106300" cy="396000"/>
              <a:chOff x="518850" y="385283"/>
              <a:chExt cx="8106300" cy="396000"/>
            </a:xfrm>
          </p:grpSpPr>
          <p:cxnSp>
            <p:nvCxnSpPr>
              <p:cNvPr id="39" name="Google Shape;39;p13"/>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40" name="Google Shape;40;p13"/>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41" name="Google Shape;41;p13"/>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sp>
        <p:nvSpPr>
          <p:cNvPr id="42" name="Google Shape;42;p13"/>
          <p:cNvSpPr txBox="1"/>
          <p:nvPr>
            <p:ph idx="15" type="title"/>
          </p:nvPr>
        </p:nvSpPr>
        <p:spPr>
          <a:xfrm>
            <a:off x="720000" y="541675"/>
            <a:ext cx="7710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14"/>
          <p:cNvSpPr txBox="1"/>
          <p:nvPr>
            <p:ph type="title"/>
          </p:nvPr>
        </p:nvSpPr>
        <p:spPr>
          <a:xfrm>
            <a:off x="4130550" y="2623450"/>
            <a:ext cx="4300200" cy="84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5" name="Google Shape;45;p14"/>
          <p:cNvSpPr txBox="1"/>
          <p:nvPr>
            <p:ph idx="2" type="title"/>
          </p:nvPr>
        </p:nvSpPr>
        <p:spPr>
          <a:xfrm>
            <a:off x="4130550" y="1678250"/>
            <a:ext cx="4300200" cy="84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grpSp>
        <p:nvGrpSpPr>
          <p:cNvPr id="46" name="Google Shape;46;p14"/>
          <p:cNvGrpSpPr/>
          <p:nvPr/>
        </p:nvGrpSpPr>
        <p:grpSpPr>
          <a:xfrm>
            <a:off x="518850" y="392550"/>
            <a:ext cx="8106300" cy="4358400"/>
            <a:chOff x="518850" y="392550"/>
            <a:chExt cx="8106300" cy="4358400"/>
          </a:xfrm>
        </p:grpSpPr>
        <p:grpSp>
          <p:nvGrpSpPr>
            <p:cNvPr id="47" name="Google Shape;47;p14"/>
            <p:cNvGrpSpPr/>
            <p:nvPr/>
          </p:nvGrpSpPr>
          <p:grpSpPr>
            <a:xfrm>
              <a:off x="518850" y="392550"/>
              <a:ext cx="8106300" cy="396000"/>
              <a:chOff x="518850" y="385283"/>
              <a:chExt cx="8106300" cy="396000"/>
            </a:xfrm>
          </p:grpSpPr>
          <p:cxnSp>
            <p:nvCxnSpPr>
              <p:cNvPr id="48" name="Google Shape;48;p14"/>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49" name="Google Shape;49;p14"/>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50" name="Google Shape;50;p14"/>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51" name="Google Shape;51;p14"/>
            <p:cNvGrpSpPr/>
            <p:nvPr/>
          </p:nvGrpSpPr>
          <p:grpSpPr>
            <a:xfrm rot="10800000">
              <a:off x="518850" y="4354950"/>
              <a:ext cx="8106300" cy="396000"/>
              <a:chOff x="518850" y="385283"/>
              <a:chExt cx="8106300" cy="396000"/>
            </a:xfrm>
          </p:grpSpPr>
          <p:cxnSp>
            <p:nvCxnSpPr>
              <p:cNvPr id="52" name="Google Shape;52;p14"/>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53" name="Google Shape;53;p14"/>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54" name="Google Shape;54;p14"/>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grpSp>
        <p:nvGrpSpPr>
          <p:cNvPr id="56" name="Google Shape;56;p15"/>
          <p:cNvGrpSpPr/>
          <p:nvPr/>
        </p:nvGrpSpPr>
        <p:grpSpPr>
          <a:xfrm>
            <a:off x="518850" y="392550"/>
            <a:ext cx="8106300" cy="4358400"/>
            <a:chOff x="518850" y="392550"/>
            <a:chExt cx="8106300" cy="4358400"/>
          </a:xfrm>
        </p:grpSpPr>
        <p:grpSp>
          <p:nvGrpSpPr>
            <p:cNvPr id="57" name="Google Shape;57;p15"/>
            <p:cNvGrpSpPr/>
            <p:nvPr/>
          </p:nvGrpSpPr>
          <p:grpSpPr>
            <a:xfrm>
              <a:off x="518850" y="392550"/>
              <a:ext cx="8106300" cy="396000"/>
              <a:chOff x="518850" y="385283"/>
              <a:chExt cx="8106300" cy="396000"/>
            </a:xfrm>
          </p:grpSpPr>
          <p:cxnSp>
            <p:nvCxnSpPr>
              <p:cNvPr id="58" name="Google Shape;58;p15"/>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59" name="Google Shape;59;p15"/>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60" name="Google Shape;60;p15"/>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61" name="Google Shape;61;p15"/>
            <p:cNvGrpSpPr/>
            <p:nvPr/>
          </p:nvGrpSpPr>
          <p:grpSpPr>
            <a:xfrm rot="10800000">
              <a:off x="518850" y="4354950"/>
              <a:ext cx="8106300" cy="396000"/>
              <a:chOff x="518850" y="385283"/>
              <a:chExt cx="8106300" cy="396000"/>
            </a:xfrm>
          </p:grpSpPr>
          <p:cxnSp>
            <p:nvCxnSpPr>
              <p:cNvPr id="62" name="Google Shape;62;p15"/>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63" name="Google Shape;63;p15"/>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64" name="Google Shape;64;p15"/>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sp>
        <p:nvSpPr>
          <p:cNvPr id="65" name="Google Shape;65;p15"/>
          <p:cNvSpPr txBox="1"/>
          <p:nvPr>
            <p:ph type="title"/>
          </p:nvPr>
        </p:nvSpPr>
        <p:spPr>
          <a:xfrm>
            <a:off x="720000" y="541675"/>
            <a:ext cx="7710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sp>
        <p:nvSpPr>
          <p:cNvPr id="67" name="Google Shape;67;p16"/>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68" name="Google Shape;68;p16"/>
          <p:cNvGrpSpPr/>
          <p:nvPr/>
        </p:nvGrpSpPr>
        <p:grpSpPr>
          <a:xfrm>
            <a:off x="518850" y="392550"/>
            <a:ext cx="8106300" cy="4358400"/>
            <a:chOff x="518850" y="392550"/>
            <a:chExt cx="8106300" cy="4358400"/>
          </a:xfrm>
        </p:grpSpPr>
        <p:grpSp>
          <p:nvGrpSpPr>
            <p:cNvPr id="69" name="Google Shape;69;p16"/>
            <p:cNvGrpSpPr/>
            <p:nvPr/>
          </p:nvGrpSpPr>
          <p:grpSpPr>
            <a:xfrm>
              <a:off x="518850" y="392550"/>
              <a:ext cx="8106300" cy="396000"/>
              <a:chOff x="518850" y="385283"/>
              <a:chExt cx="8106300" cy="396000"/>
            </a:xfrm>
          </p:grpSpPr>
          <p:cxnSp>
            <p:nvCxnSpPr>
              <p:cNvPr id="70" name="Google Shape;70;p16"/>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71" name="Google Shape;71;p16"/>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72" name="Google Shape;72;p16"/>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73" name="Google Shape;73;p16"/>
            <p:cNvGrpSpPr/>
            <p:nvPr/>
          </p:nvGrpSpPr>
          <p:grpSpPr>
            <a:xfrm rot="10800000">
              <a:off x="518850" y="4354950"/>
              <a:ext cx="8106300" cy="396000"/>
              <a:chOff x="518850" y="385283"/>
              <a:chExt cx="8106300" cy="396000"/>
            </a:xfrm>
          </p:grpSpPr>
          <p:cxnSp>
            <p:nvCxnSpPr>
              <p:cNvPr id="74" name="Google Shape;74;p16"/>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75" name="Google Shape;75;p16"/>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76" name="Google Shape;76;p16"/>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17"/>
          <p:cNvSpPr txBox="1"/>
          <p:nvPr>
            <p:ph type="title"/>
          </p:nvPr>
        </p:nvSpPr>
        <p:spPr>
          <a:xfrm>
            <a:off x="2135550" y="1222639"/>
            <a:ext cx="4872900" cy="19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79" name="Google Shape;79;p17"/>
          <p:cNvSpPr txBox="1"/>
          <p:nvPr>
            <p:ph idx="1" type="subTitle"/>
          </p:nvPr>
        </p:nvSpPr>
        <p:spPr>
          <a:xfrm>
            <a:off x="2135550" y="3339439"/>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80" name="Google Shape;80;p17"/>
          <p:cNvGrpSpPr/>
          <p:nvPr/>
        </p:nvGrpSpPr>
        <p:grpSpPr>
          <a:xfrm>
            <a:off x="518850" y="392550"/>
            <a:ext cx="8106300" cy="4358400"/>
            <a:chOff x="518850" y="392550"/>
            <a:chExt cx="8106300" cy="4358400"/>
          </a:xfrm>
        </p:grpSpPr>
        <p:grpSp>
          <p:nvGrpSpPr>
            <p:cNvPr id="81" name="Google Shape;81;p17"/>
            <p:cNvGrpSpPr/>
            <p:nvPr/>
          </p:nvGrpSpPr>
          <p:grpSpPr>
            <a:xfrm>
              <a:off x="518850" y="392550"/>
              <a:ext cx="8106300" cy="396000"/>
              <a:chOff x="518850" y="385283"/>
              <a:chExt cx="8106300" cy="396000"/>
            </a:xfrm>
          </p:grpSpPr>
          <p:cxnSp>
            <p:nvCxnSpPr>
              <p:cNvPr id="82" name="Google Shape;82;p17"/>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83" name="Google Shape;83;p17"/>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84" name="Google Shape;84;p17"/>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85" name="Google Shape;85;p17"/>
            <p:cNvGrpSpPr/>
            <p:nvPr/>
          </p:nvGrpSpPr>
          <p:grpSpPr>
            <a:xfrm rot="10800000">
              <a:off x="518850" y="4354950"/>
              <a:ext cx="8106300" cy="396000"/>
              <a:chOff x="518850" y="385283"/>
              <a:chExt cx="8106300" cy="396000"/>
            </a:xfrm>
          </p:grpSpPr>
          <p:cxnSp>
            <p:nvCxnSpPr>
              <p:cNvPr id="86" name="Google Shape;86;p17"/>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87" name="Google Shape;87;p17"/>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88" name="Google Shape;88;p17"/>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18"/>
          <p:cNvSpPr/>
          <p:nvPr>
            <p:ph idx="2" type="pic"/>
          </p:nvPr>
        </p:nvSpPr>
        <p:spPr>
          <a:xfrm>
            <a:off x="0" y="0"/>
            <a:ext cx="9144000" cy="5143500"/>
          </a:xfrm>
          <a:prstGeom prst="rect">
            <a:avLst/>
          </a:prstGeom>
          <a:noFill/>
          <a:ln>
            <a:noFill/>
          </a:ln>
        </p:spPr>
      </p:sp>
      <p:sp>
        <p:nvSpPr>
          <p:cNvPr id="91" name="Google Shape;91;p18"/>
          <p:cNvSpPr txBox="1"/>
          <p:nvPr>
            <p:ph type="title"/>
          </p:nvPr>
        </p:nvSpPr>
        <p:spPr>
          <a:xfrm>
            <a:off x="720000" y="4014450"/>
            <a:ext cx="7704000" cy="5727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2" name="Shape 9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3" name="Shape 93"/>
        <p:cNvGrpSpPr/>
        <p:nvPr/>
      </p:nvGrpSpPr>
      <p:grpSpPr>
        <a:xfrm>
          <a:off x="0" y="0"/>
          <a:ext cx="0" cy="0"/>
          <a:chOff x="0" y="0"/>
          <a:chExt cx="0" cy="0"/>
        </a:xfrm>
      </p:grpSpPr>
      <p:grpSp>
        <p:nvGrpSpPr>
          <p:cNvPr id="94" name="Google Shape;94;p20"/>
          <p:cNvGrpSpPr/>
          <p:nvPr/>
        </p:nvGrpSpPr>
        <p:grpSpPr>
          <a:xfrm>
            <a:off x="518850" y="392550"/>
            <a:ext cx="8106300" cy="4358400"/>
            <a:chOff x="518850" y="392550"/>
            <a:chExt cx="8106300" cy="4358400"/>
          </a:xfrm>
        </p:grpSpPr>
        <p:grpSp>
          <p:nvGrpSpPr>
            <p:cNvPr id="95" name="Google Shape;95;p20"/>
            <p:cNvGrpSpPr/>
            <p:nvPr/>
          </p:nvGrpSpPr>
          <p:grpSpPr>
            <a:xfrm>
              <a:off x="518850" y="392550"/>
              <a:ext cx="8106300" cy="396000"/>
              <a:chOff x="518850" y="385283"/>
              <a:chExt cx="8106300" cy="396000"/>
            </a:xfrm>
          </p:grpSpPr>
          <p:cxnSp>
            <p:nvCxnSpPr>
              <p:cNvPr id="96" name="Google Shape;96;p20"/>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97" name="Google Shape;97;p20"/>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98" name="Google Shape;98;p20"/>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99" name="Google Shape;99;p20"/>
            <p:cNvGrpSpPr/>
            <p:nvPr/>
          </p:nvGrpSpPr>
          <p:grpSpPr>
            <a:xfrm rot="10800000">
              <a:off x="518850" y="4354950"/>
              <a:ext cx="8106300" cy="396000"/>
              <a:chOff x="518850" y="385283"/>
              <a:chExt cx="8106300" cy="396000"/>
            </a:xfrm>
          </p:grpSpPr>
          <p:cxnSp>
            <p:nvCxnSpPr>
              <p:cNvPr id="100" name="Google Shape;100;p20"/>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101" name="Google Shape;101;p20"/>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102" name="Google Shape;102;p20"/>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grpSp>
        <p:nvGrpSpPr>
          <p:cNvPr id="103" name="Google Shape;103;p20"/>
          <p:cNvGrpSpPr/>
          <p:nvPr/>
        </p:nvGrpSpPr>
        <p:grpSpPr>
          <a:xfrm>
            <a:off x="518845" y="755087"/>
            <a:ext cx="3381109" cy="3633336"/>
            <a:chOff x="1742895" y="795775"/>
            <a:chExt cx="3381109" cy="3633336"/>
          </a:xfrm>
        </p:grpSpPr>
        <p:sp>
          <p:nvSpPr>
            <p:cNvPr id="104" name="Google Shape;104;p20"/>
            <p:cNvSpPr/>
            <p:nvPr/>
          </p:nvSpPr>
          <p:spPr>
            <a:xfrm>
              <a:off x="1913656" y="3200832"/>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0"/>
            <p:cNvSpPr/>
            <p:nvPr/>
          </p:nvSpPr>
          <p:spPr>
            <a:xfrm>
              <a:off x="1910411" y="3196997"/>
              <a:ext cx="46022" cy="46081"/>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 name="Google Shape;106;p20"/>
            <p:cNvGrpSpPr/>
            <p:nvPr/>
          </p:nvGrpSpPr>
          <p:grpSpPr>
            <a:xfrm>
              <a:off x="1742895" y="947116"/>
              <a:ext cx="1986215" cy="3269968"/>
              <a:chOff x="6934075" y="1778325"/>
              <a:chExt cx="689275" cy="1134775"/>
            </a:xfrm>
          </p:grpSpPr>
          <p:sp>
            <p:nvSpPr>
              <p:cNvPr id="107" name="Google Shape;107;p20"/>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0"/>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0"/>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0"/>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0"/>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0"/>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0"/>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0"/>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0"/>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0"/>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0"/>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0"/>
              <p:cNvSpPr/>
              <p:nvPr/>
            </p:nvSpPr>
            <p:spPr>
              <a:xfrm>
                <a:off x="7101050" y="2622025"/>
                <a:ext cx="349775" cy="229850"/>
              </a:xfrm>
              <a:custGeom>
                <a:rect b="b" l="l" r="r" t="t"/>
                <a:pathLst>
                  <a:path extrusionOk="0" h="9194" w="13991">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0"/>
              <p:cNvSpPr/>
              <p:nvPr/>
            </p:nvSpPr>
            <p:spPr>
              <a:xfrm>
                <a:off x="7448000" y="2694150"/>
                <a:ext cx="2825" cy="76100"/>
              </a:xfrm>
              <a:custGeom>
                <a:rect b="b" l="l" r="r" t="t"/>
                <a:pathLst>
                  <a:path extrusionOk="0" h="3044" w="113">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0"/>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0"/>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0"/>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0"/>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0"/>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0"/>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0"/>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0"/>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0"/>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0"/>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0"/>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0"/>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0"/>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0"/>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0"/>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0"/>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0"/>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0"/>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0"/>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0"/>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0"/>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0"/>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0"/>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0"/>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0"/>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0"/>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0"/>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0"/>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0"/>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0"/>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0"/>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0"/>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0"/>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0"/>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0"/>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0"/>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0"/>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0"/>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0"/>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0"/>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0"/>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0"/>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0"/>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0"/>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0"/>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0"/>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0"/>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0"/>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0"/>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0"/>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0"/>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0"/>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20"/>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0"/>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0"/>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0"/>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0"/>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0"/>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0"/>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0"/>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0"/>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20"/>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0"/>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0"/>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20"/>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0"/>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0"/>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0"/>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0"/>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0"/>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0"/>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0"/>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0"/>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0"/>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0"/>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0"/>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0"/>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0"/>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0"/>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0"/>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0"/>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0"/>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0"/>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0"/>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0"/>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0"/>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0"/>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0"/>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0"/>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0"/>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0"/>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0"/>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0"/>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0"/>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0"/>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0"/>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0"/>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0"/>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0"/>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0"/>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0"/>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0"/>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0"/>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0"/>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0"/>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0"/>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0"/>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0"/>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0"/>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0"/>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2" name="Google Shape;232;p20"/>
            <p:cNvSpPr/>
            <p:nvPr/>
          </p:nvSpPr>
          <p:spPr>
            <a:xfrm>
              <a:off x="1925692" y="2196479"/>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3" name="Google Shape;233;p20"/>
            <p:cNvGrpSpPr/>
            <p:nvPr/>
          </p:nvGrpSpPr>
          <p:grpSpPr>
            <a:xfrm>
              <a:off x="3729110" y="795775"/>
              <a:ext cx="1239905" cy="584116"/>
              <a:chOff x="6947135" y="2460525"/>
              <a:chExt cx="1239905" cy="584116"/>
            </a:xfrm>
          </p:grpSpPr>
          <p:sp>
            <p:nvSpPr>
              <p:cNvPr id="234" name="Google Shape;234;p20"/>
              <p:cNvSpPr/>
              <p:nvPr/>
            </p:nvSpPr>
            <p:spPr>
              <a:xfrm>
                <a:off x="7878097" y="2638928"/>
                <a:ext cx="304483" cy="39265"/>
              </a:xfrm>
              <a:custGeom>
                <a:rect b="b" l="l" r="r" t="t"/>
                <a:pathLst>
                  <a:path extrusionOk="0" h="493" w="3823">
                    <a:moveTo>
                      <a:pt x="1" y="1"/>
                    </a:moveTo>
                    <a:lnTo>
                      <a:pt x="1" y="492"/>
                    </a:lnTo>
                    <a:lnTo>
                      <a:pt x="3823" y="492"/>
                    </a:lnTo>
                    <a:lnTo>
                      <a:pt x="382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0"/>
              <p:cNvSpPr/>
              <p:nvPr/>
            </p:nvSpPr>
            <p:spPr>
              <a:xfrm>
                <a:off x="7872920" y="2634468"/>
                <a:ext cx="314120" cy="48106"/>
              </a:xfrm>
              <a:custGeom>
                <a:rect b="b" l="l" r="r" t="t"/>
                <a:pathLst>
                  <a:path extrusionOk="0" h="604" w="3944">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0"/>
              <p:cNvSpPr/>
              <p:nvPr/>
            </p:nvSpPr>
            <p:spPr>
              <a:xfrm>
                <a:off x="7878097" y="2725342"/>
                <a:ext cx="174423" cy="25247"/>
              </a:xfrm>
              <a:custGeom>
                <a:rect b="b" l="l" r="r" t="t"/>
                <a:pathLst>
                  <a:path extrusionOk="0" h="317" w="2190">
                    <a:moveTo>
                      <a:pt x="1" y="1"/>
                    </a:moveTo>
                    <a:lnTo>
                      <a:pt x="1" y="316"/>
                    </a:lnTo>
                    <a:lnTo>
                      <a:pt x="2190" y="316"/>
                    </a:lnTo>
                    <a:lnTo>
                      <a:pt x="219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0"/>
              <p:cNvSpPr/>
              <p:nvPr/>
            </p:nvSpPr>
            <p:spPr>
              <a:xfrm>
                <a:off x="7872920" y="2720165"/>
                <a:ext cx="184060" cy="34805"/>
              </a:xfrm>
              <a:custGeom>
                <a:rect b="b" l="l" r="r" t="t"/>
                <a:pathLst>
                  <a:path extrusionOk="0" h="437" w="2311">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0"/>
              <p:cNvSpPr/>
              <p:nvPr/>
            </p:nvSpPr>
            <p:spPr>
              <a:xfrm>
                <a:off x="7878097" y="2797818"/>
                <a:ext cx="174423" cy="25168"/>
              </a:xfrm>
              <a:custGeom>
                <a:rect b="b" l="l" r="r" t="t"/>
                <a:pathLst>
                  <a:path extrusionOk="0" h="316" w="2190">
                    <a:moveTo>
                      <a:pt x="1" y="0"/>
                    </a:moveTo>
                    <a:lnTo>
                      <a:pt x="1" y="315"/>
                    </a:lnTo>
                    <a:lnTo>
                      <a:pt x="2190" y="315"/>
                    </a:lnTo>
                    <a:lnTo>
                      <a:pt x="219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0"/>
              <p:cNvSpPr/>
              <p:nvPr/>
            </p:nvSpPr>
            <p:spPr>
              <a:xfrm>
                <a:off x="7872920" y="2793358"/>
                <a:ext cx="184060" cy="34805"/>
              </a:xfrm>
              <a:custGeom>
                <a:rect b="b" l="l" r="r" t="t"/>
                <a:pathLst>
                  <a:path extrusionOk="0" h="437" w="2311">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0"/>
              <p:cNvSpPr/>
              <p:nvPr/>
            </p:nvSpPr>
            <p:spPr>
              <a:xfrm>
                <a:off x="6985603" y="2857631"/>
                <a:ext cx="295563" cy="127910"/>
              </a:xfrm>
              <a:custGeom>
                <a:rect b="b" l="l" r="r" t="t"/>
                <a:pathLst>
                  <a:path extrusionOk="0" h="1606" w="3711">
                    <a:moveTo>
                      <a:pt x="3711" y="0"/>
                    </a:moveTo>
                    <a:lnTo>
                      <a:pt x="0" y="1605"/>
                    </a:lnTo>
                  </a:path>
                </a:pathLst>
              </a:custGeom>
              <a:solidFill>
                <a:srgbClr val="E16F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0"/>
              <p:cNvSpPr/>
              <p:nvPr/>
            </p:nvSpPr>
            <p:spPr>
              <a:xfrm>
                <a:off x="6980426" y="2853330"/>
                <a:ext cx="305916" cy="136591"/>
              </a:xfrm>
              <a:custGeom>
                <a:rect b="b" l="l" r="r" t="t"/>
                <a:pathLst>
                  <a:path extrusionOk="0" h="1715" w="3841">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0"/>
              <p:cNvSpPr/>
              <p:nvPr/>
            </p:nvSpPr>
            <p:spPr>
              <a:xfrm>
                <a:off x="6951595" y="2965470"/>
                <a:ext cx="48822" cy="48106"/>
              </a:xfrm>
              <a:custGeom>
                <a:rect b="b" l="l" r="r" t="t"/>
                <a:pathLst>
                  <a:path extrusionOk="0" h="604" w="613">
                    <a:moveTo>
                      <a:pt x="168" y="1"/>
                    </a:moveTo>
                    <a:lnTo>
                      <a:pt x="1" y="446"/>
                    </a:lnTo>
                    <a:lnTo>
                      <a:pt x="446" y="604"/>
                    </a:lnTo>
                    <a:lnTo>
                      <a:pt x="613" y="159"/>
                    </a:lnTo>
                    <a:lnTo>
                      <a:pt x="16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0"/>
              <p:cNvSpPr/>
              <p:nvPr/>
            </p:nvSpPr>
            <p:spPr>
              <a:xfrm>
                <a:off x="6947135" y="2961487"/>
                <a:ext cx="57743" cy="57265"/>
              </a:xfrm>
              <a:custGeom>
                <a:rect b="b" l="l" r="r" t="t"/>
                <a:pathLst>
                  <a:path extrusionOk="0" h="719" w="725">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0"/>
              <p:cNvSpPr/>
              <p:nvPr/>
            </p:nvSpPr>
            <p:spPr>
              <a:xfrm>
                <a:off x="7264836" y="2488002"/>
                <a:ext cx="591922" cy="551701"/>
              </a:xfrm>
              <a:custGeom>
                <a:rect b="b" l="l" r="r" t="t"/>
                <a:pathLst>
                  <a:path extrusionOk="0" h="6927" w="7432">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0"/>
              <p:cNvSpPr/>
              <p:nvPr/>
            </p:nvSpPr>
            <p:spPr>
              <a:xfrm>
                <a:off x="7259659" y="2483223"/>
                <a:ext cx="589692" cy="561418"/>
              </a:xfrm>
              <a:custGeom>
                <a:rect b="b" l="l" r="r" t="t"/>
                <a:pathLst>
                  <a:path extrusionOk="0" h="7049" w="7404">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0"/>
              <p:cNvSpPr/>
              <p:nvPr/>
            </p:nvSpPr>
            <p:spPr>
              <a:xfrm>
                <a:off x="7219757" y="2465303"/>
                <a:ext cx="627364" cy="552019"/>
              </a:xfrm>
              <a:custGeom>
                <a:rect b="b" l="l" r="r" t="t"/>
                <a:pathLst>
                  <a:path extrusionOk="0" h="6931" w="7877">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0"/>
              <p:cNvSpPr/>
              <p:nvPr/>
            </p:nvSpPr>
            <p:spPr>
              <a:xfrm>
                <a:off x="7232341" y="2460525"/>
                <a:ext cx="601479" cy="561179"/>
              </a:xfrm>
              <a:custGeom>
                <a:rect b="b" l="l" r="r" t="t"/>
                <a:pathLst>
                  <a:path extrusionOk="0" h="7046" w="7552">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0"/>
              <p:cNvSpPr/>
              <p:nvPr/>
            </p:nvSpPr>
            <p:spPr>
              <a:xfrm>
                <a:off x="7615828" y="2510541"/>
                <a:ext cx="134520" cy="135158"/>
              </a:xfrm>
              <a:custGeom>
                <a:rect b="b" l="l" r="r" t="t"/>
                <a:pathLst>
                  <a:path extrusionOk="0" h="1697" w="1689">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0"/>
              <p:cNvSpPr/>
              <p:nvPr/>
            </p:nvSpPr>
            <p:spPr>
              <a:xfrm>
                <a:off x="7397842" y="2601973"/>
                <a:ext cx="261634" cy="300102"/>
              </a:xfrm>
              <a:custGeom>
                <a:rect b="b" l="l" r="r" t="t"/>
                <a:pathLst>
                  <a:path extrusionOk="0" h="3768" w="3285">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0"/>
              <p:cNvSpPr/>
              <p:nvPr/>
            </p:nvSpPr>
            <p:spPr>
              <a:xfrm>
                <a:off x="7393461" y="2597592"/>
                <a:ext cx="271191" cy="308863"/>
              </a:xfrm>
              <a:custGeom>
                <a:rect b="b" l="l" r="r" t="t"/>
                <a:pathLst>
                  <a:path extrusionOk="0" h="3878" w="3405">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0"/>
              <p:cNvSpPr/>
              <p:nvPr/>
            </p:nvSpPr>
            <p:spPr>
              <a:xfrm>
                <a:off x="7448814" y="2585725"/>
                <a:ext cx="159688" cy="31858"/>
              </a:xfrm>
              <a:custGeom>
                <a:rect b="b" l="l" r="r" t="t"/>
                <a:pathLst>
                  <a:path extrusionOk="0" h="400" w="2005">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0"/>
              <p:cNvSpPr/>
              <p:nvPr/>
            </p:nvSpPr>
            <p:spPr>
              <a:xfrm>
                <a:off x="7443637" y="2580549"/>
                <a:ext cx="169325" cy="41495"/>
              </a:xfrm>
              <a:custGeom>
                <a:rect b="b" l="l" r="r" t="t"/>
                <a:pathLst>
                  <a:path extrusionOk="0" h="521" w="2126">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0"/>
              <p:cNvSpPr/>
              <p:nvPr/>
            </p:nvSpPr>
            <p:spPr>
              <a:xfrm>
                <a:off x="7500583" y="2556894"/>
                <a:ext cx="55433" cy="55513"/>
              </a:xfrm>
              <a:custGeom>
                <a:rect b="b" l="l" r="r" t="t"/>
                <a:pathLst>
                  <a:path extrusionOk="0" h="697" w="696">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0"/>
              <p:cNvSpPr/>
              <p:nvPr/>
            </p:nvSpPr>
            <p:spPr>
              <a:xfrm>
                <a:off x="7496123" y="2552514"/>
                <a:ext cx="65070" cy="65070"/>
              </a:xfrm>
              <a:custGeom>
                <a:rect b="b" l="l" r="r" t="t"/>
                <a:pathLst>
                  <a:path extrusionOk="0" h="817" w="817">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0"/>
              <p:cNvSpPr/>
              <p:nvPr/>
            </p:nvSpPr>
            <p:spPr>
              <a:xfrm>
                <a:off x="7516830" y="2570195"/>
                <a:ext cx="22938" cy="22301"/>
              </a:xfrm>
              <a:custGeom>
                <a:rect b="b" l="l" r="r" t="t"/>
                <a:pathLst>
                  <a:path extrusionOk="0" h="280" w="288">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0"/>
              <p:cNvSpPr/>
              <p:nvPr/>
            </p:nvSpPr>
            <p:spPr>
              <a:xfrm>
                <a:off x="7512370" y="2565018"/>
                <a:ext cx="31858" cy="31858"/>
              </a:xfrm>
              <a:custGeom>
                <a:rect b="b" l="l" r="r" t="t"/>
                <a:pathLst>
                  <a:path extrusionOk="0" h="400" w="40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0"/>
              <p:cNvSpPr/>
              <p:nvPr/>
            </p:nvSpPr>
            <p:spPr>
              <a:xfrm>
                <a:off x="7442204" y="2676600"/>
                <a:ext cx="178086" cy="9717"/>
              </a:xfrm>
              <a:custGeom>
                <a:rect b="b" l="l" r="r" t="t"/>
                <a:pathLst>
                  <a:path extrusionOk="0" h="122" w="2236">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0"/>
              <p:cNvSpPr/>
              <p:nvPr/>
            </p:nvSpPr>
            <p:spPr>
              <a:xfrm>
                <a:off x="7496840" y="2655175"/>
                <a:ext cx="68096" cy="9717"/>
              </a:xfrm>
              <a:custGeom>
                <a:rect b="b" l="l" r="r" t="t"/>
                <a:pathLst>
                  <a:path extrusionOk="0" h="122" w="855">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0"/>
              <p:cNvSpPr/>
              <p:nvPr/>
            </p:nvSpPr>
            <p:spPr>
              <a:xfrm>
                <a:off x="7496840" y="2727572"/>
                <a:ext cx="68096" cy="9000"/>
              </a:xfrm>
              <a:custGeom>
                <a:rect b="b" l="l" r="r" t="t"/>
                <a:pathLst>
                  <a:path extrusionOk="0" h="113" w="855">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0"/>
              <p:cNvSpPr/>
              <p:nvPr/>
            </p:nvSpPr>
            <p:spPr>
              <a:xfrm>
                <a:off x="7496840" y="2802199"/>
                <a:ext cx="68096" cy="9000"/>
              </a:xfrm>
              <a:custGeom>
                <a:rect b="b" l="l" r="r" t="t"/>
                <a:pathLst>
                  <a:path extrusionOk="0" h="113" w="855">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0"/>
              <p:cNvSpPr/>
              <p:nvPr/>
            </p:nvSpPr>
            <p:spPr>
              <a:xfrm>
                <a:off x="7442204" y="2698741"/>
                <a:ext cx="178086" cy="9000"/>
              </a:xfrm>
              <a:custGeom>
                <a:rect b="b" l="l" r="r" t="t"/>
                <a:pathLst>
                  <a:path extrusionOk="0" h="113" w="2236">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0"/>
              <p:cNvSpPr/>
              <p:nvPr/>
            </p:nvSpPr>
            <p:spPr>
              <a:xfrm>
                <a:off x="7442204" y="2753456"/>
                <a:ext cx="178086" cy="8920"/>
              </a:xfrm>
              <a:custGeom>
                <a:rect b="b" l="l" r="r" t="t"/>
                <a:pathLst>
                  <a:path extrusionOk="0" h="112" w="2236">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0"/>
              <p:cNvSpPr/>
              <p:nvPr/>
            </p:nvSpPr>
            <p:spPr>
              <a:xfrm>
                <a:off x="7442204" y="2775598"/>
                <a:ext cx="178086" cy="9000"/>
              </a:xfrm>
              <a:custGeom>
                <a:rect b="b" l="l" r="r" t="t"/>
                <a:pathLst>
                  <a:path extrusionOk="0" h="113" w="2236">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0"/>
              <p:cNvSpPr/>
              <p:nvPr/>
            </p:nvSpPr>
            <p:spPr>
              <a:xfrm>
                <a:off x="7442204" y="2828800"/>
                <a:ext cx="178086" cy="9717"/>
              </a:xfrm>
              <a:custGeom>
                <a:rect b="b" l="l" r="r" t="t"/>
                <a:pathLst>
                  <a:path extrusionOk="0" h="122" w="2236">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 name="Google Shape;265;p20"/>
            <p:cNvGrpSpPr/>
            <p:nvPr/>
          </p:nvGrpSpPr>
          <p:grpSpPr>
            <a:xfrm>
              <a:off x="3657353" y="1571295"/>
              <a:ext cx="1466651" cy="1625718"/>
              <a:chOff x="6964178" y="2817557"/>
              <a:chExt cx="1466651" cy="1625718"/>
            </a:xfrm>
          </p:grpSpPr>
          <p:sp>
            <p:nvSpPr>
              <p:cNvPr id="266" name="Google Shape;266;p20"/>
              <p:cNvSpPr/>
              <p:nvPr/>
            </p:nvSpPr>
            <p:spPr>
              <a:xfrm>
                <a:off x="8050212" y="2817557"/>
                <a:ext cx="149334" cy="149334"/>
              </a:xfrm>
              <a:custGeom>
                <a:rect b="b" l="l" r="r" t="t"/>
                <a:pathLst>
                  <a:path extrusionOk="0" h="1875" w="1875">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0"/>
              <p:cNvSpPr/>
              <p:nvPr/>
            </p:nvSpPr>
            <p:spPr>
              <a:xfrm>
                <a:off x="8311760" y="3539546"/>
                <a:ext cx="9000" cy="60689"/>
              </a:xfrm>
              <a:custGeom>
                <a:rect b="b" l="l" r="r" t="t"/>
                <a:pathLst>
                  <a:path extrusionOk="0" h="762" w="113">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0"/>
              <p:cNvSpPr/>
              <p:nvPr/>
            </p:nvSpPr>
            <p:spPr>
              <a:xfrm>
                <a:off x="8311760" y="3671118"/>
                <a:ext cx="9000" cy="59893"/>
              </a:xfrm>
              <a:custGeom>
                <a:rect b="b" l="l" r="r" t="t"/>
                <a:pathLst>
                  <a:path extrusionOk="0" h="752" w="113">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0"/>
              <p:cNvSpPr/>
              <p:nvPr/>
            </p:nvSpPr>
            <p:spPr>
              <a:xfrm>
                <a:off x="8351662" y="3631217"/>
                <a:ext cx="60689" cy="8920"/>
              </a:xfrm>
              <a:custGeom>
                <a:rect b="b" l="l" r="r" t="t"/>
                <a:pathLst>
                  <a:path extrusionOk="0" h="112" w="762">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0"/>
              <p:cNvSpPr/>
              <p:nvPr/>
            </p:nvSpPr>
            <p:spPr>
              <a:xfrm>
                <a:off x="8220169" y="3631217"/>
                <a:ext cx="60689" cy="8920"/>
              </a:xfrm>
              <a:custGeom>
                <a:rect b="b" l="l" r="r" t="t"/>
                <a:pathLst>
                  <a:path extrusionOk="0" h="112" w="762">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0"/>
              <p:cNvSpPr/>
              <p:nvPr/>
            </p:nvSpPr>
            <p:spPr>
              <a:xfrm>
                <a:off x="8251948" y="3663711"/>
                <a:ext cx="36318" cy="36238"/>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0"/>
              <p:cNvSpPr/>
              <p:nvPr/>
            </p:nvSpPr>
            <p:spPr>
              <a:xfrm>
                <a:off x="8246771" y="3659092"/>
                <a:ext cx="46672" cy="45318"/>
              </a:xfrm>
              <a:custGeom>
                <a:rect b="b" l="l" r="r" t="t"/>
                <a:pathLst>
                  <a:path extrusionOk="0" h="569" w="586">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0"/>
              <p:cNvSpPr/>
              <p:nvPr/>
            </p:nvSpPr>
            <p:spPr>
              <a:xfrm>
                <a:off x="8344335" y="3571324"/>
                <a:ext cx="36238" cy="35522"/>
              </a:xfrm>
              <a:custGeom>
                <a:rect b="b" l="l" r="r" t="t"/>
                <a:pathLst>
                  <a:path extrusionOk="0" h="446" w="455">
                    <a:moveTo>
                      <a:pt x="0" y="44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0"/>
              <p:cNvSpPr/>
              <p:nvPr/>
            </p:nvSpPr>
            <p:spPr>
              <a:xfrm>
                <a:off x="8339158" y="3566545"/>
                <a:ext cx="46592" cy="45477"/>
              </a:xfrm>
              <a:custGeom>
                <a:rect b="b" l="l" r="r" t="t"/>
                <a:pathLst>
                  <a:path extrusionOk="0" h="571" w="585">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0"/>
              <p:cNvSpPr/>
              <p:nvPr/>
            </p:nvSpPr>
            <p:spPr>
              <a:xfrm>
                <a:off x="8251948" y="3571324"/>
                <a:ext cx="36318" cy="35522"/>
              </a:xfrm>
              <a:custGeom>
                <a:rect b="b" l="l" r="r" t="t"/>
                <a:pathLst>
                  <a:path extrusionOk="0" h="446" w="456">
                    <a:moveTo>
                      <a:pt x="1" y="1"/>
                    </a:moveTo>
                    <a:lnTo>
                      <a:pt x="455" y="446"/>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0"/>
              <p:cNvSpPr/>
              <p:nvPr/>
            </p:nvSpPr>
            <p:spPr>
              <a:xfrm>
                <a:off x="8246771" y="3566545"/>
                <a:ext cx="46672" cy="45477"/>
              </a:xfrm>
              <a:custGeom>
                <a:rect b="b" l="l" r="r" t="t"/>
                <a:pathLst>
                  <a:path extrusionOk="0" h="571" w="586">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0"/>
              <p:cNvSpPr/>
              <p:nvPr/>
            </p:nvSpPr>
            <p:spPr>
              <a:xfrm>
                <a:off x="8344335" y="3663711"/>
                <a:ext cx="36238" cy="36238"/>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0"/>
              <p:cNvSpPr/>
              <p:nvPr/>
            </p:nvSpPr>
            <p:spPr>
              <a:xfrm>
                <a:off x="8339158" y="3659092"/>
                <a:ext cx="46592" cy="45318"/>
              </a:xfrm>
              <a:custGeom>
                <a:rect b="b" l="l" r="r" t="t"/>
                <a:pathLst>
                  <a:path extrusionOk="0" h="569" w="585">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0"/>
              <p:cNvSpPr/>
              <p:nvPr/>
            </p:nvSpPr>
            <p:spPr>
              <a:xfrm>
                <a:off x="8376830" y="3208544"/>
                <a:ext cx="53999" cy="54796"/>
              </a:xfrm>
              <a:custGeom>
                <a:rect b="b" l="l" r="r" t="t"/>
                <a:pathLst>
                  <a:path extrusionOk="0" h="688" w="678">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0"/>
              <p:cNvSpPr/>
              <p:nvPr/>
            </p:nvSpPr>
            <p:spPr>
              <a:xfrm>
                <a:off x="7681743" y="3168650"/>
                <a:ext cx="135237" cy="164865"/>
              </a:xfrm>
              <a:custGeom>
                <a:rect b="b" l="l" r="r" t="t"/>
                <a:pathLst>
                  <a:path extrusionOk="0" h="2070" w="1698">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0"/>
              <p:cNvSpPr/>
              <p:nvPr/>
            </p:nvSpPr>
            <p:spPr>
              <a:xfrm>
                <a:off x="7684690" y="3164031"/>
                <a:ext cx="136750" cy="173865"/>
              </a:xfrm>
              <a:custGeom>
                <a:rect b="b" l="l" r="r" t="t"/>
                <a:pathLst>
                  <a:path extrusionOk="0" h="2183" w="1717">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0"/>
              <p:cNvSpPr/>
              <p:nvPr/>
            </p:nvSpPr>
            <p:spPr>
              <a:xfrm>
                <a:off x="7695044" y="3328974"/>
                <a:ext cx="164786" cy="123290"/>
              </a:xfrm>
              <a:custGeom>
                <a:rect b="b" l="l" r="r" t="t"/>
                <a:pathLst>
                  <a:path extrusionOk="0" h="1548" w="2069">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0"/>
              <p:cNvSpPr/>
              <p:nvPr/>
            </p:nvSpPr>
            <p:spPr>
              <a:xfrm>
                <a:off x="7690583" y="3324594"/>
                <a:ext cx="173706" cy="132290"/>
              </a:xfrm>
              <a:custGeom>
                <a:rect b="b" l="l" r="r" t="t"/>
                <a:pathLst>
                  <a:path extrusionOk="0" h="1661" w="2181">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0"/>
              <p:cNvSpPr/>
              <p:nvPr/>
            </p:nvSpPr>
            <p:spPr>
              <a:xfrm>
                <a:off x="7812519" y="3166580"/>
                <a:ext cx="167016" cy="283695"/>
              </a:xfrm>
              <a:custGeom>
                <a:rect b="b" l="l" r="r" t="t"/>
                <a:pathLst>
                  <a:path extrusionOk="0" h="3562" w="2097">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0"/>
              <p:cNvSpPr/>
              <p:nvPr/>
            </p:nvSpPr>
            <p:spPr>
              <a:xfrm>
                <a:off x="7807342" y="3162199"/>
                <a:ext cx="176653" cy="293173"/>
              </a:xfrm>
              <a:custGeom>
                <a:rect b="b" l="l" r="r" t="t"/>
                <a:pathLst>
                  <a:path extrusionOk="0" h="3681" w="2218">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0"/>
              <p:cNvSpPr/>
              <p:nvPr/>
            </p:nvSpPr>
            <p:spPr>
              <a:xfrm>
                <a:off x="7540613" y="3210065"/>
                <a:ext cx="103538" cy="455888"/>
              </a:xfrm>
              <a:custGeom>
                <a:rect b="b" l="l" r="r" t="t"/>
                <a:pathLst>
                  <a:path extrusionOk="0" h="5724" w="1300">
                    <a:moveTo>
                      <a:pt x="0" y="0"/>
                    </a:moveTo>
                    <a:lnTo>
                      <a:pt x="0" y="5724"/>
                    </a:lnTo>
                    <a:lnTo>
                      <a:pt x="1299" y="5724"/>
                    </a:lnTo>
                    <a:lnTo>
                      <a:pt x="129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0"/>
              <p:cNvSpPr/>
              <p:nvPr/>
            </p:nvSpPr>
            <p:spPr>
              <a:xfrm>
                <a:off x="7536153" y="3205605"/>
                <a:ext cx="112379" cy="464808"/>
              </a:xfrm>
              <a:custGeom>
                <a:rect b="b" l="l" r="r" t="t"/>
                <a:pathLst>
                  <a:path extrusionOk="0" h="5836" w="1411">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0"/>
              <p:cNvSpPr/>
              <p:nvPr/>
            </p:nvSpPr>
            <p:spPr>
              <a:xfrm>
                <a:off x="7688353" y="3377000"/>
                <a:ext cx="102822" cy="288952"/>
              </a:xfrm>
              <a:custGeom>
                <a:rect b="b" l="l" r="r" t="t"/>
                <a:pathLst>
                  <a:path extrusionOk="0" h="3628" w="1291">
                    <a:moveTo>
                      <a:pt x="1" y="1"/>
                    </a:moveTo>
                    <a:lnTo>
                      <a:pt x="1" y="3628"/>
                    </a:lnTo>
                    <a:lnTo>
                      <a:pt x="1290" y="362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0"/>
              <p:cNvSpPr/>
              <p:nvPr/>
            </p:nvSpPr>
            <p:spPr>
              <a:xfrm>
                <a:off x="7683973" y="3372540"/>
                <a:ext cx="111583" cy="297872"/>
              </a:xfrm>
              <a:custGeom>
                <a:rect b="b" l="l" r="r" t="t"/>
                <a:pathLst>
                  <a:path extrusionOk="0" h="3740" w="1401">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0"/>
              <p:cNvSpPr/>
              <p:nvPr/>
            </p:nvSpPr>
            <p:spPr>
              <a:xfrm>
                <a:off x="7833943" y="3502599"/>
                <a:ext cx="103459" cy="163352"/>
              </a:xfrm>
              <a:custGeom>
                <a:rect b="b" l="l" r="r" t="t"/>
                <a:pathLst>
                  <a:path extrusionOk="0" h="2051" w="1299">
                    <a:moveTo>
                      <a:pt x="0" y="1"/>
                    </a:moveTo>
                    <a:lnTo>
                      <a:pt x="0" y="2051"/>
                    </a:lnTo>
                    <a:lnTo>
                      <a:pt x="1299" y="2051"/>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0"/>
              <p:cNvSpPr/>
              <p:nvPr/>
            </p:nvSpPr>
            <p:spPr>
              <a:xfrm>
                <a:off x="7829483" y="3498935"/>
                <a:ext cx="111662" cy="171476"/>
              </a:xfrm>
              <a:custGeom>
                <a:rect b="b" l="l" r="r" t="t"/>
                <a:pathLst>
                  <a:path extrusionOk="0" h="2153" w="1402">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0"/>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0"/>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0"/>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0"/>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0"/>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0"/>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0"/>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0"/>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0"/>
              <p:cNvSpPr/>
              <p:nvPr/>
            </p:nvSpPr>
            <p:spPr>
              <a:xfrm>
                <a:off x="7369219" y="3129465"/>
                <a:ext cx="103459" cy="536489"/>
              </a:xfrm>
              <a:custGeom>
                <a:rect b="b" l="l" r="r" t="t"/>
                <a:pathLst>
                  <a:path extrusionOk="0" h="6736" w="1299">
                    <a:moveTo>
                      <a:pt x="0" y="1"/>
                    </a:moveTo>
                    <a:lnTo>
                      <a:pt x="0" y="6736"/>
                    </a:lnTo>
                    <a:lnTo>
                      <a:pt x="1299" y="6736"/>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0"/>
              <p:cNvSpPr/>
              <p:nvPr/>
            </p:nvSpPr>
            <p:spPr>
              <a:xfrm>
                <a:off x="7365475" y="3125802"/>
                <a:ext cx="110229" cy="543896"/>
              </a:xfrm>
              <a:custGeom>
                <a:rect b="b" l="l" r="r" t="t"/>
                <a:pathLst>
                  <a:path extrusionOk="0" h="6829" w="1384">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0"/>
              <p:cNvSpPr/>
              <p:nvPr/>
            </p:nvSpPr>
            <p:spPr>
              <a:xfrm>
                <a:off x="7359582" y="3130979"/>
                <a:ext cx="103538" cy="524622"/>
              </a:xfrm>
              <a:custGeom>
                <a:rect b="b" l="l" r="r" t="t"/>
                <a:pathLst>
                  <a:path extrusionOk="0" h="6587" w="1300">
                    <a:moveTo>
                      <a:pt x="1" y="1"/>
                    </a:moveTo>
                    <a:lnTo>
                      <a:pt x="1" y="6587"/>
                    </a:lnTo>
                    <a:lnTo>
                      <a:pt x="1299" y="6587"/>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20"/>
              <p:cNvSpPr/>
              <p:nvPr/>
            </p:nvSpPr>
            <p:spPr>
              <a:xfrm>
                <a:off x="7355122" y="3126519"/>
                <a:ext cx="111662" cy="533542"/>
              </a:xfrm>
              <a:custGeom>
                <a:rect b="b" l="l" r="r" t="t"/>
                <a:pathLst>
                  <a:path extrusionOk="0" h="6699" w="1402">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0"/>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0"/>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0"/>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0"/>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0"/>
              <p:cNvSpPr/>
              <p:nvPr/>
            </p:nvSpPr>
            <p:spPr>
              <a:xfrm>
                <a:off x="7980967" y="3600163"/>
                <a:ext cx="103538" cy="66583"/>
              </a:xfrm>
              <a:custGeom>
                <a:rect b="b" l="l" r="r" t="t"/>
                <a:pathLst>
                  <a:path extrusionOk="0" h="836" w="1300">
                    <a:moveTo>
                      <a:pt x="0" y="0"/>
                    </a:moveTo>
                    <a:lnTo>
                      <a:pt x="0" y="835"/>
                    </a:lnTo>
                    <a:lnTo>
                      <a:pt x="1299" y="835"/>
                    </a:lnTo>
                    <a:lnTo>
                      <a:pt x="1299" y="0"/>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0"/>
              <p:cNvSpPr/>
              <p:nvPr/>
            </p:nvSpPr>
            <p:spPr>
              <a:xfrm>
                <a:off x="7976507" y="3595703"/>
                <a:ext cx="111662" cy="75424"/>
              </a:xfrm>
              <a:custGeom>
                <a:rect b="b" l="l" r="r" t="t"/>
                <a:pathLst>
                  <a:path extrusionOk="0" h="947" w="1402">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0"/>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0"/>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0"/>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0"/>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20"/>
              <p:cNvSpPr/>
              <p:nvPr/>
            </p:nvSpPr>
            <p:spPr>
              <a:xfrm>
                <a:off x="7003284" y="3902326"/>
                <a:ext cx="295642" cy="127193"/>
              </a:xfrm>
              <a:custGeom>
                <a:rect b="b" l="l" r="r" t="t"/>
                <a:pathLst>
                  <a:path extrusionOk="0" h="1597" w="3712">
                    <a:moveTo>
                      <a:pt x="3712" y="1596"/>
                    </a:moveTo>
                    <a:lnTo>
                      <a:pt x="1" y="1"/>
                    </a:lnTo>
                  </a:path>
                </a:pathLst>
              </a:custGeom>
              <a:solidFill>
                <a:srgbClr val="E16F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0"/>
              <p:cNvSpPr/>
              <p:nvPr/>
            </p:nvSpPr>
            <p:spPr>
              <a:xfrm>
                <a:off x="6998107" y="3897627"/>
                <a:ext cx="305996" cy="136273"/>
              </a:xfrm>
              <a:custGeom>
                <a:rect b="b" l="l" r="r" t="t"/>
                <a:pathLst>
                  <a:path extrusionOk="0" h="1711" w="3842">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0"/>
              <p:cNvSpPr/>
              <p:nvPr/>
            </p:nvSpPr>
            <p:spPr>
              <a:xfrm>
                <a:off x="6969355" y="3873495"/>
                <a:ext cx="48106" cy="48106"/>
              </a:xfrm>
              <a:custGeom>
                <a:rect b="b" l="l" r="r" t="t"/>
                <a:pathLst>
                  <a:path extrusionOk="0" h="604" w="604">
                    <a:moveTo>
                      <a:pt x="445" y="1"/>
                    </a:moveTo>
                    <a:lnTo>
                      <a:pt x="0" y="168"/>
                    </a:lnTo>
                    <a:lnTo>
                      <a:pt x="158" y="604"/>
                    </a:lnTo>
                    <a:lnTo>
                      <a:pt x="603" y="446"/>
                    </a:lnTo>
                    <a:lnTo>
                      <a:pt x="44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0"/>
              <p:cNvSpPr/>
              <p:nvPr/>
            </p:nvSpPr>
            <p:spPr>
              <a:xfrm>
                <a:off x="6964178" y="3868477"/>
                <a:ext cx="58459" cy="57583"/>
              </a:xfrm>
              <a:custGeom>
                <a:rect b="b" l="l" r="r" t="t"/>
                <a:pathLst>
                  <a:path extrusionOk="0" h="723" w="734">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20"/>
              <p:cNvSpPr/>
              <p:nvPr/>
            </p:nvSpPr>
            <p:spPr>
              <a:xfrm>
                <a:off x="7282596" y="3887114"/>
                <a:ext cx="591125" cy="551940"/>
              </a:xfrm>
              <a:custGeom>
                <a:rect b="b" l="l" r="r" t="t"/>
                <a:pathLst>
                  <a:path extrusionOk="0" h="6930" w="7422">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0"/>
              <p:cNvSpPr/>
              <p:nvPr/>
            </p:nvSpPr>
            <p:spPr>
              <a:xfrm>
                <a:off x="7277420" y="3882176"/>
                <a:ext cx="589692" cy="561099"/>
              </a:xfrm>
              <a:custGeom>
                <a:rect b="b" l="l" r="r" t="t"/>
                <a:pathLst>
                  <a:path extrusionOk="0" h="7045" w="7404">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0"/>
              <p:cNvSpPr/>
              <p:nvPr/>
            </p:nvSpPr>
            <p:spPr>
              <a:xfrm>
                <a:off x="7236801" y="3869592"/>
                <a:ext cx="627364" cy="551781"/>
              </a:xfrm>
              <a:custGeom>
                <a:rect b="b" l="l" r="r" t="t"/>
                <a:pathLst>
                  <a:path extrusionOk="0" h="6928" w="7877">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0"/>
              <p:cNvSpPr/>
              <p:nvPr/>
            </p:nvSpPr>
            <p:spPr>
              <a:xfrm>
                <a:off x="7250102" y="3865769"/>
                <a:ext cx="588895" cy="561258"/>
              </a:xfrm>
              <a:custGeom>
                <a:rect b="b" l="l" r="r" t="t"/>
                <a:pathLst>
                  <a:path extrusionOk="0" h="7047" w="7394">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0"/>
              <p:cNvSpPr/>
              <p:nvPr/>
            </p:nvSpPr>
            <p:spPr>
              <a:xfrm>
                <a:off x="7643863" y="3925423"/>
                <a:ext cx="134600" cy="135078"/>
              </a:xfrm>
              <a:custGeom>
                <a:rect b="b" l="l" r="r" t="t"/>
                <a:pathLst>
                  <a:path extrusionOk="0" h="1696" w="169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0"/>
              <p:cNvSpPr/>
              <p:nvPr/>
            </p:nvSpPr>
            <p:spPr>
              <a:xfrm>
                <a:off x="7895061" y="4209673"/>
                <a:ext cx="304483" cy="38548"/>
              </a:xfrm>
              <a:custGeom>
                <a:rect b="b" l="l" r="r" t="t"/>
                <a:pathLst>
                  <a:path extrusionOk="0" h="484" w="3823">
                    <a:moveTo>
                      <a:pt x="1" y="1"/>
                    </a:moveTo>
                    <a:lnTo>
                      <a:pt x="1" y="483"/>
                    </a:lnTo>
                    <a:lnTo>
                      <a:pt x="3823" y="483"/>
                    </a:lnTo>
                    <a:lnTo>
                      <a:pt x="382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0"/>
              <p:cNvSpPr/>
              <p:nvPr/>
            </p:nvSpPr>
            <p:spPr>
              <a:xfrm>
                <a:off x="7890681" y="4205293"/>
                <a:ext cx="314040" cy="48106"/>
              </a:xfrm>
              <a:custGeom>
                <a:rect b="b" l="l" r="r" t="t"/>
                <a:pathLst>
                  <a:path extrusionOk="0" h="604" w="3943">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0"/>
              <p:cNvSpPr/>
              <p:nvPr/>
            </p:nvSpPr>
            <p:spPr>
              <a:xfrm>
                <a:off x="7895061" y="4136560"/>
                <a:ext cx="175219" cy="25885"/>
              </a:xfrm>
              <a:custGeom>
                <a:rect b="b" l="l" r="r" t="t"/>
                <a:pathLst>
                  <a:path extrusionOk="0" h="325" w="2200">
                    <a:moveTo>
                      <a:pt x="1" y="0"/>
                    </a:moveTo>
                    <a:lnTo>
                      <a:pt x="1" y="325"/>
                    </a:lnTo>
                    <a:lnTo>
                      <a:pt x="2199" y="325"/>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0"/>
              <p:cNvSpPr/>
              <p:nvPr/>
            </p:nvSpPr>
            <p:spPr>
              <a:xfrm>
                <a:off x="7890681" y="4132100"/>
                <a:ext cx="184060" cy="34805"/>
              </a:xfrm>
              <a:custGeom>
                <a:rect b="b" l="l" r="r" t="t"/>
                <a:pathLst>
                  <a:path extrusionOk="0" h="437" w="2311">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0"/>
              <p:cNvSpPr/>
              <p:nvPr/>
            </p:nvSpPr>
            <p:spPr>
              <a:xfrm>
                <a:off x="7895061" y="4064163"/>
                <a:ext cx="175219" cy="25168"/>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0"/>
              <p:cNvSpPr/>
              <p:nvPr/>
            </p:nvSpPr>
            <p:spPr>
              <a:xfrm>
                <a:off x="7890681" y="4059703"/>
                <a:ext cx="184060" cy="34805"/>
              </a:xfrm>
              <a:custGeom>
                <a:rect b="b" l="l" r="r" t="t"/>
                <a:pathLst>
                  <a:path extrusionOk="0" h="437" w="2311">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0"/>
              <p:cNvSpPr/>
              <p:nvPr/>
            </p:nvSpPr>
            <p:spPr>
              <a:xfrm>
                <a:off x="7475415" y="3969546"/>
                <a:ext cx="156025" cy="115326"/>
              </a:xfrm>
              <a:custGeom>
                <a:rect b="b" l="l" r="r" t="t"/>
                <a:pathLst>
                  <a:path extrusionOk="0" h="1448" w="1959">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0"/>
              <p:cNvSpPr/>
              <p:nvPr/>
            </p:nvSpPr>
            <p:spPr>
              <a:xfrm>
                <a:off x="7471035" y="3964369"/>
                <a:ext cx="164786" cy="125680"/>
              </a:xfrm>
              <a:custGeom>
                <a:rect b="b" l="l" r="r" t="t"/>
                <a:pathLst>
                  <a:path extrusionOk="0" h="1578" w="2069">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0"/>
              <p:cNvSpPr/>
              <p:nvPr/>
            </p:nvSpPr>
            <p:spPr>
              <a:xfrm>
                <a:off x="7437744" y="4085587"/>
                <a:ext cx="231369" cy="192900"/>
              </a:xfrm>
              <a:custGeom>
                <a:rect b="b" l="l" r="r" t="t"/>
                <a:pathLst>
                  <a:path extrusionOk="0" h="2422" w="2905">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0"/>
              <p:cNvSpPr/>
              <p:nvPr/>
            </p:nvSpPr>
            <p:spPr>
              <a:xfrm>
                <a:off x="7433283" y="4080411"/>
                <a:ext cx="240209" cy="202537"/>
              </a:xfrm>
              <a:custGeom>
                <a:rect b="b" l="l" r="r" t="t"/>
                <a:pathLst>
                  <a:path extrusionOk="0" h="2543" w="3016">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0"/>
              <p:cNvSpPr/>
              <p:nvPr/>
            </p:nvSpPr>
            <p:spPr>
              <a:xfrm>
                <a:off x="7532361" y="4141737"/>
                <a:ext cx="42132" cy="80601"/>
              </a:xfrm>
              <a:custGeom>
                <a:rect b="b" l="l" r="r" t="t"/>
                <a:pathLst>
                  <a:path extrusionOk="0" h="1012" w="529">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0"/>
              <p:cNvSpPr/>
              <p:nvPr/>
            </p:nvSpPr>
            <p:spPr>
              <a:xfrm>
                <a:off x="7527901" y="4137277"/>
                <a:ext cx="51769" cy="89521"/>
              </a:xfrm>
              <a:custGeom>
                <a:rect b="b" l="l" r="r" t="t"/>
                <a:pathLst>
                  <a:path extrusionOk="0" h="1124" w="65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5" name="Google Shape;335;p20"/>
            <p:cNvGrpSpPr/>
            <p:nvPr/>
          </p:nvGrpSpPr>
          <p:grpSpPr>
            <a:xfrm flipH="1">
              <a:off x="3725956" y="3512636"/>
              <a:ext cx="1329442" cy="916475"/>
              <a:chOff x="713230" y="2963286"/>
              <a:chExt cx="1329442" cy="916475"/>
            </a:xfrm>
          </p:grpSpPr>
          <p:sp>
            <p:nvSpPr>
              <p:cNvPr id="336" name="Google Shape;336;p20"/>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0"/>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0"/>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0"/>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0"/>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0"/>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0"/>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0"/>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0"/>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0"/>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0"/>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0"/>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0"/>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0"/>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0"/>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0"/>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0"/>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0"/>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0"/>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0"/>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0"/>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20"/>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0"/>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0"/>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0"/>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0"/>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0"/>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0"/>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0"/>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0"/>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0"/>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0"/>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0"/>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0"/>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0"/>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0"/>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0"/>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0"/>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0"/>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20"/>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76" name="Shape 376"/>
        <p:cNvGrpSpPr/>
        <p:nvPr/>
      </p:nvGrpSpPr>
      <p:grpSpPr>
        <a:xfrm>
          <a:off x="0" y="0"/>
          <a:ext cx="0" cy="0"/>
          <a:chOff x="0" y="0"/>
          <a:chExt cx="0" cy="0"/>
        </a:xfrm>
      </p:grpSpPr>
      <p:grpSp>
        <p:nvGrpSpPr>
          <p:cNvPr id="377" name="Google Shape;377;p21"/>
          <p:cNvGrpSpPr/>
          <p:nvPr/>
        </p:nvGrpSpPr>
        <p:grpSpPr>
          <a:xfrm>
            <a:off x="518850" y="392550"/>
            <a:ext cx="8106300" cy="4358400"/>
            <a:chOff x="518850" y="392550"/>
            <a:chExt cx="8106300" cy="4358400"/>
          </a:xfrm>
        </p:grpSpPr>
        <p:grpSp>
          <p:nvGrpSpPr>
            <p:cNvPr id="378" name="Google Shape;378;p21"/>
            <p:cNvGrpSpPr/>
            <p:nvPr/>
          </p:nvGrpSpPr>
          <p:grpSpPr>
            <a:xfrm>
              <a:off x="518850" y="392550"/>
              <a:ext cx="8106300" cy="396000"/>
              <a:chOff x="518850" y="385283"/>
              <a:chExt cx="8106300" cy="396000"/>
            </a:xfrm>
          </p:grpSpPr>
          <p:cxnSp>
            <p:nvCxnSpPr>
              <p:cNvPr id="379" name="Google Shape;379;p21"/>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380" name="Google Shape;380;p21"/>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381" name="Google Shape;381;p21"/>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nvGrpSpPr>
            <p:cNvPr id="382" name="Google Shape;382;p21"/>
            <p:cNvGrpSpPr/>
            <p:nvPr/>
          </p:nvGrpSpPr>
          <p:grpSpPr>
            <a:xfrm rot="10800000">
              <a:off x="518850" y="4354950"/>
              <a:ext cx="8106300" cy="396000"/>
              <a:chOff x="518850" y="385283"/>
              <a:chExt cx="8106300" cy="396000"/>
            </a:xfrm>
          </p:grpSpPr>
          <p:cxnSp>
            <p:nvCxnSpPr>
              <p:cNvPr id="383" name="Google Shape;383;p21"/>
              <p:cNvCxnSpPr/>
              <p:nvPr/>
            </p:nvCxnSpPr>
            <p:spPr>
              <a:xfrm>
                <a:off x="518850" y="390575"/>
                <a:ext cx="8106300" cy="0"/>
              </a:xfrm>
              <a:prstGeom prst="straightConnector1">
                <a:avLst/>
              </a:prstGeom>
              <a:noFill/>
              <a:ln cap="flat" cmpd="sng" w="9525">
                <a:solidFill>
                  <a:schemeClr val="dk1"/>
                </a:solidFill>
                <a:prstDash val="solid"/>
                <a:round/>
                <a:headEnd len="sm" w="sm" type="none"/>
                <a:tailEnd len="sm" w="sm" type="none"/>
              </a:ln>
            </p:spPr>
          </p:cxnSp>
          <p:cxnSp>
            <p:nvCxnSpPr>
              <p:cNvPr id="384" name="Google Shape;384;p21"/>
              <p:cNvCxnSpPr/>
              <p:nvPr/>
            </p:nvCxnSpPr>
            <p:spPr>
              <a:xfrm>
                <a:off x="518850" y="385283"/>
                <a:ext cx="0" cy="396000"/>
              </a:xfrm>
              <a:prstGeom prst="straightConnector1">
                <a:avLst/>
              </a:prstGeom>
              <a:noFill/>
              <a:ln cap="flat" cmpd="sng" w="9525">
                <a:solidFill>
                  <a:schemeClr val="dk1"/>
                </a:solidFill>
                <a:prstDash val="solid"/>
                <a:round/>
                <a:headEnd len="sm" w="sm" type="none"/>
                <a:tailEnd len="med" w="med" type="oval"/>
              </a:ln>
            </p:spPr>
          </p:cxnSp>
          <p:cxnSp>
            <p:nvCxnSpPr>
              <p:cNvPr id="385" name="Google Shape;385;p21"/>
              <p:cNvCxnSpPr/>
              <p:nvPr/>
            </p:nvCxnSpPr>
            <p:spPr>
              <a:xfrm>
                <a:off x="8625150" y="385283"/>
                <a:ext cx="0" cy="396000"/>
              </a:xfrm>
              <a:prstGeom prst="straightConnector1">
                <a:avLst/>
              </a:prstGeom>
              <a:noFill/>
              <a:ln cap="flat" cmpd="sng" w="9525">
                <a:solidFill>
                  <a:schemeClr val="dk1"/>
                </a:solidFill>
                <a:prstDash val="solid"/>
                <a:round/>
                <a:headEnd len="sm" w="sm" type="none"/>
                <a:tailEnd len="med" w="med" type="oval"/>
              </a:ln>
            </p:spPr>
          </p:cxnSp>
        </p:grpSp>
      </p:grpSp>
      <p:grpSp>
        <p:nvGrpSpPr>
          <p:cNvPr id="386" name="Google Shape;386;p21"/>
          <p:cNvGrpSpPr/>
          <p:nvPr/>
        </p:nvGrpSpPr>
        <p:grpSpPr>
          <a:xfrm>
            <a:off x="5441862" y="1343334"/>
            <a:ext cx="2955371" cy="2456833"/>
            <a:chOff x="5475412" y="1860275"/>
            <a:chExt cx="2955371" cy="2456833"/>
          </a:xfrm>
        </p:grpSpPr>
        <p:sp>
          <p:nvSpPr>
            <p:cNvPr id="387" name="Google Shape;387;p21"/>
            <p:cNvSpPr/>
            <p:nvPr/>
          </p:nvSpPr>
          <p:spPr>
            <a:xfrm>
              <a:off x="5581433" y="2425462"/>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1"/>
            <p:cNvSpPr/>
            <p:nvPr/>
          </p:nvSpPr>
          <p:spPr>
            <a:xfrm>
              <a:off x="8233235" y="2755955"/>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1"/>
            <p:cNvSpPr/>
            <p:nvPr/>
          </p:nvSpPr>
          <p:spPr>
            <a:xfrm>
              <a:off x="5475412" y="3604065"/>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1"/>
            <p:cNvSpPr/>
            <p:nvPr/>
          </p:nvSpPr>
          <p:spPr>
            <a:xfrm>
              <a:off x="8311913" y="3834088"/>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1"/>
            <p:cNvSpPr/>
            <p:nvPr/>
          </p:nvSpPr>
          <p:spPr>
            <a:xfrm>
              <a:off x="8015063" y="1953753"/>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1"/>
            <p:cNvSpPr/>
            <p:nvPr/>
          </p:nvSpPr>
          <p:spPr>
            <a:xfrm>
              <a:off x="8015063" y="2047230"/>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1"/>
            <p:cNvSpPr/>
            <p:nvPr/>
          </p:nvSpPr>
          <p:spPr>
            <a:xfrm>
              <a:off x="8044097" y="2018709"/>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21"/>
            <p:cNvSpPr/>
            <p:nvPr/>
          </p:nvSpPr>
          <p:spPr>
            <a:xfrm>
              <a:off x="7950107" y="2018709"/>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21"/>
            <p:cNvSpPr/>
            <p:nvPr/>
          </p:nvSpPr>
          <p:spPr>
            <a:xfrm>
              <a:off x="7972309" y="2041936"/>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1"/>
            <p:cNvSpPr/>
            <p:nvPr/>
          </p:nvSpPr>
          <p:spPr>
            <a:xfrm>
              <a:off x="7969121" y="2039032"/>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1"/>
            <p:cNvSpPr/>
            <p:nvPr/>
          </p:nvSpPr>
          <p:spPr>
            <a:xfrm>
              <a:off x="8038859" y="1975898"/>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1"/>
            <p:cNvSpPr/>
            <p:nvPr/>
          </p:nvSpPr>
          <p:spPr>
            <a:xfrm>
              <a:off x="8035159" y="1972653"/>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1"/>
            <p:cNvSpPr/>
            <p:nvPr/>
          </p:nvSpPr>
          <p:spPr>
            <a:xfrm>
              <a:off x="7972309" y="1975898"/>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1"/>
            <p:cNvSpPr/>
            <p:nvPr/>
          </p:nvSpPr>
          <p:spPr>
            <a:xfrm>
              <a:off x="7969121" y="1972653"/>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21"/>
            <p:cNvSpPr/>
            <p:nvPr/>
          </p:nvSpPr>
          <p:spPr>
            <a:xfrm>
              <a:off x="8038859" y="2041936"/>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1"/>
            <p:cNvSpPr/>
            <p:nvPr/>
          </p:nvSpPr>
          <p:spPr>
            <a:xfrm>
              <a:off x="8035159" y="2039032"/>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1"/>
            <p:cNvSpPr/>
            <p:nvPr/>
          </p:nvSpPr>
          <p:spPr>
            <a:xfrm>
              <a:off x="8355158" y="2208282"/>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1"/>
            <p:cNvSpPr/>
            <p:nvPr/>
          </p:nvSpPr>
          <p:spPr>
            <a:xfrm>
              <a:off x="5739149" y="2773380"/>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1"/>
            <p:cNvSpPr/>
            <p:nvPr/>
          </p:nvSpPr>
          <p:spPr>
            <a:xfrm>
              <a:off x="6637773" y="1860275"/>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1"/>
            <p:cNvSpPr/>
            <p:nvPr/>
          </p:nvSpPr>
          <p:spPr>
            <a:xfrm>
              <a:off x="6622459" y="2287528"/>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1"/>
            <p:cNvSpPr/>
            <p:nvPr/>
          </p:nvSpPr>
          <p:spPr>
            <a:xfrm>
              <a:off x="6619783" y="2282746"/>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1"/>
            <p:cNvSpPr/>
            <p:nvPr/>
          </p:nvSpPr>
          <p:spPr>
            <a:xfrm>
              <a:off x="6175621" y="2313943"/>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1"/>
            <p:cNvSpPr/>
            <p:nvPr/>
          </p:nvSpPr>
          <p:spPr>
            <a:xfrm>
              <a:off x="6172490" y="2310755"/>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1"/>
            <p:cNvSpPr/>
            <p:nvPr/>
          </p:nvSpPr>
          <p:spPr>
            <a:xfrm>
              <a:off x="6359445" y="2342407"/>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21"/>
            <p:cNvSpPr/>
            <p:nvPr/>
          </p:nvSpPr>
          <p:spPr>
            <a:xfrm>
              <a:off x="6356257" y="2338764"/>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1"/>
            <p:cNvSpPr/>
            <p:nvPr/>
          </p:nvSpPr>
          <p:spPr>
            <a:xfrm>
              <a:off x="6631966" y="2285421"/>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1"/>
            <p:cNvSpPr/>
            <p:nvPr/>
          </p:nvSpPr>
          <p:spPr>
            <a:xfrm>
              <a:off x="6629290" y="2280127"/>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1"/>
            <p:cNvSpPr/>
            <p:nvPr/>
          </p:nvSpPr>
          <p:spPr>
            <a:xfrm>
              <a:off x="7338003" y="2218302"/>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1"/>
            <p:cNvSpPr/>
            <p:nvPr/>
          </p:nvSpPr>
          <p:spPr>
            <a:xfrm>
              <a:off x="7334359" y="2214658"/>
              <a:ext cx="88241"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1"/>
            <p:cNvSpPr/>
            <p:nvPr/>
          </p:nvSpPr>
          <p:spPr>
            <a:xfrm>
              <a:off x="7468997" y="2075239"/>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1"/>
            <p:cNvSpPr/>
            <p:nvPr/>
          </p:nvSpPr>
          <p:spPr>
            <a:xfrm>
              <a:off x="7465297" y="2072051"/>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1"/>
            <p:cNvSpPr/>
            <p:nvPr/>
          </p:nvSpPr>
          <p:spPr>
            <a:xfrm>
              <a:off x="7587296" y="2272214"/>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1"/>
            <p:cNvSpPr/>
            <p:nvPr/>
          </p:nvSpPr>
          <p:spPr>
            <a:xfrm>
              <a:off x="7583596" y="2269026"/>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1"/>
            <p:cNvSpPr/>
            <p:nvPr/>
          </p:nvSpPr>
          <p:spPr>
            <a:xfrm>
              <a:off x="6112258" y="2077573"/>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1"/>
            <p:cNvSpPr/>
            <p:nvPr/>
          </p:nvSpPr>
          <p:spPr>
            <a:xfrm>
              <a:off x="6086412" y="2051443"/>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1"/>
            <p:cNvSpPr/>
            <p:nvPr/>
          </p:nvSpPr>
          <p:spPr>
            <a:xfrm>
              <a:off x="6083224" y="2047742"/>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1"/>
            <p:cNvSpPr/>
            <p:nvPr/>
          </p:nvSpPr>
          <p:spPr>
            <a:xfrm>
              <a:off x="6314016" y="2051443"/>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1"/>
            <p:cNvSpPr/>
            <p:nvPr/>
          </p:nvSpPr>
          <p:spPr>
            <a:xfrm>
              <a:off x="6310315" y="2047742"/>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1"/>
            <p:cNvSpPr/>
            <p:nvPr/>
          </p:nvSpPr>
          <p:spPr>
            <a:xfrm>
              <a:off x="6194635" y="2159722"/>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1"/>
            <p:cNvSpPr/>
            <p:nvPr/>
          </p:nvSpPr>
          <p:spPr>
            <a:xfrm>
              <a:off x="6191504" y="2156022"/>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1"/>
            <p:cNvSpPr/>
            <p:nvPr/>
          </p:nvSpPr>
          <p:spPr>
            <a:xfrm>
              <a:off x="6449223" y="2065163"/>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1"/>
            <p:cNvSpPr/>
            <p:nvPr/>
          </p:nvSpPr>
          <p:spPr>
            <a:xfrm>
              <a:off x="6446035" y="2062032"/>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1"/>
            <p:cNvSpPr/>
            <p:nvPr/>
          </p:nvSpPr>
          <p:spPr>
            <a:xfrm>
              <a:off x="6930332" y="1988081"/>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1"/>
            <p:cNvSpPr/>
            <p:nvPr/>
          </p:nvSpPr>
          <p:spPr>
            <a:xfrm>
              <a:off x="6927144" y="1984893"/>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1"/>
            <p:cNvSpPr/>
            <p:nvPr/>
          </p:nvSpPr>
          <p:spPr>
            <a:xfrm>
              <a:off x="6987888" y="2066757"/>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1"/>
            <p:cNvSpPr/>
            <p:nvPr/>
          </p:nvSpPr>
          <p:spPr>
            <a:xfrm>
              <a:off x="7051250" y="2066757"/>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1"/>
            <p:cNvSpPr/>
            <p:nvPr/>
          </p:nvSpPr>
          <p:spPr>
            <a:xfrm>
              <a:off x="7114100" y="2066757"/>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1"/>
            <p:cNvSpPr/>
            <p:nvPr/>
          </p:nvSpPr>
          <p:spPr>
            <a:xfrm>
              <a:off x="5743641" y="2204582"/>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1"/>
            <p:cNvSpPr/>
            <p:nvPr/>
          </p:nvSpPr>
          <p:spPr>
            <a:xfrm>
              <a:off x="5740453" y="2201451"/>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1"/>
            <p:cNvSpPr/>
            <p:nvPr/>
          </p:nvSpPr>
          <p:spPr>
            <a:xfrm>
              <a:off x="5914201" y="2279045"/>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1"/>
            <p:cNvSpPr/>
            <p:nvPr/>
          </p:nvSpPr>
          <p:spPr>
            <a:xfrm>
              <a:off x="5854027" y="2279045"/>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1"/>
            <p:cNvSpPr/>
            <p:nvPr/>
          </p:nvSpPr>
          <p:spPr>
            <a:xfrm>
              <a:off x="5794878" y="2279045"/>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21"/>
            <p:cNvSpPr/>
            <p:nvPr/>
          </p:nvSpPr>
          <p:spPr>
            <a:xfrm>
              <a:off x="7974415" y="2277337"/>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21"/>
            <p:cNvSpPr/>
            <p:nvPr/>
          </p:nvSpPr>
          <p:spPr>
            <a:xfrm>
              <a:off x="7970715" y="2274035"/>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1"/>
            <p:cNvSpPr/>
            <p:nvPr/>
          </p:nvSpPr>
          <p:spPr>
            <a:xfrm>
              <a:off x="7946406" y="2402126"/>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1"/>
            <p:cNvSpPr/>
            <p:nvPr/>
          </p:nvSpPr>
          <p:spPr>
            <a:xfrm>
              <a:off x="7942706" y="2398938"/>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1"/>
            <p:cNvSpPr/>
            <p:nvPr/>
          </p:nvSpPr>
          <p:spPr>
            <a:xfrm>
              <a:off x="7741005" y="2150215"/>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1"/>
            <p:cNvSpPr/>
            <p:nvPr/>
          </p:nvSpPr>
          <p:spPr>
            <a:xfrm>
              <a:off x="7737817" y="2147027"/>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21"/>
            <p:cNvSpPr/>
            <p:nvPr/>
          </p:nvSpPr>
          <p:spPr>
            <a:xfrm>
              <a:off x="7784272" y="2170538"/>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1"/>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1"/>
            <p:cNvSpPr/>
            <p:nvPr/>
          </p:nvSpPr>
          <p:spPr>
            <a:xfrm>
              <a:off x="6902835" y="3774116"/>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1"/>
            <p:cNvSpPr/>
            <p:nvPr/>
          </p:nvSpPr>
          <p:spPr>
            <a:xfrm>
              <a:off x="5894162" y="2528850"/>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1"/>
            <p:cNvSpPr/>
            <p:nvPr/>
          </p:nvSpPr>
          <p:spPr>
            <a:xfrm>
              <a:off x="5890974" y="2525662"/>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1"/>
            <p:cNvSpPr/>
            <p:nvPr/>
          </p:nvSpPr>
          <p:spPr>
            <a:xfrm>
              <a:off x="5995041" y="2636047"/>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1"/>
            <p:cNvSpPr/>
            <p:nvPr/>
          </p:nvSpPr>
          <p:spPr>
            <a:xfrm>
              <a:off x="5991341" y="2632916"/>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1"/>
            <p:cNvSpPr/>
            <p:nvPr/>
          </p:nvSpPr>
          <p:spPr>
            <a:xfrm>
              <a:off x="6933520" y="2560559"/>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1"/>
            <p:cNvSpPr/>
            <p:nvPr/>
          </p:nvSpPr>
          <p:spPr>
            <a:xfrm>
              <a:off x="6930332" y="2556859"/>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1"/>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1"/>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1"/>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1"/>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1"/>
            <p:cNvSpPr/>
            <p:nvPr/>
          </p:nvSpPr>
          <p:spPr>
            <a:xfrm>
              <a:off x="5893081" y="3731363"/>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21"/>
            <p:cNvSpPr/>
            <p:nvPr/>
          </p:nvSpPr>
          <p:spPr>
            <a:xfrm>
              <a:off x="5889950" y="3727662"/>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1"/>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1"/>
            <p:cNvSpPr/>
            <p:nvPr/>
          </p:nvSpPr>
          <p:spPr>
            <a:xfrm>
              <a:off x="6431802" y="4215089"/>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1"/>
            <p:cNvSpPr/>
            <p:nvPr/>
          </p:nvSpPr>
          <p:spPr>
            <a:xfrm>
              <a:off x="6428614" y="4211958"/>
              <a:ext cx="1044666"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1"/>
            <p:cNvSpPr/>
            <p:nvPr/>
          </p:nvSpPr>
          <p:spPr>
            <a:xfrm>
              <a:off x="6691628" y="4215089"/>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1"/>
            <p:cNvSpPr/>
            <p:nvPr/>
          </p:nvSpPr>
          <p:spPr>
            <a:xfrm>
              <a:off x="6687927" y="4211958"/>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21"/>
            <p:cNvSpPr/>
            <p:nvPr/>
          </p:nvSpPr>
          <p:spPr>
            <a:xfrm>
              <a:off x="7160554" y="2782355"/>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1"/>
            <p:cNvSpPr/>
            <p:nvPr/>
          </p:nvSpPr>
          <p:spPr>
            <a:xfrm>
              <a:off x="7157423" y="2779167"/>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1"/>
            <p:cNvSpPr/>
            <p:nvPr/>
          </p:nvSpPr>
          <p:spPr>
            <a:xfrm>
              <a:off x="7228186" y="2854200"/>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1"/>
            <p:cNvSpPr/>
            <p:nvPr/>
          </p:nvSpPr>
          <p:spPr>
            <a:xfrm>
              <a:off x="7592078"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21"/>
            <p:cNvSpPr/>
            <p:nvPr/>
          </p:nvSpPr>
          <p:spPr>
            <a:xfrm>
              <a:off x="7624243" y="2824084"/>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21"/>
            <p:cNvSpPr/>
            <p:nvPr/>
          </p:nvSpPr>
          <p:spPr>
            <a:xfrm>
              <a:off x="7653334"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1"/>
            <p:cNvSpPr/>
            <p:nvPr/>
          </p:nvSpPr>
          <p:spPr>
            <a:xfrm>
              <a:off x="7471104" y="2903842"/>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1"/>
            <p:cNvSpPr/>
            <p:nvPr/>
          </p:nvSpPr>
          <p:spPr>
            <a:xfrm>
              <a:off x="7471104" y="2947677"/>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1"/>
            <p:cNvSpPr/>
            <p:nvPr/>
          </p:nvSpPr>
          <p:spPr>
            <a:xfrm>
              <a:off x="7471104" y="2991456"/>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21"/>
            <p:cNvSpPr/>
            <p:nvPr/>
          </p:nvSpPr>
          <p:spPr>
            <a:xfrm>
              <a:off x="7453171" y="3091309"/>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21"/>
            <p:cNvSpPr/>
            <p:nvPr/>
          </p:nvSpPr>
          <p:spPr>
            <a:xfrm>
              <a:off x="7231374" y="3221734"/>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1"/>
            <p:cNvSpPr/>
            <p:nvPr/>
          </p:nvSpPr>
          <p:spPr>
            <a:xfrm>
              <a:off x="7231374" y="3178411"/>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1"/>
            <p:cNvSpPr/>
            <p:nvPr/>
          </p:nvSpPr>
          <p:spPr>
            <a:xfrm>
              <a:off x="7231374" y="3134575"/>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1"/>
            <p:cNvSpPr/>
            <p:nvPr/>
          </p:nvSpPr>
          <p:spPr>
            <a:xfrm>
              <a:off x="7417761" y="3341114"/>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1"/>
            <p:cNvSpPr/>
            <p:nvPr/>
          </p:nvSpPr>
          <p:spPr>
            <a:xfrm>
              <a:off x="7245607" y="3341114"/>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1"/>
            <p:cNvSpPr/>
            <p:nvPr/>
          </p:nvSpPr>
          <p:spPr>
            <a:xfrm>
              <a:off x="7245607" y="3390756"/>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1"/>
            <p:cNvSpPr/>
            <p:nvPr/>
          </p:nvSpPr>
          <p:spPr>
            <a:xfrm>
              <a:off x="7337490" y="2894335"/>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21"/>
            <p:cNvSpPr/>
            <p:nvPr/>
          </p:nvSpPr>
          <p:spPr>
            <a:xfrm>
              <a:off x="7333790" y="2890065"/>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1"/>
            <p:cNvSpPr/>
            <p:nvPr/>
          </p:nvSpPr>
          <p:spPr>
            <a:xfrm>
              <a:off x="7250389" y="2883404"/>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21"/>
            <p:cNvSpPr/>
            <p:nvPr/>
          </p:nvSpPr>
          <p:spPr>
            <a:xfrm>
              <a:off x="7249819" y="2879875"/>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21"/>
            <p:cNvSpPr/>
            <p:nvPr/>
          </p:nvSpPr>
          <p:spPr>
            <a:xfrm>
              <a:off x="7464272" y="3113853"/>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1"/>
            <p:cNvSpPr/>
            <p:nvPr/>
          </p:nvSpPr>
          <p:spPr>
            <a:xfrm>
              <a:off x="7461084" y="3111177"/>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1"/>
            <p:cNvSpPr/>
            <p:nvPr/>
          </p:nvSpPr>
          <p:spPr>
            <a:xfrm>
              <a:off x="7495925" y="3135657"/>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1"/>
            <p:cNvSpPr/>
            <p:nvPr/>
          </p:nvSpPr>
          <p:spPr>
            <a:xfrm>
              <a:off x="7492224" y="3132469"/>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1"/>
            <p:cNvSpPr/>
            <p:nvPr/>
          </p:nvSpPr>
          <p:spPr>
            <a:xfrm>
              <a:off x="7504920" y="3149434"/>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21"/>
            <p:cNvSpPr/>
            <p:nvPr/>
          </p:nvSpPr>
          <p:spPr>
            <a:xfrm>
              <a:off x="7501219" y="3146246"/>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21"/>
            <p:cNvSpPr/>
            <p:nvPr/>
          </p:nvSpPr>
          <p:spPr>
            <a:xfrm>
              <a:off x="7526553" y="3166797"/>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1"/>
            <p:cNvSpPr/>
            <p:nvPr/>
          </p:nvSpPr>
          <p:spPr>
            <a:xfrm>
              <a:off x="7523422" y="3163097"/>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1"/>
            <p:cNvSpPr/>
            <p:nvPr/>
          </p:nvSpPr>
          <p:spPr>
            <a:xfrm>
              <a:off x="7495412" y="3128939"/>
              <a:ext cx="49188" cy="55905"/>
            </a:xfrm>
            <a:custGeom>
              <a:rect b="b" l="l" r="r" t="t"/>
              <a:pathLst>
                <a:path extrusionOk="0" h="982" w="864">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1"/>
            <p:cNvSpPr/>
            <p:nvPr/>
          </p:nvSpPr>
          <p:spPr>
            <a:xfrm>
              <a:off x="7493818" y="3127231"/>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21"/>
            <p:cNvSpPr/>
            <p:nvPr/>
          </p:nvSpPr>
          <p:spPr>
            <a:xfrm>
              <a:off x="7482205" y="3116130"/>
              <a:ext cx="19072" cy="18502"/>
            </a:xfrm>
            <a:custGeom>
              <a:rect b="b" l="l" r="r" t="t"/>
              <a:pathLst>
                <a:path extrusionOk="0" h="325" w="335">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21"/>
            <p:cNvSpPr/>
            <p:nvPr/>
          </p:nvSpPr>
          <p:spPr>
            <a:xfrm>
              <a:off x="7481123" y="3114536"/>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21"/>
            <p:cNvSpPr/>
            <p:nvPr/>
          </p:nvSpPr>
          <p:spPr>
            <a:xfrm>
              <a:off x="7487499" y="3121937"/>
              <a:ext cx="18502" cy="18218"/>
            </a:xfrm>
            <a:custGeom>
              <a:rect b="b" l="l" r="r" t="t"/>
              <a:pathLst>
                <a:path extrusionOk="0" h="320" w="325">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21"/>
            <p:cNvSpPr/>
            <p:nvPr/>
          </p:nvSpPr>
          <p:spPr>
            <a:xfrm>
              <a:off x="7485905" y="3120115"/>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21"/>
            <p:cNvSpPr/>
            <p:nvPr/>
          </p:nvSpPr>
          <p:spPr>
            <a:xfrm>
              <a:off x="6932439" y="3332119"/>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1"/>
            <p:cNvSpPr/>
            <p:nvPr/>
          </p:nvSpPr>
          <p:spPr>
            <a:xfrm>
              <a:off x="6929251" y="3328419"/>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21"/>
            <p:cNvSpPr/>
            <p:nvPr/>
          </p:nvSpPr>
          <p:spPr>
            <a:xfrm>
              <a:off x="6626671" y="3327906"/>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1"/>
            <p:cNvSpPr/>
            <p:nvPr/>
          </p:nvSpPr>
          <p:spPr>
            <a:xfrm>
              <a:off x="6623483" y="3324718"/>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1"/>
            <p:cNvSpPr/>
            <p:nvPr/>
          </p:nvSpPr>
          <p:spPr>
            <a:xfrm>
              <a:off x="6695328" y="3411877"/>
              <a:ext cx="136290" cy="100937"/>
            </a:xfrm>
            <a:custGeom>
              <a:rect b="b" l="l" r="r" t="t"/>
              <a:pathLst>
                <a:path extrusionOk="0" h="1773" w="2394">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1"/>
            <p:cNvSpPr/>
            <p:nvPr/>
          </p:nvSpPr>
          <p:spPr>
            <a:xfrm>
              <a:off x="6692140" y="3408689"/>
              <a:ext cx="142667" cy="107768"/>
            </a:xfrm>
            <a:custGeom>
              <a:rect b="b" l="l" r="r" t="t"/>
              <a:pathLst>
                <a:path extrusionOk="0" h="1893" w="2506">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1"/>
            <p:cNvSpPr/>
            <p:nvPr/>
          </p:nvSpPr>
          <p:spPr>
            <a:xfrm>
              <a:off x="6695328" y="3425597"/>
              <a:ext cx="136290" cy="37232"/>
            </a:xfrm>
            <a:custGeom>
              <a:rect b="b" l="l" r="r" t="t"/>
              <a:pathLst>
                <a:path extrusionOk="0" h="654" w="2394">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21"/>
            <p:cNvSpPr/>
            <p:nvPr/>
          </p:nvSpPr>
          <p:spPr>
            <a:xfrm>
              <a:off x="6693734" y="3422409"/>
              <a:ext cx="139479" cy="43381"/>
            </a:xfrm>
            <a:custGeom>
              <a:rect b="b" l="l" r="r" t="t"/>
              <a:pathLst>
                <a:path extrusionOk="0" h="762" w="245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1"/>
            <p:cNvSpPr/>
            <p:nvPr/>
          </p:nvSpPr>
          <p:spPr>
            <a:xfrm>
              <a:off x="6732275" y="3079126"/>
              <a:ext cx="373973" cy="201817"/>
            </a:xfrm>
            <a:custGeom>
              <a:rect b="b" l="l" r="r" t="t"/>
              <a:pathLst>
                <a:path extrusionOk="0" h="3545" w="6569">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1"/>
            <p:cNvSpPr/>
            <p:nvPr/>
          </p:nvSpPr>
          <p:spPr>
            <a:xfrm>
              <a:off x="6732275" y="3083908"/>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21"/>
            <p:cNvSpPr/>
            <p:nvPr/>
          </p:nvSpPr>
          <p:spPr>
            <a:xfrm>
              <a:off x="6728575" y="3080720"/>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1"/>
            <p:cNvSpPr/>
            <p:nvPr/>
          </p:nvSpPr>
          <p:spPr>
            <a:xfrm>
              <a:off x="6793531" y="3145164"/>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1"/>
            <p:cNvSpPr/>
            <p:nvPr/>
          </p:nvSpPr>
          <p:spPr>
            <a:xfrm>
              <a:off x="6942971" y="3145164"/>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1"/>
            <p:cNvSpPr/>
            <p:nvPr/>
          </p:nvSpPr>
          <p:spPr>
            <a:xfrm>
              <a:off x="6793531" y="3208526"/>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1"/>
            <p:cNvSpPr/>
            <p:nvPr/>
          </p:nvSpPr>
          <p:spPr>
            <a:xfrm>
              <a:off x="6893328" y="3175280"/>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1"/>
            <p:cNvSpPr/>
            <p:nvPr/>
          </p:nvSpPr>
          <p:spPr>
            <a:xfrm>
              <a:off x="6793531" y="3175280"/>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21"/>
            <p:cNvSpPr/>
            <p:nvPr/>
          </p:nvSpPr>
          <p:spPr>
            <a:xfrm>
              <a:off x="6931926" y="3208526"/>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21"/>
            <p:cNvSpPr/>
            <p:nvPr/>
          </p:nvSpPr>
          <p:spPr>
            <a:xfrm>
              <a:off x="6732275" y="2787650"/>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1"/>
            <p:cNvSpPr/>
            <p:nvPr/>
          </p:nvSpPr>
          <p:spPr>
            <a:xfrm>
              <a:off x="6728575" y="2783949"/>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21"/>
            <p:cNvSpPr/>
            <p:nvPr/>
          </p:nvSpPr>
          <p:spPr>
            <a:xfrm>
              <a:off x="6997395"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1"/>
            <p:cNvSpPr/>
            <p:nvPr/>
          </p:nvSpPr>
          <p:spPr>
            <a:xfrm>
              <a:off x="7035424"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21"/>
            <p:cNvSpPr/>
            <p:nvPr/>
          </p:nvSpPr>
          <p:spPr>
            <a:xfrm>
              <a:off x="7073452" y="2799263"/>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21"/>
            <p:cNvSpPr/>
            <p:nvPr/>
          </p:nvSpPr>
          <p:spPr>
            <a:xfrm>
              <a:off x="6833154" y="2829891"/>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1"/>
            <p:cNvSpPr/>
            <p:nvPr/>
          </p:nvSpPr>
          <p:spPr>
            <a:xfrm>
              <a:off x="6829966" y="2826703"/>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21"/>
            <p:cNvSpPr/>
            <p:nvPr/>
          </p:nvSpPr>
          <p:spPr>
            <a:xfrm>
              <a:off x="6851656" y="2848393"/>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21"/>
            <p:cNvSpPr/>
            <p:nvPr/>
          </p:nvSpPr>
          <p:spPr>
            <a:xfrm>
              <a:off x="6848468" y="2845205"/>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21"/>
            <p:cNvSpPr/>
            <p:nvPr/>
          </p:nvSpPr>
          <p:spPr>
            <a:xfrm>
              <a:off x="6915018" y="2877939"/>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1"/>
            <p:cNvSpPr/>
            <p:nvPr/>
          </p:nvSpPr>
          <p:spPr>
            <a:xfrm>
              <a:off x="6909724" y="2906973"/>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1"/>
            <p:cNvSpPr/>
            <p:nvPr/>
          </p:nvSpPr>
          <p:spPr>
            <a:xfrm>
              <a:off x="6906536" y="2903842"/>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1"/>
            <p:cNvSpPr/>
            <p:nvPr/>
          </p:nvSpPr>
          <p:spPr>
            <a:xfrm>
              <a:off x="6131273" y="2776548"/>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21"/>
            <p:cNvSpPr/>
            <p:nvPr/>
          </p:nvSpPr>
          <p:spPr>
            <a:xfrm>
              <a:off x="6127572" y="2773360"/>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21"/>
            <p:cNvSpPr/>
            <p:nvPr/>
          </p:nvSpPr>
          <p:spPr>
            <a:xfrm>
              <a:off x="6317204" y="2829094"/>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21"/>
            <p:cNvSpPr/>
            <p:nvPr/>
          </p:nvSpPr>
          <p:spPr>
            <a:xfrm>
              <a:off x="6322441" y="2825678"/>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21"/>
            <p:cNvSpPr/>
            <p:nvPr/>
          </p:nvSpPr>
          <p:spPr>
            <a:xfrm>
              <a:off x="6370547" y="2912780"/>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21"/>
            <p:cNvSpPr/>
            <p:nvPr/>
          </p:nvSpPr>
          <p:spPr>
            <a:xfrm>
              <a:off x="6366846" y="2909649"/>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21"/>
            <p:cNvSpPr/>
            <p:nvPr/>
          </p:nvSpPr>
          <p:spPr>
            <a:xfrm>
              <a:off x="6386885" y="2864731"/>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1"/>
            <p:cNvSpPr/>
            <p:nvPr/>
          </p:nvSpPr>
          <p:spPr>
            <a:xfrm>
              <a:off x="6383697" y="2861031"/>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21"/>
            <p:cNvSpPr/>
            <p:nvPr/>
          </p:nvSpPr>
          <p:spPr>
            <a:xfrm>
              <a:off x="6246953" y="3037967"/>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1"/>
            <p:cNvSpPr/>
            <p:nvPr/>
          </p:nvSpPr>
          <p:spPr>
            <a:xfrm>
              <a:off x="6243765" y="3034779"/>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1"/>
            <p:cNvSpPr/>
            <p:nvPr/>
          </p:nvSpPr>
          <p:spPr>
            <a:xfrm>
              <a:off x="6246953" y="3133038"/>
              <a:ext cx="324843" cy="58638"/>
            </a:xfrm>
            <a:custGeom>
              <a:rect b="b" l="l" r="r" t="t"/>
              <a:pathLst>
                <a:path extrusionOk="0" h="1030" w="5706">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1"/>
            <p:cNvSpPr/>
            <p:nvPr/>
          </p:nvSpPr>
          <p:spPr>
            <a:xfrm>
              <a:off x="6243765" y="3129850"/>
              <a:ext cx="331731" cy="65526"/>
            </a:xfrm>
            <a:custGeom>
              <a:rect b="b" l="l" r="r" t="t"/>
              <a:pathLst>
                <a:path extrusionOk="0" h="1151" w="5827">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1"/>
            <p:cNvSpPr/>
            <p:nvPr/>
          </p:nvSpPr>
          <p:spPr>
            <a:xfrm>
              <a:off x="6362576" y="3211714"/>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1"/>
            <p:cNvSpPr/>
            <p:nvPr/>
          </p:nvSpPr>
          <p:spPr>
            <a:xfrm>
              <a:off x="6608682" y="2809681"/>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1"/>
            <p:cNvSpPr/>
            <p:nvPr/>
          </p:nvSpPr>
          <p:spPr>
            <a:xfrm>
              <a:off x="6608682" y="2809681"/>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1"/>
            <p:cNvSpPr/>
            <p:nvPr/>
          </p:nvSpPr>
          <p:spPr>
            <a:xfrm>
              <a:off x="6131273" y="3328419"/>
              <a:ext cx="460564" cy="268880"/>
            </a:xfrm>
            <a:custGeom>
              <a:rect b="b" l="l" r="r" t="t"/>
              <a:pathLst>
                <a:path extrusionOk="0" h="4723" w="809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1"/>
            <p:cNvSpPr/>
            <p:nvPr/>
          </p:nvSpPr>
          <p:spPr>
            <a:xfrm>
              <a:off x="6466643" y="3355346"/>
              <a:ext cx="71903" cy="201248"/>
            </a:xfrm>
            <a:custGeom>
              <a:rect b="b" l="l" r="r" t="t"/>
              <a:pathLst>
                <a:path extrusionOk="0" h="3535" w="1263">
                  <a:moveTo>
                    <a:pt x="0" y="1"/>
                  </a:moveTo>
                  <a:lnTo>
                    <a:pt x="0" y="3535"/>
                  </a:lnTo>
                  <a:lnTo>
                    <a:pt x="1262" y="353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21"/>
            <p:cNvSpPr/>
            <p:nvPr/>
          </p:nvSpPr>
          <p:spPr>
            <a:xfrm>
              <a:off x="6463455" y="3352158"/>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1"/>
            <p:cNvSpPr/>
            <p:nvPr/>
          </p:nvSpPr>
          <p:spPr>
            <a:xfrm>
              <a:off x="6365252" y="3443017"/>
              <a:ext cx="71846" cy="113575"/>
            </a:xfrm>
            <a:custGeom>
              <a:rect b="b" l="l" r="r" t="t"/>
              <a:pathLst>
                <a:path extrusionOk="0" h="1995" w="1262">
                  <a:moveTo>
                    <a:pt x="0" y="1"/>
                  </a:moveTo>
                  <a:lnTo>
                    <a:pt x="0" y="1995"/>
                  </a:lnTo>
                  <a:lnTo>
                    <a:pt x="1262" y="199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21"/>
            <p:cNvSpPr/>
            <p:nvPr/>
          </p:nvSpPr>
          <p:spPr>
            <a:xfrm>
              <a:off x="6362064" y="3439829"/>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1"/>
            <p:cNvSpPr/>
            <p:nvPr/>
          </p:nvSpPr>
          <p:spPr>
            <a:xfrm>
              <a:off x="6461861" y="3355346"/>
              <a:ext cx="71390" cy="194416"/>
            </a:xfrm>
            <a:custGeom>
              <a:rect b="b" l="l" r="r" t="t"/>
              <a:pathLst>
                <a:path extrusionOk="0" h="3415" w="1254">
                  <a:moveTo>
                    <a:pt x="1" y="1"/>
                  </a:moveTo>
                  <a:lnTo>
                    <a:pt x="1" y="3414"/>
                  </a:lnTo>
                  <a:lnTo>
                    <a:pt x="1253" y="3414"/>
                  </a:lnTo>
                  <a:lnTo>
                    <a:pt x="125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21"/>
            <p:cNvSpPr/>
            <p:nvPr/>
          </p:nvSpPr>
          <p:spPr>
            <a:xfrm>
              <a:off x="6458161" y="3352158"/>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1"/>
            <p:cNvSpPr/>
            <p:nvPr/>
          </p:nvSpPr>
          <p:spPr>
            <a:xfrm>
              <a:off x="6359958" y="3443017"/>
              <a:ext cx="71903" cy="106744"/>
            </a:xfrm>
            <a:custGeom>
              <a:rect b="b" l="l" r="r" t="t"/>
              <a:pathLst>
                <a:path extrusionOk="0" h="1875" w="1263">
                  <a:moveTo>
                    <a:pt x="1" y="1"/>
                  </a:moveTo>
                  <a:lnTo>
                    <a:pt x="1" y="1874"/>
                  </a:lnTo>
                  <a:lnTo>
                    <a:pt x="1262" y="1874"/>
                  </a:lnTo>
                  <a:lnTo>
                    <a:pt x="1262"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21"/>
            <p:cNvSpPr/>
            <p:nvPr/>
          </p:nvSpPr>
          <p:spPr>
            <a:xfrm>
              <a:off x="6356770" y="3439829"/>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1"/>
            <p:cNvSpPr/>
            <p:nvPr/>
          </p:nvSpPr>
          <p:spPr>
            <a:xfrm>
              <a:off x="6263292" y="3494765"/>
              <a:ext cx="71903" cy="62395"/>
            </a:xfrm>
            <a:custGeom>
              <a:rect b="b" l="l" r="r" t="t"/>
              <a:pathLst>
                <a:path extrusionOk="0" h="1096" w="1263">
                  <a:moveTo>
                    <a:pt x="1" y="1"/>
                  </a:moveTo>
                  <a:lnTo>
                    <a:pt x="1" y="1095"/>
                  </a:lnTo>
                  <a:lnTo>
                    <a:pt x="1263" y="1095"/>
                  </a:lnTo>
                  <a:lnTo>
                    <a:pt x="126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1"/>
            <p:cNvSpPr/>
            <p:nvPr/>
          </p:nvSpPr>
          <p:spPr>
            <a:xfrm>
              <a:off x="6260161" y="3491577"/>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1"/>
            <p:cNvSpPr/>
            <p:nvPr/>
          </p:nvSpPr>
          <p:spPr>
            <a:xfrm>
              <a:off x="6258054" y="3494765"/>
              <a:ext cx="71846" cy="58182"/>
            </a:xfrm>
            <a:custGeom>
              <a:rect b="b" l="l" r="r" t="t"/>
              <a:pathLst>
                <a:path extrusionOk="0" h="1022" w="1262">
                  <a:moveTo>
                    <a:pt x="0" y="1"/>
                  </a:moveTo>
                  <a:lnTo>
                    <a:pt x="0" y="1021"/>
                  </a:lnTo>
                  <a:lnTo>
                    <a:pt x="1262" y="1021"/>
                  </a:lnTo>
                  <a:lnTo>
                    <a:pt x="126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1"/>
            <p:cNvSpPr/>
            <p:nvPr/>
          </p:nvSpPr>
          <p:spPr>
            <a:xfrm>
              <a:off x="6254866" y="3491577"/>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1"/>
            <p:cNvSpPr/>
            <p:nvPr/>
          </p:nvSpPr>
          <p:spPr>
            <a:xfrm>
              <a:off x="6166113" y="3528069"/>
              <a:ext cx="71903" cy="29091"/>
            </a:xfrm>
            <a:custGeom>
              <a:rect b="b" l="l" r="r" t="t"/>
              <a:pathLst>
                <a:path extrusionOk="0" h="511" w="1263">
                  <a:moveTo>
                    <a:pt x="1" y="0"/>
                  </a:moveTo>
                  <a:lnTo>
                    <a:pt x="1" y="510"/>
                  </a:lnTo>
                  <a:lnTo>
                    <a:pt x="1263" y="510"/>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1"/>
            <p:cNvSpPr/>
            <p:nvPr/>
          </p:nvSpPr>
          <p:spPr>
            <a:xfrm>
              <a:off x="6162470" y="3524369"/>
              <a:ext cx="78734" cy="35923"/>
            </a:xfrm>
            <a:custGeom>
              <a:rect b="b" l="l" r="r" t="t"/>
              <a:pathLst>
                <a:path extrusionOk="0" h="631" w="1383">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21"/>
            <p:cNvSpPr/>
            <p:nvPr/>
          </p:nvSpPr>
          <p:spPr>
            <a:xfrm>
              <a:off x="6160876" y="3528069"/>
              <a:ext cx="71846" cy="26985"/>
            </a:xfrm>
            <a:custGeom>
              <a:rect b="b" l="l" r="r" t="t"/>
              <a:pathLst>
                <a:path extrusionOk="0" h="474" w="1262">
                  <a:moveTo>
                    <a:pt x="0" y="0"/>
                  </a:moveTo>
                  <a:lnTo>
                    <a:pt x="0" y="473"/>
                  </a:lnTo>
                  <a:lnTo>
                    <a:pt x="1262" y="473"/>
                  </a:lnTo>
                  <a:lnTo>
                    <a:pt x="126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21"/>
            <p:cNvSpPr/>
            <p:nvPr/>
          </p:nvSpPr>
          <p:spPr>
            <a:xfrm>
              <a:off x="6157176" y="3524369"/>
              <a:ext cx="78734" cy="34386"/>
            </a:xfrm>
            <a:custGeom>
              <a:rect b="b" l="l" r="r" t="t"/>
              <a:pathLst>
                <a:path extrusionOk="0" h="604" w="1383">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1"/>
            <p:cNvSpPr/>
            <p:nvPr/>
          </p:nvSpPr>
          <p:spPr>
            <a:xfrm>
              <a:off x="6176190" y="3382729"/>
              <a:ext cx="163731" cy="111184"/>
            </a:xfrm>
            <a:custGeom>
              <a:rect b="b" l="l" r="r" t="t"/>
              <a:pathLst>
                <a:path extrusionOk="0" h="1953" w="2876">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1"/>
            <p:cNvSpPr/>
            <p:nvPr/>
          </p:nvSpPr>
          <p:spPr>
            <a:xfrm>
              <a:off x="6297108" y="3363259"/>
              <a:ext cx="49188" cy="58182"/>
            </a:xfrm>
            <a:custGeom>
              <a:rect b="b" l="l" r="r" t="t"/>
              <a:pathLst>
                <a:path extrusionOk="0" h="1022" w="864">
                  <a:moveTo>
                    <a:pt x="863" y="1"/>
                  </a:moveTo>
                  <a:lnTo>
                    <a:pt x="1" y="576"/>
                  </a:lnTo>
                  <a:lnTo>
                    <a:pt x="437" y="659"/>
                  </a:lnTo>
                  <a:lnTo>
                    <a:pt x="678" y="1021"/>
                  </a:lnTo>
                  <a:lnTo>
                    <a:pt x="86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1"/>
            <p:cNvSpPr/>
            <p:nvPr/>
          </p:nvSpPr>
          <p:spPr>
            <a:xfrm>
              <a:off x="7410929" y="3726638"/>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21"/>
            <p:cNvSpPr/>
            <p:nvPr/>
          </p:nvSpPr>
          <p:spPr>
            <a:xfrm>
              <a:off x="5696618" y="4217195"/>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1pPr>
            <a:lvl2pPr lvl="1"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2pPr>
            <a:lvl3pPr lvl="2"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3pPr>
            <a:lvl4pPr lvl="3"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4pPr>
            <a:lvl5pPr lvl="4"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5pPr>
            <a:lvl6pPr lvl="5"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6pPr>
            <a:lvl7pPr lvl="6"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7pPr>
            <a:lvl8pPr lvl="7"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8pPr>
            <a:lvl9pPr lvl="8"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9pPr>
          </a:lstStyle>
          <a:p/>
        </p:txBody>
      </p:sp>
      <p:sp>
        <p:nvSpPr>
          <p:cNvPr id="7" name="Google Shape;7;p1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1pPr>
            <a:lvl2pPr indent="-304800" lvl="1" marL="9144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2pPr>
            <a:lvl3pPr indent="-304800" lvl="2" marL="13716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4pPr>
            <a:lvl5pPr indent="-304800" lvl="4" marL="22860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5pPr>
            <a:lvl6pPr indent="-304800" lvl="5" marL="27432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6pPr>
            <a:lvl7pPr indent="-304800" lvl="6" marL="32004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7pPr>
            <a:lvl8pPr indent="-304800" lvl="7" marL="36576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8pPr>
            <a:lvl9pPr indent="-304800" lvl="8" marL="4114800" marR="0" rtl="0" algn="l">
              <a:lnSpc>
                <a:spcPct val="100000"/>
              </a:lnSpc>
              <a:spcBef>
                <a:spcPts val="0"/>
              </a:spcBef>
              <a:spcAft>
                <a:spcPts val="0"/>
              </a:spcAft>
              <a:buClr>
                <a:schemeClr val="dk1"/>
              </a:buClr>
              <a:buSzPts val="1200"/>
              <a:buFont typeface="Open Sans"/>
              <a:buChar char="■"/>
              <a:defRPr b="0" i="0" sz="120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papers.ssrn.com/sol3/papers.cfm?abstract_id=5198854" TargetMode="External"/><Relationship Id="rId4" Type="http://schemas.openxmlformats.org/officeDocument/2006/relationships/hyperlink" Target="https://arxiv.org/abs/2408.0636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ieeexplore.ieee.org/abstract/document/10544055?casa_token=wXgREpNh2AgAAAAA:zO1KU9MXPRmQJmqdJOX7OTh3S3ZU5JRqins8xpC8ANSGbkdclY4XjkyEA74sRYQCcXUlDrhiCuM" TargetMode="External"/><Relationship Id="rId4" Type="http://schemas.openxmlformats.org/officeDocument/2006/relationships/hyperlink" Target="https://link.springer.com/article/10.1007/s41060-025-00854-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ieeexplore.ieee.org/abstract/document/10882194?casa_token=HLTxoLwKS6MAAAAA:KQiMHHJwmFy5ACD56AWbw5_WRB5-rdMtILUvszvTk3eX5ztkZceoS9yI8nFJuwp-Y_A8Q3FiTt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dl.acm.org/doi/abs/10.1145/3652037.3652076" TargetMode="External"/><Relationship Id="rId4" Type="http://schemas.openxmlformats.org/officeDocument/2006/relationships/hyperlink" Target="https://dl.acm.org/doi/abs/10.1145/3677052.369869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arxiv.org/abs/2407.18103" TargetMode="External"/><Relationship Id="rId4" Type="http://schemas.openxmlformats.org/officeDocument/2006/relationships/hyperlink" Target="https://proceedings.neurips.cc/paper_files/paper/2024/hash/6aef8bffb372096ee73d98da30119f89-Abstract-Conference.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papers.ssrn.com/sol3/papers.cfm?abstract_id=500685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onlinelibrary.wiley.com/doi/full/10.1111/1911-3846.12832" TargetMode="External"/><Relationship Id="rId4" Type="http://schemas.openxmlformats.org/officeDocument/2006/relationships/hyperlink" Target="https://arxiv.org/abs/2510.0363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dl.acm.org/doi/abs/10.1145/3677052.3698685" TargetMode="External"/><Relationship Id="rId4" Type="http://schemas.openxmlformats.org/officeDocument/2006/relationships/hyperlink" Target="https://www.sciencedirect.com/science/article/pii/S016517652500241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link.springer.com/article/10.1007/s10614-025-11024-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1"/>
          <p:cNvSpPr txBox="1"/>
          <p:nvPr>
            <p:ph type="ctrTitle"/>
          </p:nvPr>
        </p:nvSpPr>
        <p:spPr>
          <a:xfrm>
            <a:off x="713225" y="1252927"/>
            <a:ext cx="4370100" cy="215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US" sz="4800">
                <a:latin typeface="Times New Roman"/>
                <a:ea typeface="Times New Roman"/>
                <a:cs typeface="Times New Roman"/>
                <a:sym typeface="Times New Roman"/>
              </a:rPr>
              <a:t>MarketMind</a:t>
            </a:r>
            <a:r>
              <a:rPr b="0" lang="en-US" sz="4800">
                <a:latin typeface="Times New Roman"/>
                <a:ea typeface="Times New Roman"/>
                <a:cs typeface="Times New Roman"/>
                <a:sym typeface="Times New Roman"/>
              </a:rPr>
              <a:t>  </a:t>
            </a:r>
            <a:r>
              <a:rPr b="0" lang="en-US" sz="1900">
                <a:latin typeface="Times New Roman"/>
                <a:ea typeface="Times New Roman"/>
                <a:cs typeface="Times New Roman"/>
                <a:sym typeface="Times New Roman"/>
              </a:rPr>
              <a:t>Predicting Stock Highs and Lows with Large Language Models</a:t>
            </a:r>
            <a:endParaRPr b="0" sz="1200">
              <a:latin typeface="Times New Roman"/>
              <a:ea typeface="Times New Roman"/>
              <a:cs typeface="Times New Roman"/>
              <a:sym typeface="Times New Roman"/>
            </a:endParaRPr>
          </a:p>
        </p:txBody>
      </p:sp>
      <p:sp>
        <p:nvSpPr>
          <p:cNvPr id="569" name="Google Shape;569;p1"/>
          <p:cNvSpPr txBox="1"/>
          <p:nvPr>
            <p:ph idx="1" type="subTitle"/>
          </p:nvPr>
        </p:nvSpPr>
        <p:spPr>
          <a:xfrm>
            <a:off x="713225" y="3414773"/>
            <a:ext cx="4370100" cy="47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US">
                <a:latin typeface="Times New Roman"/>
                <a:ea typeface="Times New Roman"/>
                <a:cs typeface="Times New Roman"/>
                <a:sym typeface="Times New Roman"/>
              </a:rPr>
              <a:t>CS733 Project</a:t>
            </a:r>
            <a:endParaRPr>
              <a:latin typeface="Times New Roman"/>
              <a:ea typeface="Times New Roman"/>
              <a:cs typeface="Times New Roman"/>
              <a:sym typeface="Times New Roman"/>
            </a:endParaRPr>
          </a:p>
        </p:txBody>
      </p:sp>
      <p:grpSp>
        <p:nvGrpSpPr>
          <p:cNvPr id="570" name="Google Shape;570;p1"/>
          <p:cNvGrpSpPr/>
          <p:nvPr/>
        </p:nvGrpSpPr>
        <p:grpSpPr>
          <a:xfrm>
            <a:off x="5148240" y="1213448"/>
            <a:ext cx="3374951" cy="2676564"/>
            <a:chOff x="5148240" y="1213448"/>
            <a:chExt cx="3374951" cy="2676564"/>
          </a:xfrm>
        </p:grpSpPr>
        <p:grpSp>
          <p:nvGrpSpPr>
            <p:cNvPr id="571" name="Google Shape;571;p1"/>
            <p:cNvGrpSpPr/>
            <p:nvPr/>
          </p:nvGrpSpPr>
          <p:grpSpPr>
            <a:xfrm>
              <a:off x="8384122" y="2614871"/>
              <a:ext cx="139069" cy="139071"/>
              <a:chOff x="5448853" y="3419595"/>
              <a:chExt cx="78735" cy="78736"/>
            </a:xfrm>
          </p:grpSpPr>
          <p:sp>
            <p:nvSpPr>
              <p:cNvPr id="572" name="Google Shape;572;p1"/>
              <p:cNvSpPr/>
              <p:nvPr/>
            </p:nvSpPr>
            <p:spPr>
              <a:xfrm>
                <a:off x="5486333" y="3419595"/>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73" name="Google Shape;573;p1"/>
              <p:cNvSpPr/>
              <p:nvPr/>
            </p:nvSpPr>
            <p:spPr>
              <a:xfrm>
                <a:off x="5486333" y="3473511"/>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74" name="Google Shape;574;p1"/>
              <p:cNvSpPr/>
              <p:nvPr/>
            </p:nvSpPr>
            <p:spPr>
              <a:xfrm>
                <a:off x="5502768"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75" name="Google Shape;575;p1"/>
              <p:cNvSpPr/>
              <p:nvPr/>
            </p:nvSpPr>
            <p:spPr>
              <a:xfrm>
                <a:off x="5448853"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76" name="Google Shape;576;p1"/>
              <p:cNvSpPr/>
              <p:nvPr/>
            </p:nvSpPr>
            <p:spPr>
              <a:xfrm>
                <a:off x="5459676" y="3468466"/>
                <a:ext cx="19241" cy="19007"/>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77" name="Google Shape;577;p1"/>
              <p:cNvSpPr/>
              <p:nvPr/>
            </p:nvSpPr>
            <p:spPr>
              <a:xfrm>
                <a:off x="5497791" y="3430351"/>
                <a:ext cx="19241" cy="18707"/>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78" name="Google Shape;578;p1"/>
              <p:cNvSpPr/>
              <p:nvPr/>
            </p:nvSpPr>
            <p:spPr>
              <a:xfrm>
                <a:off x="5459676" y="3430351"/>
                <a:ext cx="19241" cy="18707"/>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79" name="Google Shape;579;p1"/>
              <p:cNvSpPr/>
              <p:nvPr/>
            </p:nvSpPr>
            <p:spPr>
              <a:xfrm>
                <a:off x="5497791" y="3468466"/>
                <a:ext cx="19241" cy="19007"/>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grpSp>
        <p:sp>
          <p:nvSpPr>
            <p:cNvPr id="580" name="Google Shape;580;p1"/>
            <p:cNvSpPr/>
            <p:nvPr/>
          </p:nvSpPr>
          <p:spPr>
            <a:xfrm>
              <a:off x="6756905" y="3331665"/>
              <a:ext cx="323574" cy="155533"/>
            </a:xfrm>
            <a:custGeom>
              <a:rect b="b" l="l" r="r" t="t"/>
              <a:pathLst>
                <a:path extrusionOk="0" h="2636" w="5484">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1" name="Google Shape;581;p1"/>
            <p:cNvSpPr/>
            <p:nvPr/>
          </p:nvSpPr>
          <p:spPr>
            <a:xfrm>
              <a:off x="6048099" y="1992822"/>
              <a:ext cx="6608" cy="77235"/>
            </a:xfrm>
            <a:custGeom>
              <a:rect b="b" l="l" r="r" t="t"/>
              <a:pathLst>
                <a:path extrusionOk="0" h="1309" w="112">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2" name="Google Shape;582;p1"/>
            <p:cNvSpPr/>
            <p:nvPr/>
          </p:nvSpPr>
          <p:spPr>
            <a:xfrm>
              <a:off x="6344236" y="1821005"/>
              <a:ext cx="327350" cy="131400"/>
            </a:xfrm>
            <a:custGeom>
              <a:rect b="b" l="l" r="r" t="t"/>
              <a:pathLst>
                <a:path extrusionOk="0" h="2227" w="5548">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3" name="Google Shape;583;p1"/>
            <p:cNvSpPr/>
            <p:nvPr/>
          </p:nvSpPr>
          <p:spPr>
            <a:xfrm>
              <a:off x="7379802" y="2174552"/>
              <a:ext cx="423171" cy="165917"/>
            </a:xfrm>
            <a:custGeom>
              <a:rect b="b" l="l" r="r" t="t"/>
              <a:pathLst>
                <a:path extrusionOk="0" h="2812" w="7172">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4" name="Google Shape;584;p1"/>
            <p:cNvSpPr/>
            <p:nvPr/>
          </p:nvSpPr>
          <p:spPr>
            <a:xfrm>
              <a:off x="7580708" y="2958941"/>
              <a:ext cx="85437" cy="160430"/>
            </a:xfrm>
            <a:custGeom>
              <a:rect b="b" l="l" r="r" t="t"/>
              <a:pathLst>
                <a:path extrusionOk="0" h="2719" w="1448">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5" name="Google Shape;585;p1"/>
            <p:cNvSpPr/>
            <p:nvPr/>
          </p:nvSpPr>
          <p:spPr>
            <a:xfrm>
              <a:off x="8240247" y="1261064"/>
              <a:ext cx="108448" cy="108389"/>
            </a:xfrm>
            <a:custGeom>
              <a:rect b="b" l="l" r="r" t="t"/>
              <a:pathLst>
                <a:path extrusionOk="0" h="1837" w="1838">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6" name="Google Shape;586;p1"/>
            <p:cNvSpPr/>
            <p:nvPr/>
          </p:nvSpPr>
          <p:spPr>
            <a:xfrm>
              <a:off x="6505138" y="1371577"/>
              <a:ext cx="121547" cy="121075"/>
            </a:xfrm>
            <a:custGeom>
              <a:rect b="b" l="l" r="r" t="t"/>
              <a:pathLst>
                <a:path extrusionOk="0" h="2052" w="206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7" name="Google Shape;587;p1"/>
            <p:cNvSpPr/>
            <p:nvPr/>
          </p:nvSpPr>
          <p:spPr>
            <a:xfrm>
              <a:off x="5489220" y="1480556"/>
              <a:ext cx="7198" cy="44370"/>
            </a:xfrm>
            <a:custGeom>
              <a:rect b="b" l="l" r="r" t="t"/>
              <a:pathLst>
                <a:path extrusionOk="0" h="752" w="122">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8" name="Google Shape;588;p1"/>
            <p:cNvSpPr/>
            <p:nvPr/>
          </p:nvSpPr>
          <p:spPr>
            <a:xfrm>
              <a:off x="5489220" y="1575787"/>
              <a:ext cx="7198" cy="44370"/>
            </a:xfrm>
            <a:custGeom>
              <a:rect b="b" l="l" r="r" t="t"/>
              <a:pathLst>
                <a:path extrusionOk="0" h="752" w="122">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89" name="Google Shape;589;p1"/>
            <p:cNvSpPr/>
            <p:nvPr/>
          </p:nvSpPr>
          <p:spPr>
            <a:xfrm>
              <a:off x="5518250" y="1546757"/>
              <a:ext cx="44370" cy="7198"/>
            </a:xfrm>
            <a:custGeom>
              <a:rect b="b" l="l" r="r" t="t"/>
              <a:pathLst>
                <a:path extrusionOk="0" h="122" w="752">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0" name="Google Shape;590;p1"/>
            <p:cNvSpPr/>
            <p:nvPr/>
          </p:nvSpPr>
          <p:spPr>
            <a:xfrm>
              <a:off x="5423018" y="1546757"/>
              <a:ext cx="44370" cy="7198"/>
            </a:xfrm>
            <a:custGeom>
              <a:rect b="b" l="l" r="r" t="t"/>
              <a:pathLst>
                <a:path extrusionOk="0" h="122" w="752">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1" name="Google Shape;591;p1"/>
            <p:cNvSpPr/>
            <p:nvPr/>
          </p:nvSpPr>
          <p:spPr>
            <a:xfrm>
              <a:off x="5446030" y="1570831"/>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2" name="Google Shape;592;p1"/>
            <p:cNvSpPr/>
            <p:nvPr/>
          </p:nvSpPr>
          <p:spPr>
            <a:xfrm>
              <a:off x="5442194" y="1567291"/>
              <a:ext cx="33986" cy="33160"/>
            </a:xfrm>
            <a:custGeom>
              <a:rect b="b" l="l" r="r" t="t"/>
              <a:pathLst>
                <a:path extrusionOk="0" h="562" w="576">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3" name="Google Shape;593;p1"/>
            <p:cNvSpPr/>
            <p:nvPr/>
          </p:nvSpPr>
          <p:spPr>
            <a:xfrm>
              <a:off x="5513352" y="1503508"/>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4" name="Google Shape;594;p1"/>
            <p:cNvSpPr/>
            <p:nvPr/>
          </p:nvSpPr>
          <p:spPr>
            <a:xfrm>
              <a:off x="5509517" y="1499968"/>
              <a:ext cx="33986" cy="33160"/>
            </a:xfrm>
            <a:custGeom>
              <a:rect b="b" l="l" r="r" t="t"/>
              <a:pathLst>
                <a:path extrusionOk="0" h="562" w="576">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5" name="Google Shape;595;p1"/>
            <p:cNvSpPr/>
            <p:nvPr/>
          </p:nvSpPr>
          <p:spPr>
            <a:xfrm>
              <a:off x="5446030" y="1503508"/>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6" name="Google Shape;596;p1"/>
            <p:cNvSpPr/>
            <p:nvPr/>
          </p:nvSpPr>
          <p:spPr>
            <a:xfrm>
              <a:off x="5442194" y="1499968"/>
              <a:ext cx="33986" cy="33160"/>
            </a:xfrm>
            <a:custGeom>
              <a:rect b="b" l="l" r="r" t="t"/>
              <a:pathLst>
                <a:path extrusionOk="0" h="562" w="576">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7" name="Google Shape;597;p1"/>
            <p:cNvSpPr/>
            <p:nvPr/>
          </p:nvSpPr>
          <p:spPr>
            <a:xfrm>
              <a:off x="5513352" y="1570831"/>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8" name="Google Shape;598;p1"/>
            <p:cNvSpPr/>
            <p:nvPr/>
          </p:nvSpPr>
          <p:spPr>
            <a:xfrm>
              <a:off x="5509517" y="1567291"/>
              <a:ext cx="33986" cy="33160"/>
            </a:xfrm>
            <a:custGeom>
              <a:rect b="b" l="l" r="r" t="t"/>
              <a:pathLst>
                <a:path extrusionOk="0" h="562" w="576">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99" name="Google Shape;599;p1"/>
            <p:cNvSpPr/>
            <p:nvPr/>
          </p:nvSpPr>
          <p:spPr>
            <a:xfrm>
              <a:off x="8380379" y="2008694"/>
              <a:ext cx="26315" cy="25784"/>
            </a:xfrm>
            <a:custGeom>
              <a:rect b="b" l="l" r="r" t="t"/>
              <a:pathLst>
                <a:path extrusionOk="0" h="437" w="446">
                  <a:moveTo>
                    <a:pt x="0" y="437"/>
                  </a:moveTo>
                  <a:lnTo>
                    <a:pt x="446" y="1"/>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0" name="Google Shape;600;p1"/>
            <p:cNvSpPr/>
            <p:nvPr/>
          </p:nvSpPr>
          <p:spPr>
            <a:xfrm>
              <a:off x="8380379" y="1940840"/>
              <a:ext cx="26315" cy="26315"/>
            </a:xfrm>
            <a:custGeom>
              <a:rect b="b" l="l" r="r" t="t"/>
              <a:pathLst>
                <a:path extrusionOk="0" h="446" w="446">
                  <a:moveTo>
                    <a:pt x="0" y="1"/>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1" name="Google Shape;601;p1"/>
            <p:cNvSpPr/>
            <p:nvPr/>
          </p:nvSpPr>
          <p:spPr>
            <a:xfrm>
              <a:off x="7173999" y="2893271"/>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2" name="Google Shape;602;p1"/>
            <p:cNvSpPr/>
            <p:nvPr/>
          </p:nvSpPr>
          <p:spPr>
            <a:xfrm>
              <a:off x="7173999" y="2988502"/>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3" name="Google Shape;603;p1"/>
            <p:cNvSpPr/>
            <p:nvPr/>
          </p:nvSpPr>
          <p:spPr>
            <a:xfrm>
              <a:off x="7203028"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4" name="Google Shape;604;p1"/>
            <p:cNvSpPr/>
            <p:nvPr/>
          </p:nvSpPr>
          <p:spPr>
            <a:xfrm>
              <a:off x="7107797"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5" name="Google Shape;605;p1"/>
            <p:cNvSpPr/>
            <p:nvPr/>
          </p:nvSpPr>
          <p:spPr>
            <a:xfrm>
              <a:off x="7130750" y="2983015"/>
              <a:ext cx="25784" cy="26315"/>
            </a:xfrm>
            <a:custGeom>
              <a:rect b="b" l="l" r="r" t="t"/>
              <a:pathLst>
                <a:path extrusionOk="0" h="446" w="437">
                  <a:moveTo>
                    <a:pt x="1" y="446"/>
                  </a:moveTo>
                  <a:lnTo>
                    <a:pt x="437" y="0"/>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6" name="Google Shape;606;p1"/>
            <p:cNvSpPr/>
            <p:nvPr/>
          </p:nvSpPr>
          <p:spPr>
            <a:xfrm>
              <a:off x="7126914" y="2979592"/>
              <a:ext cx="33986" cy="33573"/>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7" name="Google Shape;607;p1"/>
            <p:cNvSpPr/>
            <p:nvPr/>
          </p:nvSpPr>
          <p:spPr>
            <a:xfrm>
              <a:off x="7198072" y="2915692"/>
              <a:ext cx="26374" cy="26315"/>
            </a:xfrm>
            <a:custGeom>
              <a:rect b="b" l="l" r="r" t="t"/>
              <a:pathLst>
                <a:path extrusionOk="0" h="446" w="447">
                  <a:moveTo>
                    <a:pt x="1" y="446"/>
                  </a:moveTo>
                  <a:lnTo>
                    <a:pt x="446" y="0"/>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8" name="Google Shape;608;p1"/>
            <p:cNvSpPr/>
            <p:nvPr/>
          </p:nvSpPr>
          <p:spPr>
            <a:xfrm>
              <a:off x="7194237" y="2912270"/>
              <a:ext cx="33986" cy="33042"/>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09" name="Google Shape;609;p1"/>
            <p:cNvSpPr/>
            <p:nvPr/>
          </p:nvSpPr>
          <p:spPr>
            <a:xfrm>
              <a:off x="7130750" y="2915692"/>
              <a:ext cx="25784" cy="26315"/>
            </a:xfrm>
            <a:custGeom>
              <a:rect b="b" l="l" r="r" t="t"/>
              <a:pathLst>
                <a:path extrusionOk="0" h="446" w="437">
                  <a:moveTo>
                    <a:pt x="1" y="0"/>
                  </a:moveTo>
                  <a:lnTo>
                    <a:pt x="437" y="446"/>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0" name="Google Shape;610;p1"/>
            <p:cNvSpPr/>
            <p:nvPr/>
          </p:nvSpPr>
          <p:spPr>
            <a:xfrm>
              <a:off x="7126914" y="2912270"/>
              <a:ext cx="33986" cy="33042"/>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1" name="Google Shape;611;p1"/>
            <p:cNvSpPr/>
            <p:nvPr/>
          </p:nvSpPr>
          <p:spPr>
            <a:xfrm>
              <a:off x="7198072" y="2983015"/>
              <a:ext cx="26374" cy="26315"/>
            </a:xfrm>
            <a:custGeom>
              <a:rect b="b" l="l" r="r" t="t"/>
              <a:pathLst>
                <a:path extrusionOk="0" h="446" w="447">
                  <a:moveTo>
                    <a:pt x="1" y="0"/>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2" name="Google Shape;612;p1"/>
            <p:cNvSpPr/>
            <p:nvPr/>
          </p:nvSpPr>
          <p:spPr>
            <a:xfrm>
              <a:off x="7194237" y="2979592"/>
              <a:ext cx="33986" cy="33573"/>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3" name="Google Shape;613;p1"/>
            <p:cNvSpPr/>
            <p:nvPr/>
          </p:nvSpPr>
          <p:spPr>
            <a:xfrm>
              <a:off x="6401705" y="1879536"/>
              <a:ext cx="52572" cy="52041"/>
            </a:xfrm>
            <a:custGeom>
              <a:rect b="b" l="l" r="r" t="t"/>
              <a:pathLst>
                <a:path extrusionOk="0" h="882" w="891">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4" name="Google Shape;614;p1"/>
            <p:cNvSpPr/>
            <p:nvPr/>
          </p:nvSpPr>
          <p:spPr>
            <a:xfrm>
              <a:off x="8286210" y="1697806"/>
              <a:ext cx="47144" cy="47675"/>
            </a:xfrm>
            <a:custGeom>
              <a:rect b="b" l="l" r="r" t="t"/>
              <a:pathLst>
                <a:path extrusionOk="0" h="808" w="799">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5" name="Google Shape;615;p1"/>
            <p:cNvSpPr/>
            <p:nvPr/>
          </p:nvSpPr>
          <p:spPr>
            <a:xfrm>
              <a:off x="8222723" y="3615765"/>
              <a:ext cx="33455" cy="33455"/>
            </a:xfrm>
            <a:custGeom>
              <a:rect b="b" l="l" r="r" t="t"/>
              <a:pathLst>
                <a:path extrusionOk="0" h="567" w="567">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6" name="Google Shape;616;p1"/>
            <p:cNvSpPr/>
            <p:nvPr/>
          </p:nvSpPr>
          <p:spPr>
            <a:xfrm>
              <a:off x="5649591" y="1243540"/>
              <a:ext cx="33455" cy="32865"/>
            </a:xfrm>
            <a:custGeom>
              <a:rect b="b" l="l" r="r" t="t"/>
              <a:pathLst>
                <a:path extrusionOk="0" h="557" w="567">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7" name="Google Shape;617;p1"/>
            <p:cNvSpPr/>
            <p:nvPr/>
          </p:nvSpPr>
          <p:spPr>
            <a:xfrm>
              <a:off x="6843404" y="1371577"/>
              <a:ext cx="517872" cy="515688"/>
            </a:xfrm>
            <a:custGeom>
              <a:rect b="b" l="l" r="r" t="t"/>
              <a:pathLst>
                <a:path extrusionOk="0" h="8740" w="8777">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8" name="Google Shape;618;p1"/>
            <p:cNvSpPr/>
            <p:nvPr/>
          </p:nvSpPr>
          <p:spPr>
            <a:xfrm>
              <a:off x="7731226" y="2764939"/>
              <a:ext cx="652517" cy="651101"/>
            </a:xfrm>
            <a:custGeom>
              <a:rect b="b" l="l" r="r" t="t"/>
              <a:pathLst>
                <a:path extrusionOk="0" h="11035" w="11059">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19" name="Google Shape;619;p1"/>
            <p:cNvSpPr/>
            <p:nvPr/>
          </p:nvSpPr>
          <p:spPr>
            <a:xfrm>
              <a:off x="5349677" y="3784338"/>
              <a:ext cx="1411122" cy="6608"/>
            </a:xfrm>
            <a:custGeom>
              <a:rect b="b" l="l" r="r" t="t"/>
              <a:pathLst>
                <a:path extrusionOk="0" h="112" w="23916">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0" name="Google Shape;620;p1"/>
            <p:cNvSpPr/>
            <p:nvPr/>
          </p:nvSpPr>
          <p:spPr>
            <a:xfrm>
              <a:off x="5615133" y="3875734"/>
              <a:ext cx="879679" cy="6608"/>
            </a:xfrm>
            <a:custGeom>
              <a:rect b="b" l="l" r="r" t="t"/>
              <a:pathLst>
                <a:path extrusionOk="0" h="112" w="14909">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1" name="Google Shape;621;p1"/>
            <p:cNvSpPr/>
            <p:nvPr/>
          </p:nvSpPr>
          <p:spPr>
            <a:xfrm>
              <a:off x="7107207" y="3142854"/>
              <a:ext cx="958508" cy="662902"/>
            </a:xfrm>
            <a:custGeom>
              <a:rect b="b" l="l" r="r" t="t"/>
              <a:pathLst>
                <a:path extrusionOk="0" h="11235" w="16245">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2" name="Google Shape;622;p1"/>
            <p:cNvSpPr/>
            <p:nvPr/>
          </p:nvSpPr>
          <p:spPr>
            <a:xfrm>
              <a:off x="7103372" y="3139550"/>
              <a:ext cx="966178" cy="669451"/>
            </a:xfrm>
            <a:custGeom>
              <a:rect b="b" l="l" r="r" t="t"/>
              <a:pathLst>
                <a:path extrusionOk="0" h="11346" w="16375">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3" name="Google Shape;623;p1"/>
            <p:cNvSpPr/>
            <p:nvPr/>
          </p:nvSpPr>
          <p:spPr>
            <a:xfrm>
              <a:off x="7177303" y="3206342"/>
              <a:ext cx="818316" cy="535927"/>
            </a:xfrm>
            <a:custGeom>
              <a:rect b="b" l="l" r="r" t="t"/>
              <a:pathLst>
                <a:path extrusionOk="0" h="9083" w="13869">
                  <a:moveTo>
                    <a:pt x="0" y="0"/>
                  </a:moveTo>
                  <a:lnTo>
                    <a:pt x="0" y="1856"/>
                  </a:lnTo>
                  <a:lnTo>
                    <a:pt x="0" y="7375"/>
                  </a:lnTo>
                  <a:lnTo>
                    <a:pt x="0" y="9082"/>
                  </a:lnTo>
                  <a:lnTo>
                    <a:pt x="13869" y="9082"/>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4" name="Google Shape;624;p1"/>
            <p:cNvSpPr/>
            <p:nvPr/>
          </p:nvSpPr>
          <p:spPr>
            <a:xfrm>
              <a:off x="7173468" y="3203038"/>
              <a:ext cx="825455" cy="542476"/>
            </a:xfrm>
            <a:custGeom>
              <a:rect b="b" l="l" r="r" t="t"/>
              <a:pathLst>
                <a:path extrusionOk="0" h="9194" w="1399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5" name="Google Shape;625;p1"/>
            <p:cNvSpPr/>
            <p:nvPr/>
          </p:nvSpPr>
          <p:spPr>
            <a:xfrm>
              <a:off x="7173468" y="3369427"/>
              <a:ext cx="7139" cy="180727"/>
            </a:xfrm>
            <a:custGeom>
              <a:rect b="b" l="l" r="r" t="t"/>
              <a:pathLst>
                <a:path extrusionOk="0" h="3063" w="121">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6" name="Google Shape;626;p1"/>
            <p:cNvSpPr/>
            <p:nvPr/>
          </p:nvSpPr>
          <p:spPr>
            <a:xfrm>
              <a:off x="7575752" y="3164745"/>
              <a:ext cx="21418" cy="21418"/>
            </a:xfrm>
            <a:custGeom>
              <a:rect b="b" l="l" r="r" t="t"/>
              <a:pathLst>
                <a:path extrusionOk="0" h="363" w="363">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7" name="Google Shape;627;p1"/>
            <p:cNvSpPr/>
            <p:nvPr/>
          </p:nvSpPr>
          <p:spPr>
            <a:xfrm>
              <a:off x="6950141" y="3800741"/>
              <a:ext cx="1272641" cy="86027"/>
            </a:xfrm>
            <a:custGeom>
              <a:rect b="b" l="l" r="r" t="t"/>
              <a:pathLst>
                <a:path extrusionOk="0" h="1458" w="21569">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8" name="Google Shape;628;p1"/>
            <p:cNvSpPr/>
            <p:nvPr/>
          </p:nvSpPr>
          <p:spPr>
            <a:xfrm>
              <a:off x="6946836" y="3797495"/>
              <a:ext cx="1279249" cy="92517"/>
            </a:xfrm>
            <a:custGeom>
              <a:rect b="b" l="l" r="r" t="t"/>
              <a:pathLst>
                <a:path extrusionOk="0" h="1568" w="21681">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29" name="Google Shape;629;p1"/>
            <p:cNvSpPr/>
            <p:nvPr/>
          </p:nvSpPr>
          <p:spPr>
            <a:xfrm>
              <a:off x="6958873" y="3863166"/>
              <a:ext cx="1255176" cy="6608"/>
            </a:xfrm>
            <a:custGeom>
              <a:rect b="b" l="l" r="r" t="t"/>
              <a:pathLst>
                <a:path extrusionOk="0" h="112" w="21273">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0" name="Google Shape;630;p1"/>
            <p:cNvSpPr/>
            <p:nvPr/>
          </p:nvSpPr>
          <p:spPr>
            <a:xfrm>
              <a:off x="7464649" y="3806228"/>
              <a:ext cx="243093" cy="26905"/>
            </a:xfrm>
            <a:custGeom>
              <a:rect b="b" l="l" r="r" t="t"/>
              <a:pathLst>
                <a:path extrusionOk="0" h="456" w="4120">
                  <a:moveTo>
                    <a:pt x="1" y="0"/>
                  </a:moveTo>
                  <a:lnTo>
                    <a:pt x="1" y="455"/>
                  </a:lnTo>
                  <a:lnTo>
                    <a:pt x="4119" y="455"/>
                  </a:lnTo>
                  <a:lnTo>
                    <a:pt x="411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1" name="Google Shape;631;p1"/>
            <p:cNvSpPr/>
            <p:nvPr/>
          </p:nvSpPr>
          <p:spPr>
            <a:xfrm>
              <a:off x="7461345" y="3802393"/>
              <a:ext cx="250233" cy="33986"/>
            </a:xfrm>
            <a:custGeom>
              <a:rect b="b" l="l" r="r" t="t"/>
              <a:pathLst>
                <a:path extrusionOk="0" h="576" w="4241">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2" name="Google Shape;632;p1"/>
            <p:cNvSpPr/>
            <p:nvPr/>
          </p:nvSpPr>
          <p:spPr>
            <a:xfrm>
              <a:off x="7340388" y="3308122"/>
              <a:ext cx="439043" cy="375025"/>
            </a:xfrm>
            <a:custGeom>
              <a:rect b="b" l="l" r="r" t="t"/>
              <a:pathLst>
                <a:path extrusionOk="0" h="6356" w="7441">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3" name="Google Shape;633;p1"/>
            <p:cNvSpPr/>
            <p:nvPr/>
          </p:nvSpPr>
          <p:spPr>
            <a:xfrm>
              <a:off x="7369418" y="3278562"/>
              <a:ext cx="439043" cy="375025"/>
            </a:xfrm>
            <a:custGeom>
              <a:rect b="b" l="l" r="r" t="t"/>
              <a:pathLst>
                <a:path extrusionOk="0" h="6356" w="7441">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4" name="Google Shape;634;p1"/>
            <p:cNvSpPr/>
            <p:nvPr/>
          </p:nvSpPr>
          <p:spPr>
            <a:xfrm>
              <a:off x="7366113" y="3274727"/>
              <a:ext cx="445593" cy="382695"/>
            </a:xfrm>
            <a:custGeom>
              <a:rect b="b" l="l" r="r" t="t"/>
              <a:pathLst>
                <a:path extrusionOk="0" h="6486" w="7552">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5" name="Google Shape;635;p1"/>
            <p:cNvSpPr/>
            <p:nvPr/>
          </p:nvSpPr>
          <p:spPr>
            <a:xfrm>
              <a:off x="7437271" y="3476164"/>
              <a:ext cx="302746" cy="40594"/>
            </a:xfrm>
            <a:custGeom>
              <a:rect b="b" l="l" r="r" t="t"/>
              <a:pathLst>
                <a:path extrusionOk="0" h="688" w="5131">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6" name="Google Shape;636;p1"/>
            <p:cNvSpPr/>
            <p:nvPr/>
          </p:nvSpPr>
          <p:spPr>
            <a:xfrm>
              <a:off x="7433436" y="3472919"/>
              <a:ext cx="309885" cy="47085"/>
            </a:xfrm>
            <a:custGeom>
              <a:rect b="b" l="l" r="r" t="t"/>
              <a:pathLst>
                <a:path extrusionOk="0" h="798" w="5252">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7" name="Google Shape;637;p1"/>
            <p:cNvSpPr/>
            <p:nvPr/>
          </p:nvSpPr>
          <p:spPr>
            <a:xfrm>
              <a:off x="7470136" y="3487138"/>
              <a:ext cx="234833" cy="16993"/>
            </a:xfrm>
            <a:custGeom>
              <a:rect b="b" l="l" r="r" t="t"/>
              <a:pathLst>
                <a:path extrusionOk="0" h="288" w="398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8" name="Google Shape;638;p1"/>
            <p:cNvSpPr/>
            <p:nvPr/>
          </p:nvSpPr>
          <p:spPr>
            <a:xfrm>
              <a:off x="7489253" y="3539120"/>
              <a:ext cx="198251" cy="23601"/>
            </a:xfrm>
            <a:custGeom>
              <a:rect b="b" l="l" r="r" t="t"/>
              <a:pathLst>
                <a:path extrusionOk="0" h="400" w="336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39" name="Google Shape;639;p1"/>
            <p:cNvSpPr/>
            <p:nvPr/>
          </p:nvSpPr>
          <p:spPr>
            <a:xfrm>
              <a:off x="7486008" y="3535816"/>
              <a:ext cx="204741" cy="30741"/>
            </a:xfrm>
            <a:custGeom>
              <a:rect b="b" l="l" r="r" t="t"/>
              <a:pathLst>
                <a:path extrusionOk="0" h="521" w="347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0" name="Google Shape;640;p1"/>
            <p:cNvSpPr/>
            <p:nvPr/>
          </p:nvSpPr>
          <p:spPr>
            <a:xfrm>
              <a:off x="7529257" y="3545139"/>
              <a:ext cx="11506" cy="11565"/>
            </a:xfrm>
            <a:custGeom>
              <a:rect b="b" l="l" r="r" t="t"/>
              <a:pathLst>
                <a:path extrusionOk="0" h="196" w="195">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1" name="Google Shape;641;p1"/>
            <p:cNvSpPr/>
            <p:nvPr/>
          </p:nvSpPr>
          <p:spPr>
            <a:xfrm>
              <a:off x="7551148" y="3545139"/>
              <a:ext cx="11565" cy="11565"/>
            </a:xfrm>
            <a:custGeom>
              <a:rect b="b" l="l" r="r" t="t"/>
              <a:pathLst>
                <a:path extrusionOk="0" h="196" w="196">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2" name="Google Shape;642;p1"/>
            <p:cNvSpPr/>
            <p:nvPr/>
          </p:nvSpPr>
          <p:spPr>
            <a:xfrm>
              <a:off x="757191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3" name="Google Shape;643;p1"/>
            <p:cNvSpPr/>
            <p:nvPr/>
          </p:nvSpPr>
          <p:spPr>
            <a:xfrm>
              <a:off x="759380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4" name="Google Shape;644;p1"/>
            <p:cNvSpPr/>
            <p:nvPr/>
          </p:nvSpPr>
          <p:spPr>
            <a:xfrm>
              <a:off x="7614635" y="3545139"/>
              <a:ext cx="11565" cy="11565"/>
            </a:xfrm>
            <a:custGeom>
              <a:rect b="b" l="l" r="r" t="t"/>
              <a:pathLst>
                <a:path extrusionOk="0" h="196" w="196">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5" name="Google Shape;645;p1"/>
            <p:cNvSpPr/>
            <p:nvPr/>
          </p:nvSpPr>
          <p:spPr>
            <a:xfrm>
              <a:off x="7636525" y="3545139"/>
              <a:ext cx="11565" cy="11565"/>
            </a:xfrm>
            <a:custGeom>
              <a:rect b="b" l="l" r="r" t="t"/>
              <a:pathLst>
                <a:path extrusionOk="0" h="196" w="196">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6" name="Google Shape;646;p1"/>
            <p:cNvSpPr/>
            <p:nvPr/>
          </p:nvSpPr>
          <p:spPr>
            <a:xfrm>
              <a:off x="7524832" y="3322342"/>
              <a:ext cx="127093" cy="127093"/>
            </a:xfrm>
            <a:custGeom>
              <a:rect b="b" l="l" r="r" t="t"/>
              <a:pathLst>
                <a:path extrusionOk="0" h="2154" w="2154">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7" name="Google Shape;647;p1"/>
            <p:cNvSpPr/>
            <p:nvPr/>
          </p:nvSpPr>
          <p:spPr>
            <a:xfrm>
              <a:off x="7521587" y="3319097"/>
              <a:ext cx="133583" cy="133583"/>
            </a:xfrm>
            <a:custGeom>
              <a:rect b="b" l="l" r="r" t="t"/>
              <a:pathLst>
                <a:path extrusionOk="0" h="2264" w="2264">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8" name="Google Shape;648;p1"/>
            <p:cNvSpPr/>
            <p:nvPr/>
          </p:nvSpPr>
          <p:spPr>
            <a:xfrm>
              <a:off x="7560411" y="3389665"/>
              <a:ext cx="56466" cy="28558"/>
            </a:xfrm>
            <a:custGeom>
              <a:rect b="b" l="l" r="r" t="t"/>
              <a:pathLst>
                <a:path extrusionOk="0" h="484" w="957">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49" name="Google Shape;649;p1"/>
            <p:cNvSpPr/>
            <p:nvPr/>
          </p:nvSpPr>
          <p:spPr>
            <a:xfrm>
              <a:off x="7556576" y="3386420"/>
              <a:ext cx="63606" cy="35107"/>
            </a:xfrm>
            <a:custGeom>
              <a:rect b="b" l="l" r="r" t="t"/>
              <a:pathLst>
                <a:path extrusionOk="0" h="595" w="1078">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0" name="Google Shape;650;p1"/>
            <p:cNvSpPr/>
            <p:nvPr/>
          </p:nvSpPr>
          <p:spPr>
            <a:xfrm>
              <a:off x="7572507" y="3353555"/>
              <a:ext cx="32334" cy="32393"/>
            </a:xfrm>
            <a:custGeom>
              <a:rect b="b" l="l" r="r" t="t"/>
              <a:pathLst>
                <a:path extrusionOk="0" h="549" w="548">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1" name="Google Shape;651;p1"/>
            <p:cNvSpPr/>
            <p:nvPr/>
          </p:nvSpPr>
          <p:spPr>
            <a:xfrm>
              <a:off x="7569203" y="3350310"/>
              <a:ext cx="38883" cy="38883"/>
            </a:xfrm>
            <a:custGeom>
              <a:rect b="b" l="l" r="r" t="t"/>
              <a:pathLst>
                <a:path extrusionOk="0" h="659" w="659">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2" name="Google Shape;652;p1"/>
            <p:cNvSpPr/>
            <p:nvPr/>
          </p:nvSpPr>
          <p:spPr>
            <a:xfrm>
              <a:off x="7541825" y="3581839"/>
              <a:ext cx="93638" cy="29030"/>
            </a:xfrm>
            <a:custGeom>
              <a:rect b="b" l="l" r="r" t="t"/>
              <a:pathLst>
                <a:path extrusionOk="0" h="492" w="1587">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3" name="Google Shape;653;p1"/>
            <p:cNvSpPr/>
            <p:nvPr/>
          </p:nvSpPr>
          <p:spPr>
            <a:xfrm>
              <a:off x="7537990" y="3578534"/>
              <a:ext cx="100778" cy="35638"/>
            </a:xfrm>
            <a:custGeom>
              <a:rect b="b" l="l" r="r" t="t"/>
              <a:pathLst>
                <a:path extrusionOk="0" h="604" w="1708">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4" name="Google Shape;654;p1"/>
            <p:cNvSpPr/>
            <p:nvPr/>
          </p:nvSpPr>
          <p:spPr>
            <a:xfrm>
              <a:off x="7134585" y="1285137"/>
              <a:ext cx="959039" cy="662902"/>
            </a:xfrm>
            <a:custGeom>
              <a:rect b="b" l="l" r="r" t="t"/>
              <a:pathLst>
                <a:path extrusionOk="0" h="11235" w="16254">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5" name="Google Shape;655;p1"/>
            <p:cNvSpPr/>
            <p:nvPr/>
          </p:nvSpPr>
          <p:spPr>
            <a:xfrm>
              <a:off x="7131340" y="1281833"/>
              <a:ext cx="965588" cy="670041"/>
            </a:xfrm>
            <a:custGeom>
              <a:rect b="b" l="l" r="r" t="t"/>
              <a:pathLst>
                <a:path extrusionOk="0" h="11356" w="16365">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6" name="Google Shape;656;p1"/>
            <p:cNvSpPr/>
            <p:nvPr/>
          </p:nvSpPr>
          <p:spPr>
            <a:xfrm>
              <a:off x="7204681" y="1349156"/>
              <a:ext cx="818847" cy="535396"/>
            </a:xfrm>
            <a:custGeom>
              <a:rect b="b" l="l" r="r" t="t"/>
              <a:pathLst>
                <a:path extrusionOk="0" h="9074" w="13878">
                  <a:moveTo>
                    <a:pt x="0" y="1"/>
                  </a:moveTo>
                  <a:lnTo>
                    <a:pt x="0" y="1847"/>
                  </a:lnTo>
                  <a:lnTo>
                    <a:pt x="0" y="7376"/>
                  </a:lnTo>
                  <a:lnTo>
                    <a:pt x="0" y="9073"/>
                  </a:lnTo>
                  <a:lnTo>
                    <a:pt x="13878" y="9073"/>
                  </a:lnTo>
                  <a:lnTo>
                    <a:pt x="1387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7" name="Google Shape;657;p1"/>
            <p:cNvSpPr/>
            <p:nvPr/>
          </p:nvSpPr>
          <p:spPr>
            <a:xfrm>
              <a:off x="7201376" y="1345320"/>
              <a:ext cx="825455" cy="542476"/>
            </a:xfrm>
            <a:custGeom>
              <a:rect b="b" l="l" r="r" t="t"/>
              <a:pathLst>
                <a:path extrusionOk="0" h="9194" w="1399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8" name="Google Shape;658;p1"/>
            <p:cNvSpPr/>
            <p:nvPr/>
          </p:nvSpPr>
          <p:spPr>
            <a:xfrm>
              <a:off x="7201376" y="1512300"/>
              <a:ext cx="6608" cy="180668"/>
            </a:xfrm>
            <a:custGeom>
              <a:rect b="b" l="l" r="r" t="t"/>
              <a:pathLst>
                <a:path extrusionOk="0" h="3062" w="112">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59" name="Google Shape;659;p1"/>
            <p:cNvSpPr/>
            <p:nvPr/>
          </p:nvSpPr>
          <p:spPr>
            <a:xfrm>
              <a:off x="7603130" y="1307027"/>
              <a:ext cx="21949" cy="21418"/>
            </a:xfrm>
            <a:custGeom>
              <a:rect b="b" l="l" r="r" t="t"/>
              <a:pathLst>
                <a:path extrusionOk="0" h="363" w="372">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0" name="Google Shape;660;p1"/>
            <p:cNvSpPr/>
            <p:nvPr/>
          </p:nvSpPr>
          <p:spPr>
            <a:xfrm>
              <a:off x="6977518" y="1943023"/>
              <a:ext cx="1272641" cy="86027"/>
            </a:xfrm>
            <a:custGeom>
              <a:rect b="b" l="l" r="r" t="t"/>
              <a:pathLst>
                <a:path extrusionOk="0" h="1458" w="21569">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1" name="Google Shape;661;p1"/>
            <p:cNvSpPr/>
            <p:nvPr/>
          </p:nvSpPr>
          <p:spPr>
            <a:xfrm>
              <a:off x="6974214" y="1939778"/>
              <a:ext cx="1279781" cy="92517"/>
            </a:xfrm>
            <a:custGeom>
              <a:rect b="b" l="l" r="r" t="t"/>
              <a:pathLst>
                <a:path extrusionOk="0" h="1568" w="2169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2" name="Google Shape;662;p1"/>
            <p:cNvSpPr/>
            <p:nvPr/>
          </p:nvSpPr>
          <p:spPr>
            <a:xfrm>
              <a:off x="6986251" y="2005449"/>
              <a:ext cx="1255176" cy="6608"/>
            </a:xfrm>
            <a:custGeom>
              <a:rect b="b" l="l" r="r" t="t"/>
              <a:pathLst>
                <a:path extrusionOk="0" h="112" w="21273">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3" name="Google Shape;663;p1"/>
            <p:cNvSpPr/>
            <p:nvPr/>
          </p:nvSpPr>
          <p:spPr>
            <a:xfrm>
              <a:off x="7492557" y="1948511"/>
              <a:ext cx="243093" cy="26905"/>
            </a:xfrm>
            <a:custGeom>
              <a:rect b="b" l="l" r="r" t="t"/>
              <a:pathLst>
                <a:path extrusionOk="0" h="456" w="4120">
                  <a:moveTo>
                    <a:pt x="1" y="1"/>
                  </a:moveTo>
                  <a:lnTo>
                    <a:pt x="1"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4" name="Google Shape;664;p1"/>
            <p:cNvSpPr/>
            <p:nvPr/>
          </p:nvSpPr>
          <p:spPr>
            <a:xfrm>
              <a:off x="7489253" y="1945206"/>
              <a:ext cx="249702" cy="33455"/>
            </a:xfrm>
            <a:custGeom>
              <a:rect b="b" l="l" r="r" t="t"/>
              <a:pathLst>
                <a:path extrusionOk="0" h="567" w="4232">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5" name="Google Shape;665;p1"/>
            <p:cNvSpPr/>
            <p:nvPr/>
          </p:nvSpPr>
          <p:spPr>
            <a:xfrm>
              <a:off x="7368297" y="1450405"/>
              <a:ext cx="438512" cy="375556"/>
            </a:xfrm>
            <a:custGeom>
              <a:rect b="b" l="l" r="r" t="t"/>
              <a:pathLst>
                <a:path extrusionOk="0" h="6365" w="7432">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6" name="Google Shape;666;p1"/>
            <p:cNvSpPr/>
            <p:nvPr/>
          </p:nvSpPr>
          <p:spPr>
            <a:xfrm>
              <a:off x="7397326" y="1420844"/>
              <a:ext cx="438512" cy="375556"/>
            </a:xfrm>
            <a:custGeom>
              <a:rect b="b" l="l" r="r" t="t"/>
              <a:pathLst>
                <a:path extrusionOk="0" h="6365" w="7432">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7" name="Google Shape;667;p1"/>
            <p:cNvSpPr/>
            <p:nvPr/>
          </p:nvSpPr>
          <p:spPr>
            <a:xfrm>
              <a:off x="7394022" y="1417599"/>
              <a:ext cx="445652" cy="382105"/>
            </a:xfrm>
            <a:custGeom>
              <a:rect b="b" l="l" r="r" t="t"/>
              <a:pathLst>
                <a:path extrusionOk="0" h="6476" w="7553">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8" name="Google Shape;668;p1"/>
            <p:cNvSpPr/>
            <p:nvPr/>
          </p:nvSpPr>
          <p:spPr>
            <a:xfrm>
              <a:off x="7464649" y="1618446"/>
              <a:ext cx="302746" cy="40594"/>
            </a:xfrm>
            <a:custGeom>
              <a:rect b="b" l="l" r="r" t="t"/>
              <a:pathLst>
                <a:path extrusionOk="0" h="688" w="5131">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69" name="Google Shape;669;p1"/>
            <p:cNvSpPr/>
            <p:nvPr/>
          </p:nvSpPr>
          <p:spPr>
            <a:xfrm>
              <a:off x="7461345" y="1615201"/>
              <a:ext cx="309885" cy="47085"/>
            </a:xfrm>
            <a:custGeom>
              <a:rect b="b" l="l" r="r" t="t"/>
              <a:pathLst>
                <a:path extrusionOk="0" h="798" w="5252">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0" name="Google Shape;670;p1"/>
            <p:cNvSpPr/>
            <p:nvPr/>
          </p:nvSpPr>
          <p:spPr>
            <a:xfrm>
              <a:off x="7497514" y="1629421"/>
              <a:ext cx="235423" cy="16993"/>
            </a:xfrm>
            <a:custGeom>
              <a:rect b="b" l="l" r="r" t="t"/>
              <a:pathLst>
                <a:path extrusionOk="0" h="288" w="399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1" name="Google Shape;671;p1"/>
            <p:cNvSpPr/>
            <p:nvPr/>
          </p:nvSpPr>
          <p:spPr>
            <a:xfrm>
              <a:off x="7517221" y="1681934"/>
              <a:ext cx="198192" cy="23601"/>
            </a:xfrm>
            <a:custGeom>
              <a:rect b="b" l="l" r="r" t="t"/>
              <a:pathLst>
                <a:path extrusionOk="0" h="400" w="3359">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2" name="Google Shape;672;p1"/>
            <p:cNvSpPr/>
            <p:nvPr/>
          </p:nvSpPr>
          <p:spPr>
            <a:xfrm>
              <a:off x="7513917" y="1678689"/>
              <a:ext cx="204741" cy="30151"/>
            </a:xfrm>
            <a:custGeom>
              <a:rect b="b" l="l" r="r" t="t"/>
              <a:pathLst>
                <a:path extrusionOk="0" h="511" w="347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3" name="Google Shape;673;p1"/>
            <p:cNvSpPr/>
            <p:nvPr/>
          </p:nvSpPr>
          <p:spPr>
            <a:xfrm>
              <a:off x="7557166" y="1687952"/>
              <a:ext cx="10975" cy="11565"/>
            </a:xfrm>
            <a:custGeom>
              <a:rect b="b" l="l" r="r" t="t"/>
              <a:pathLst>
                <a:path extrusionOk="0" h="196" w="186">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4" name="Google Shape;674;p1"/>
            <p:cNvSpPr/>
            <p:nvPr/>
          </p:nvSpPr>
          <p:spPr>
            <a:xfrm>
              <a:off x="7579056" y="1687952"/>
              <a:ext cx="10975" cy="11565"/>
            </a:xfrm>
            <a:custGeom>
              <a:rect b="b" l="l" r="r" t="t"/>
              <a:pathLst>
                <a:path extrusionOk="0" h="196" w="186">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5" name="Google Shape;675;p1"/>
            <p:cNvSpPr/>
            <p:nvPr/>
          </p:nvSpPr>
          <p:spPr>
            <a:xfrm>
              <a:off x="7599294" y="1687952"/>
              <a:ext cx="11565" cy="11565"/>
            </a:xfrm>
            <a:custGeom>
              <a:rect b="b" l="l" r="r" t="t"/>
              <a:pathLst>
                <a:path extrusionOk="0" h="196" w="196">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6" name="Google Shape;676;p1"/>
            <p:cNvSpPr/>
            <p:nvPr/>
          </p:nvSpPr>
          <p:spPr>
            <a:xfrm>
              <a:off x="7621185" y="1687952"/>
              <a:ext cx="11565" cy="11565"/>
            </a:xfrm>
            <a:custGeom>
              <a:rect b="b" l="l" r="r" t="t"/>
              <a:pathLst>
                <a:path extrusionOk="0" h="196" w="196">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7" name="Google Shape;677;p1"/>
            <p:cNvSpPr/>
            <p:nvPr/>
          </p:nvSpPr>
          <p:spPr>
            <a:xfrm>
              <a:off x="764254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8" name="Google Shape;678;p1"/>
            <p:cNvSpPr/>
            <p:nvPr/>
          </p:nvSpPr>
          <p:spPr>
            <a:xfrm>
              <a:off x="766443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79" name="Google Shape;679;p1"/>
            <p:cNvSpPr/>
            <p:nvPr/>
          </p:nvSpPr>
          <p:spPr>
            <a:xfrm>
              <a:off x="7552800" y="1465215"/>
              <a:ext cx="126444" cy="126503"/>
            </a:xfrm>
            <a:custGeom>
              <a:rect b="b" l="l" r="r" t="t"/>
              <a:pathLst>
                <a:path extrusionOk="0" h="2144" w="2143">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0" name="Google Shape;680;p1"/>
            <p:cNvSpPr/>
            <p:nvPr/>
          </p:nvSpPr>
          <p:spPr>
            <a:xfrm>
              <a:off x="7549496" y="1461380"/>
              <a:ext cx="133583" cy="134173"/>
            </a:xfrm>
            <a:custGeom>
              <a:rect b="b" l="l" r="r" t="t"/>
              <a:pathLst>
                <a:path extrusionOk="0" h="2274" w="2264">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1" name="Google Shape;681;p1"/>
            <p:cNvSpPr/>
            <p:nvPr/>
          </p:nvSpPr>
          <p:spPr>
            <a:xfrm>
              <a:off x="7587789" y="1532007"/>
              <a:ext cx="56466" cy="28499"/>
            </a:xfrm>
            <a:custGeom>
              <a:rect b="b" l="l" r="r" t="t"/>
              <a:pathLst>
                <a:path extrusionOk="0" h="483" w="957">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2" name="Google Shape;682;p1"/>
            <p:cNvSpPr/>
            <p:nvPr/>
          </p:nvSpPr>
          <p:spPr>
            <a:xfrm>
              <a:off x="7584544" y="1528702"/>
              <a:ext cx="63547" cy="35107"/>
            </a:xfrm>
            <a:custGeom>
              <a:rect b="b" l="l" r="r" t="t"/>
              <a:pathLst>
                <a:path extrusionOk="0" h="595" w="1077">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3" name="Google Shape;683;p1"/>
            <p:cNvSpPr/>
            <p:nvPr/>
          </p:nvSpPr>
          <p:spPr>
            <a:xfrm>
              <a:off x="7600415" y="1496428"/>
              <a:ext cx="31803" cy="31803"/>
            </a:xfrm>
            <a:custGeom>
              <a:rect b="b" l="l" r="r" t="t"/>
              <a:pathLst>
                <a:path extrusionOk="0" h="539" w="539">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4" name="Google Shape;684;p1"/>
            <p:cNvSpPr/>
            <p:nvPr/>
          </p:nvSpPr>
          <p:spPr>
            <a:xfrm>
              <a:off x="7597111" y="1493123"/>
              <a:ext cx="38942" cy="38942"/>
            </a:xfrm>
            <a:custGeom>
              <a:rect b="b" l="l" r="r" t="t"/>
              <a:pathLst>
                <a:path extrusionOk="0" h="660" w="66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5" name="Google Shape;685;p1"/>
            <p:cNvSpPr/>
            <p:nvPr/>
          </p:nvSpPr>
          <p:spPr>
            <a:xfrm>
              <a:off x="7569203" y="1724121"/>
              <a:ext cx="93638" cy="29030"/>
            </a:xfrm>
            <a:custGeom>
              <a:rect b="b" l="l" r="r" t="t"/>
              <a:pathLst>
                <a:path extrusionOk="0" h="492" w="1587">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6" name="Google Shape;686;p1"/>
            <p:cNvSpPr/>
            <p:nvPr/>
          </p:nvSpPr>
          <p:spPr>
            <a:xfrm>
              <a:off x="7565898" y="1720817"/>
              <a:ext cx="100247" cy="36169"/>
            </a:xfrm>
            <a:custGeom>
              <a:rect b="b" l="l" r="r" t="t"/>
              <a:pathLst>
                <a:path extrusionOk="0" h="613" w="1699">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7" name="Google Shape;687;p1"/>
            <p:cNvSpPr/>
            <p:nvPr/>
          </p:nvSpPr>
          <p:spPr>
            <a:xfrm>
              <a:off x="6772246" y="1753682"/>
              <a:ext cx="560000" cy="977035"/>
            </a:xfrm>
            <a:custGeom>
              <a:rect b="b" l="l" r="r" t="t"/>
              <a:pathLst>
                <a:path extrusionOk="0" h="16559" w="9491">
                  <a:moveTo>
                    <a:pt x="0" y="0"/>
                  </a:moveTo>
                  <a:lnTo>
                    <a:pt x="0" y="16559"/>
                  </a:lnTo>
                  <a:lnTo>
                    <a:pt x="9491" y="16559"/>
                  </a:lnTo>
                  <a:lnTo>
                    <a:pt x="949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8" name="Google Shape;688;p1"/>
            <p:cNvSpPr/>
            <p:nvPr/>
          </p:nvSpPr>
          <p:spPr>
            <a:xfrm>
              <a:off x="6731179" y="1693971"/>
              <a:ext cx="560000" cy="995739"/>
            </a:xfrm>
            <a:custGeom>
              <a:rect b="b" l="l" r="r" t="t"/>
              <a:pathLst>
                <a:path extrusionOk="0" h="16876" w="9491">
                  <a:moveTo>
                    <a:pt x="1" y="1"/>
                  </a:moveTo>
                  <a:lnTo>
                    <a:pt x="1" y="16875"/>
                  </a:lnTo>
                  <a:lnTo>
                    <a:pt x="9491" y="16875"/>
                  </a:lnTo>
                  <a:lnTo>
                    <a:pt x="949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89" name="Google Shape;689;p1"/>
            <p:cNvSpPr/>
            <p:nvPr/>
          </p:nvSpPr>
          <p:spPr>
            <a:xfrm>
              <a:off x="6727934" y="1690725"/>
              <a:ext cx="566549" cy="1002229"/>
            </a:xfrm>
            <a:custGeom>
              <a:rect b="b" l="l" r="r" t="t"/>
              <a:pathLst>
                <a:path extrusionOk="0" h="16986" w="9602">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0" name="Google Shape;690;p1"/>
            <p:cNvSpPr/>
            <p:nvPr/>
          </p:nvSpPr>
          <p:spPr>
            <a:xfrm>
              <a:off x="6732301" y="1693971"/>
              <a:ext cx="558348" cy="80539"/>
            </a:xfrm>
            <a:custGeom>
              <a:rect b="b" l="l" r="r" t="t"/>
              <a:pathLst>
                <a:path extrusionOk="0" h="1365" w="9463">
                  <a:moveTo>
                    <a:pt x="0" y="1"/>
                  </a:moveTo>
                  <a:lnTo>
                    <a:pt x="0" y="1365"/>
                  </a:lnTo>
                  <a:lnTo>
                    <a:pt x="9463" y="1365"/>
                  </a:lnTo>
                  <a:lnTo>
                    <a:pt x="946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1" name="Google Shape;691;p1"/>
            <p:cNvSpPr/>
            <p:nvPr/>
          </p:nvSpPr>
          <p:spPr>
            <a:xfrm>
              <a:off x="6728465" y="1690725"/>
              <a:ext cx="565487" cy="87089"/>
            </a:xfrm>
            <a:custGeom>
              <a:rect b="b" l="l" r="r" t="t"/>
              <a:pathLst>
                <a:path extrusionOk="0" h="1476" w="9584">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2" name="Google Shape;692;p1"/>
            <p:cNvSpPr/>
            <p:nvPr/>
          </p:nvSpPr>
          <p:spPr>
            <a:xfrm>
              <a:off x="7140072" y="1723531"/>
              <a:ext cx="24132" cy="24191"/>
            </a:xfrm>
            <a:custGeom>
              <a:rect b="b" l="l" r="r" t="t"/>
              <a:pathLst>
                <a:path extrusionOk="0" h="410" w="409">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3" name="Google Shape;693;p1"/>
            <p:cNvSpPr/>
            <p:nvPr/>
          </p:nvSpPr>
          <p:spPr>
            <a:xfrm>
              <a:off x="7189871" y="1723531"/>
              <a:ext cx="24132" cy="24191"/>
            </a:xfrm>
            <a:custGeom>
              <a:rect b="b" l="l" r="r" t="t"/>
              <a:pathLst>
                <a:path extrusionOk="0" h="410" w="409">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4" name="Google Shape;694;p1"/>
            <p:cNvSpPr/>
            <p:nvPr/>
          </p:nvSpPr>
          <p:spPr>
            <a:xfrm>
              <a:off x="7240791" y="1723531"/>
              <a:ext cx="24132" cy="24191"/>
            </a:xfrm>
            <a:custGeom>
              <a:rect b="b" l="l" r="r" t="t"/>
              <a:pathLst>
                <a:path extrusionOk="0" h="410" w="409">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5" name="Google Shape;695;p1"/>
            <p:cNvSpPr/>
            <p:nvPr/>
          </p:nvSpPr>
          <p:spPr>
            <a:xfrm>
              <a:off x="6820392" y="1885023"/>
              <a:ext cx="176892" cy="6608"/>
            </a:xfrm>
            <a:custGeom>
              <a:rect b="b" l="l" r="r" t="t"/>
              <a:pathLst>
                <a:path extrusionOk="0" h="112" w="2998">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6" name="Google Shape;696;p1"/>
            <p:cNvSpPr/>
            <p:nvPr/>
          </p:nvSpPr>
          <p:spPr>
            <a:xfrm>
              <a:off x="7032804" y="1885023"/>
              <a:ext cx="67913" cy="6608"/>
            </a:xfrm>
            <a:custGeom>
              <a:rect b="b" l="l" r="r" t="t"/>
              <a:pathLst>
                <a:path extrusionOk="0" h="112" w="1151">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7" name="Google Shape;697;p1"/>
            <p:cNvSpPr/>
            <p:nvPr/>
          </p:nvSpPr>
          <p:spPr>
            <a:xfrm>
              <a:off x="7142255" y="188502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8" name="Google Shape;698;p1"/>
            <p:cNvSpPr/>
            <p:nvPr/>
          </p:nvSpPr>
          <p:spPr>
            <a:xfrm>
              <a:off x="7027848" y="2016364"/>
              <a:ext cx="176892" cy="7198"/>
            </a:xfrm>
            <a:custGeom>
              <a:rect b="b" l="l" r="r" t="t"/>
              <a:pathLst>
                <a:path extrusionOk="0" h="122" w="2998">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699" name="Google Shape;699;p1"/>
            <p:cNvSpPr/>
            <p:nvPr/>
          </p:nvSpPr>
          <p:spPr>
            <a:xfrm>
              <a:off x="6924415" y="2016364"/>
              <a:ext cx="67913" cy="7198"/>
            </a:xfrm>
            <a:custGeom>
              <a:rect b="b" l="l" r="r" t="t"/>
              <a:pathLst>
                <a:path extrusionOk="0" h="122" w="1151">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0" name="Google Shape;700;p1"/>
            <p:cNvSpPr/>
            <p:nvPr/>
          </p:nvSpPr>
          <p:spPr>
            <a:xfrm>
              <a:off x="6820392" y="2016364"/>
              <a:ext cx="62484" cy="7198"/>
            </a:xfrm>
            <a:custGeom>
              <a:rect b="b" l="l" r="r" t="t"/>
              <a:pathLst>
                <a:path extrusionOk="0" h="122" w="1059">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1" name="Google Shape;701;p1"/>
            <p:cNvSpPr/>
            <p:nvPr/>
          </p:nvSpPr>
          <p:spPr>
            <a:xfrm>
              <a:off x="6820392" y="1950163"/>
              <a:ext cx="94228" cy="6608"/>
            </a:xfrm>
            <a:custGeom>
              <a:rect b="b" l="l" r="r" t="t"/>
              <a:pathLst>
                <a:path extrusionOk="0" h="112" w="1597">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2" name="Google Shape;702;p1"/>
            <p:cNvSpPr/>
            <p:nvPr/>
          </p:nvSpPr>
          <p:spPr>
            <a:xfrm>
              <a:off x="6945184" y="1950163"/>
              <a:ext cx="155533" cy="6608"/>
            </a:xfrm>
            <a:custGeom>
              <a:rect b="b" l="l" r="r" t="t"/>
              <a:pathLst>
                <a:path extrusionOk="0" h="112" w="2636">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3" name="Google Shape;703;p1"/>
            <p:cNvSpPr/>
            <p:nvPr/>
          </p:nvSpPr>
          <p:spPr>
            <a:xfrm>
              <a:off x="7142255" y="195016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4" name="Google Shape;704;p1"/>
            <p:cNvSpPr/>
            <p:nvPr/>
          </p:nvSpPr>
          <p:spPr>
            <a:xfrm>
              <a:off x="6820392" y="2074955"/>
              <a:ext cx="176892" cy="7198"/>
            </a:xfrm>
            <a:custGeom>
              <a:rect b="b" l="l" r="r" t="t"/>
              <a:pathLst>
                <a:path extrusionOk="0" h="122" w="2998">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5" name="Google Shape;705;p1"/>
            <p:cNvSpPr/>
            <p:nvPr/>
          </p:nvSpPr>
          <p:spPr>
            <a:xfrm>
              <a:off x="7032804" y="2074955"/>
              <a:ext cx="67913" cy="7198"/>
            </a:xfrm>
            <a:custGeom>
              <a:rect b="b" l="l" r="r" t="t"/>
              <a:pathLst>
                <a:path extrusionOk="0" h="122" w="1151">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6" name="Google Shape;706;p1"/>
            <p:cNvSpPr/>
            <p:nvPr/>
          </p:nvSpPr>
          <p:spPr>
            <a:xfrm>
              <a:off x="6820392" y="2286245"/>
              <a:ext cx="176892" cy="6608"/>
            </a:xfrm>
            <a:custGeom>
              <a:rect b="b" l="l" r="r" t="t"/>
              <a:pathLst>
                <a:path extrusionOk="0" h="112" w="2998">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7" name="Google Shape;707;p1"/>
            <p:cNvSpPr/>
            <p:nvPr/>
          </p:nvSpPr>
          <p:spPr>
            <a:xfrm>
              <a:off x="7032804" y="2286245"/>
              <a:ext cx="67913" cy="6608"/>
            </a:xfrm>
            <a:custGeom>
              <a:rect b="b" l="l" r="r" t="t"/>
              <a:pathLst>
                <a:path extrusionOk="0" h="112" w="1151">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8" name="Google Shape;708;p1"/>
            <p:cNvSpPr/>
            <p:nvPr/>
          </p:nvSpPr>
          <p:spPr>
            <a:xfrm>
              <a:off x="7142255" y="2074955"/>
              <a:ext cx="62484" cy="7198"/>
            </a:xfrm>
            <a:custGeom>
              <a:rect b="b" l="l" r="r" t="t"/>
              <a:pathLst>
                <a:path extrusionOk="0" h="122" w="1059">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09" name="Google Shape;709;p1"/>
            <p:cNvSpPr/>
            <p:nvPr/>
          </p:nvSpPr>
          <p:spPr>
            <a:xfrm>
              <a:off x="7027848" y="2206886"/>
              <a:ext cx="176892" cy="6608"/>
            </a:xfrm>
            <a:custGeom>
              <a:rect b="b" l="l" r="r" t="t"/>
              <a:pathLst>
                <a:path extrusionOk="0" h="112" w="2998">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0" name="Google Shape;710;p1"/>
            <p:cNvSpPr/>
            <p:nvPr/>
          </p:nvSpPr>
          <p:spPr>
            <a:xfrm>
              <a:off x="6924415" y="2206886"/>
              <a:ext cx="67913" cy="6608"/>
            </a:xfrm>
            <a:custGeom>
              <a:rect b="b" l="l" r="r" t="t"/>
              <a:pathLst>
                <a:path extrusionOk="0" h="112" w="1151">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1" name="Google Shape;711;p1"/>
            <p:cNvSpPr/>
            <p:nvPr/>
          </p:nvSpPr>
          <p:spPr>
            <a:xfrm>
              <a:off x="6820392" y="2206886"/>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2" name="Google Shape;712;p1"/>
            <p:cNvSpPr/>
            <p:nvPr/>
          </p:nvSpPr>
          <p:spPr>
            <a:xfrm>
              <a:off x="7123669" y="2357403"/>
              <a:ext cx="67382" cy="7139"/>
            </a:xfrm>
            <a:custGeom>
              <a:rect b="b" l="l" r="r" t="t"/>
              <a:pathLst>
                <a:path extrusionOk="0" h="121" w="1142">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3" name="Google Shape;713;p1"/>
            <p:cNvSpPr/>
            <p:nvPr/>
          </p:nvSpPr>
          <p:spPr>
            <a:xfrm>
              <a:off x="7019115" y="2357403"/>
              <a:ext cx="63015" cy="7139"/>
            </a:xfrm>
            <a:custGeom>
              <a:rect b="b" l="l" r="r" t="t"/>
              <a:pathLst>
                <a:path extrusionOk="0" h="121" w="1068">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4" name="Google Shape;714;p1"/>
            <p:cNvSpPr/>
            <p:nvPr/>
          </p:nvSpPr>
          <p:spPr>
            <a:xfrm>
              <a:off x="6820392" y="2140094"/>
              <a:ext cx="94228" cy="7139"/>
            </a:xfrm>
            <a:custGeom>
              <a:rect b="b" l="l" r="r" t="t"/>
              <a:pathLst>
                <a:path extrusionOk="0" h="121" w="1597">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5" name="Google Shape;715;p1"/>
            <p:cNvSpPr/>
            <p:nvPr/>
          </p:nvSpPr>
          <p:spPr>
            <a:xfrm>
              <a:off x="6945184" y="2140094"/>
              <a:ext cx="155533" cy="7139"/>
            </a:xfrm>
            <a:custGeom>
              <a:rect b="b" l="l" r="r" t="t"/>
              <a:pathLst>
                <a:path extrusionOk="0" h="121" w="2636">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6" name="Google Shape;716;p1"/>
            <p:cNvSpPr/>
            <p:nvPr/>
          </p:nvSpPr>
          <p:spPr>
            <a:xfrm>
              <a:off x="7142255" y="2140094"/>
              <a:ext cx="62484" cy="7139"/>
            </a:xfrm>
            <a:custGeom>
              <a:rect b="b" l="l" r="r" t="t"/>
              <a:pathLst>
                <a:path extrusionOk="0" h="121" w="1059">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7" name="Google Shape;717;p1"/>
            <p:cNvSpPr/>
            <p:nvPr/>
          </p:nvSpPr>
          <p:spPr>
            <a:xfrm>
              <a:off x="7017994" y="2427440"/>
              <a:ext cx="155533" cy="7198"/>
            </a:xfrm>
            <a:custGeom>
              <a:rect b="b" l="l" r="r" t="t"/>
              <a:pathLst>
                <a:path extrusionOk="0" h="122" w="2636">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8" name="Google Shape;718;p1"/>
            <p:cNvSpPr/>
            <p:nvPr/>
          </p:nvSpPr>
          <p:spPr>
            <a:xfrm>
              <a:off x="7018584" y="2493111"/>
              <a:ext cx="62425" cy="7198"/>
            </a:xfrm>
            <a:custGeom>
              <a:rect b="b" l="l" r="r" t="t"/>
              <a:pathLst>
                <a:path extrusionOk="0" h="122" w="1058">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19" name="Google Shape;719;p1"/>
            <p:cNvSpPr/>
            <p:nvPr/>
          </p:nvSpPr>
          <p:spPr>
            <a:xfrm>
              <a:off x="7433436" y="2415403"/>
              <a:ext cx="731876" cy="521707"/>
            </a:xfrm>
            <a:custGeom>
              <a:rect b="b" l="l" r="r" t="t"/>
              <a:pathLst>
                <a:path extrusionOk="0" h="8842" w="12404">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0" name="Google Shape;720;p1"/>
            <p:cNvSpPr/>
            <p:nvPr/>
          </p:nvSpPr>
          <p:spPr>
            <a:xfrm>
              <a:off x="7430191" y="2412099"/>
              <a:ext cx="738957" cy="528846"/>
            </a:xfrm>
            <a:custGeom>
              <a:rect b="b" l="l" r="r" t="t"/>
              <a:pathLst>
                <a:path extrusionOk="0" h="8963" w="12524">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1" name="Google Shape;721;p1"/>
            <p:cNvSpPr/>
            <p:nvPr/>
          </p:nvSpPr>
          <p:spPr>
            <a:xfrm>
              <a:off x="7474502" y="2375989"/>
              <a:ext cx="731876" cy="88210"/>
            </a:xfrm>
            <a:custGeom>
              <a:rect b="b" l="l" r="r" t="t"/>
              <a:pathLst>
                <a:path extrusionOk="0" h="1495" w="12404">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2" name="Google Shape;722;p1"/>
            <p:cNvSpPr/>
            <p:nvPr/>
          </p:nvSpPr>
          <p:spPr>
            <a:xfrm>
              <a:off x="7471198" y="2372685"/>
              <a:ext cx="738485" cy="94759"/>
            </a:xfrm>
            <a:custGeom>
              <a:rect b="b" l="l" r="r" t="t"/>
              <a:pathLst>
                <a:path extrusionOk="0" h="1606" w="12516">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3" name="Google Shape;723;p1"/>
            <p:cNvSpPr/>
            <p:nvPr/>
          </p:nvSpPr>
          <p:spPr>
            <a:xfrm>
              <a:off x="7553862" y="2401715"/>
              <a:ext cx="33455" cy="33986"/>
            </a:xfrm>
            <a:custGeom>
              <a:rect b="b" l="l" r="r" t="t"/>
              <a:pathLst>
                <a:path extrusionOk="0" h="576" w="567">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4" name="Google Shape;724;p1"/>
            <p:cNvSpPr/>
            <p:nvPr/>
          </p:nvSpPr>
          <p:spPr>
            <a:xfrm>
              <a:off x="7606434" y="2401715"/>
              <a:ext cx="33986" cy="33986"/>
            </a:xfrm>
            <a:custGeom>
              <a:rect b="b" l="l" r="r" t="t"/>
              <a:pathLst>
                <a:path extrusionOk="0" h="576" w="576">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5" name="Google Shape;725;p1"/>
            <p:cNvSpPr/>
            <p:nvPr/>
          </p:nvSpPr>
          <p:spPr>
            <a:xfrm>
              <a:off x="7501349" y="2401715"/>
              <a:ext cx="33986" cy="33986"/>
            </a:xfrm>
            <a:custGeom>
              <a:rect b="b" l="l" r="r" t="t"/>
              <a:pathLst>
                <a:path extrusionOk="0" h="576" w="576">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6" name="Google Shape;726;p1"/>
            <p:cNvSpPr/>
            <p:nvPr/>
          </p:nvSpPr>
          <p:spPr>
            <a:xfrm>
              <a:off x="7473971" y="2464140"/>
              <a:ext cx="732407" cy="430252"/>
            </a:xfrm>
            <a:custGeom>
              <a:rect b="b" l="l" r="r" t="t"/>
              <a:pathLst>
                <a:path extrusionOk="0" h="7292" w="12413">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7" name="Google Shape;727;p1"/>
            <p:cNvSpPr/>
            <p:nvPr/>
          </p:nvSpPr>
          <p:spPr>
            <a:xfrm>
              <a:off x="7470667" y="2460305"/>
              <a:ext cx="739016" cy="437391"/>
            </a:xfrm>
            <a:custGeom>
              <a:rect b="b" l="l" r="r" t="t"/>
              <a:pathLst>
                <a:path extrusionOk="0" h="7413" w="12525">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8" name="Google Shape;728;p1"/>
            <p:cNvSpPr/>
            <p:nvPr/>
          </p:nvSpPr>
          <p:spPr>
            <a:xfrm>
              <a:off x="7778310" y="2564859"/>
              <a:ext cx="336083" cy="6608"/>
            </a:xfrm>
            <a:custGeom>
              <a:rect b="b" l="l" r="r" t="t"/>
              <a:pathLst>
                <a:path extrusionOk="0" h="112" w="5696">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29" name="Google Shape;729;p1"/>
            <p:cNvSpPr/>
            <p:nvPr/>
          </p:nvSpPr>
          <p:spPr>
            <a:xfrm>
              <a:off x="7778310" y="2614657"/>
              <a:ext cx="122668" cy="7139"/>
            </a:xfrm>
            <a:custGeom>
              <a:rect b="b" l="l" r="r" t="t"/>
              <a:pathLst>
                <a:path extrusionOk="0" h="121" w="2079">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0" name="Google Shape;730;p1"/>
            <p:cNvSpPr/>
            <p:nvPr/>
          </p:nvSpPr>
          <p:spPr>
            <a:xfrm>
              <a:off x="7941395" y="2614657"/>
              <a:ext cx="147272" cy="7139"/>
            </a:xfrm>
            <a:custGeom>
              <a:rect b="b" l="l" r="r" t="t"/>
              <a:pathLst>
                <a:path extrusionOk="0" h="121" w="2496">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1" name="Google Shape;731;p1"/>
            <p:cNvSpPr/>
            <p:nvPr/>
          </p:nvSpPr>
          <p:spPr>
            <a:xfrm>
              <a:off x="7778310" y="2766237"/>
              <a:ext cx="217899" cy="6667"/>
            </a:xfrm>
            <a:custGeom>
              <a:rect b="b" l="l" r="r" t="t"/>
              <a:pathLst>
                <a:path extrusionOk="0" h="113" w="3693">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2" name="Google Shape;732;p1"/>
            <p:cNvSpPr/>
            <p:nvPr/>
          </p:nvSpPr>
          <p:spPr>
            <a:xfrm>
              <a:off x="7778310" y="2667170"/>
              <a:ext cx="338856" cy="7198"/>
            </a:xfrm>
            <a:custGeom>
              <a:rect b="b" l="l" r="r" t="t"/>
              <a:pathLst>
                <a:path extrusionOk="0" h="122" w="5743">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3" name="Google Shape;733;p1"/>
            <p:cNvSpPr/>
            <p:nvPr/>
          </p:nvSpPr>
          <p:spPr>
            <a:xfrm>
              <a:off x="7778310" y="2716969"/>
              <a:ext cx="112224" cy="7198"/>
            </a:xfrm>
            <a:custGeom>
              <a:rect b="b" l="l" r="r" t="t"/>
              <a:pathLst>
                <a:path extrusionOk="0" h="122" w="1902">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4" name="Google Shape;734;p1"/>
            <p:cNvSpPr/>
            <p:nvPr/>
          </p:nvSpPr>
          <p:spPr>
            <a:xfrm>
              <a:off x="7915670" y="2716969"/>
              <a:ext cx="198723" cy="7198"/>
            </a:xfrm>
            <a:custGeom>
              <a:rect b="b" l="l" r="r" t="t"/>
              <a:pathLst>
                <a:path extrusionOk="0" h="122" w="3368">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5" name="Google Shape;735;p1"/>
            <p:cNvSpPr/>
            <p:nvPr/>
          </p:nvSpPr>
          <p:spPr>
            <a:xfrm>
              <a:off x="7525953" y="2548397"/>
              <a:ext cx="219020" cy="219020"/>
            </a:xfrm>
            <a:custGeom>
              <a:rect b="b" l="l" r="r" t="t"/>
              <a:pathLst>
                <a:path extrusionOk="0" h="3712" w="3712">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6" name="Google Shape;736;p1"/>
            <p:cNvSpPr/>
            <p:nvPr/>
          </p:nvSpPr>
          <p:spPr>
            <a:xfrm>
              <a:off x="7522649" y="2545151"/>
              <a:ext cx="225567" cy="225567"/>
            </a:xfrm>
            <a:custGeom>
              <a:rect b="b" l="l" r="r" t="t"/>
              <a:pathLst>
                <a:path extrusionOk="0" h="3823" w="3823">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7" name="Google Shape;737;p1"/>
            <p:cNvSpPr/>
            <p:nvPr/>
          </p:nvSpPr>
          <p:spPr>
            <a:xfrm>
              <a:off x="7516631" y="2550049"/>
              <a:ext cx="218489" cy="218430"/>
            </a:xfrm>
            <a:custGeom>
              <a:rect b="b" l="l" r="r" t="t"/>
              <a:pathLst>
                <a:path extrusionOk="0" h="3702" w="3703">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8" name="Google Shape;738;p1"/>
            <p:cNvSpPr/>
            <p:nvPr/>
          </p:nvSpPr>
          <p:spPr>
            <a:xfrm>
              <a:off x="7513386" y="2546213"/>
              <a:ext cx="225569" cy="225569"/>
            </a:xfrm>
            <a:custGeom>
              <a:rect b="b" l="l" r="r" t="t"/>
              <a:pathLst>
                <a:path extrusionOk="0" h="3823" w="3823">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39" name="Google Shape;739;p1"/>
            <p:cNvSpPr/>
            <p:nvPr/>
          </p:nvSpPr>
          <p:spPr>
            <a:xfrm>
              <a:off x="7662251" y="2565921"/>
              <a:ext cx="54814" cy="54814"/>
            </a:xfrm>
            <a:custGeom>
              <a:rect b="b" l="l" r="r" t="t"/>
              <a:pathLst>
                <a:path extrusionOk="0" h="929" w="929">
                  <a:moveTo>
                    <a:pt x="0" y="1"/>
                  </a:moveTo>
                  <a:lnTo>
                    <a:pt x="0" y="928"/>
                  </a:lnTo>
                  <a:lnTo>
                    <a:pt x="928" y="928"/>
                  </a:lnTo>
                  <a:cubicBezTo>
                    <a:pt x="928" y="409"/>
                    <a:pt x="51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0" name="Google Shape;740;p1"/>
            <p:cNvSpPr/>
            <p:nvPr/>
          </p:nvSpPr>
          <p:spPr>
            <a:xfrm>
              <a:off x="7658947" y="2562085"/>
              <a:ext cx="61363" cy="61894"/>
            </a:xfrm>
            <a:custGeom>
              <a:rect b="b" l="l" r="r" t="t"/>
              <a:pathLst>
                <a:path extrusionOk="0" h="1049" w="104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1" name="Google Shape;741;p1"/>
            <p:cNvSpPr/>
            <p:nvPr/>
          </p:nvSpPr>
          <p:spPr>
            <a:xfrm>
              <a:off x="7985707" y="2216444"/>
              <a:ext cx="377208" cy="339092"/>
            </a:xfrm>
            <a:custGeom>
              <a:rect b="b" l="l" r="r" t="t"/>
              <a:pathLst>
                <a:path extrusionOk="0" h="5747" w="6393">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2" name="Google Shape;742;p1"/>
            <p:cNvSpPr/>
            <p:nvPr/>
          </p:nvSpPr>
          <p:spPr>
            <a:xfrm>
              <a:off x="8001047" y="2212904"/>
              <a:ext cx="345995" cy="345995"/>
            </a:xfrm>
            <a:custGeom>
              <a:rect b="b" l="l" r="r" t="t"/>
              <a:pathLst>
                <a:path extrusionOk="0" h="5864" w="5864">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3" name="Google Shape;743;p1"/>
            <p:cNvSpPr/>
            <p:nvPr/>
          </p:nvSpPr>
          <p:spPr>
            <a:xfrm>
              <a:off x="7997212" y="2199923"/>
              <a:ext cx="384878" cy="339387"/>
            </a:xfrm>
            <a:custGeom>
              <a:rect b="b" l="l" r="r" t="t"/>
              <a:pathLst>
                <a:path extrusionOk="0" h="5752" w="6523">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4" name="Google Shape;744;p1"/>
            <p:cNvSpPr/>
            <p:nvPr/>
          </p:nvSpPr>
          <p:spPr>
            <a:xfrm>
              <a:off x="8016388" y="2196442"/>
              <a:ext cx="345995" cy="345995"/>
            </a:xfrm>
            <a:custGeom>
              <a:rect b="b" l="l" r="r" t="t"/>
              <a:pathLst>
                <a:path extrusionOk="0" h="5864" w="5864">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5" name="Google Shape;745;p1"/>
            <p:cNvSpPr/>
            <p:nvPr/>
          </p:nvSpPr>
          <p:spPr>
            <a:xfrm>
              <a:off x="8070553" y="2285655"/>
              <a:ext cx="224507" cy="141844"/>
            </a:xfrm>
            <a:custGeom>
              <a:rect b="b" l="l" r="r" t="t"/>
              <a:pathLst>
                <a:path extrusionOk="0" h="2404" w="3805">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6" name="Google Shape;746;p1"/>
            <p:cNvSpPr/>
            <p:nvPr/>
          </p:nvSpPr>
          <p:spPr>
            <a:xfrm>
              <a:off x="8066718" y="2282410"/>
              <a:ext cx="231588" cy="148393"/>
            </a:xfrm>
            <a:custGeom>
              <a:rect b="b" l="l" r="r" t="t"/>
              <a:pathLst>
                <a:path extrusionOk="0" h="2515" w="3925">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7" name="Google Shape;747;p1"/>
            <p:cNvSpPr/>
            <p:nvPr/>
          </p:nvSpPr>
          <p:spPr>
            <a:xfrm>
              <a:off x="5843948" y="3263280"/>
              <a:ext cx="422581" cy="300504"/>
            </a:xfrm>
            <a:custGeom>
              <a:rect b="b" l="l" r="r" t="t"/>
              <a:pathLst>
                <a:path extrusionOk="0" h="5093" w="7162">
                  <a:moveTo>
                    <a:pt x="0" y="0"/>
                  </a:moveTo>
                  <a:lnTo>
                    <a:pt x="0" y="5093"/>
                  </a:lnTo>
                  <a:lnTo>
                    <a:pt x="7162" y="5093"/>
                  </a:lnTo>
                  <a:lnTo>
                    <a:pt x="716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8" name="Google Shape;748;p1"/>
            <p:cNvSpPr/>
            <p:nvPr/>
          </p:nvSpPr>
          <p:spPr>
            <a:xfrm>
              <a:off x="5840112" y="3259976"/>
              <a:ext cx="429721" cy="307643"/>
            </a:xfrm>
            <a:custGeom>
              <a:rect b="b" l="l" r="r" t="t"/>
              <a:pathLst>
                <a:path extrusionOk="0" h="5214" w="7283">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49" name="Google Shape;749;p1"/>
            <p:cNvSpPr/>
            <p:nvPr/>
          </p:nvSpPr>
          <p:spPr>
            <a:xfrm>
              <a:off x="5151544" y="2042680"/>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0" name="Google Shape;750;p1"/>
            <p:cNvSpPr/>
            <p:nvPr/>
          </p:nvSpPr>
          <p:spPr>
            <a:xfrm>
              <a:off x="5148240" y="2039376"/>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1" name="Google Shape;751;p1"/>
            <p:cNvSpPr/>
            <p:nvPr/>
          </p:nvSpPr>
          <p:spPr>
            <a:xfrm>
              <a:off x="5151544" y="2076076"/>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2" name="Google Shape;752;p1"/>
            <p:cNvSpPr/>
            <p:nvPr/>
          </p:nvSpPr>
          <p:spPr>
            <a:xfrm>
              <a:off x="5148240" y="2072771"/>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3" name="Google Shape;753;p1"/>
            <p:cNvSpPr/>
            <p:nvPr/>
          </p:nvSpPr>
          <p:spPr>
            <a:xfrm>
              <a:off x="5254977" y="2195380"/>
              <a:ext cx="1597218" cy="973790"/>
            </a:xfrm>
            <a:custGeom>
              <a:rect b="b" l="l" r="r" t="t"/>
              <a:pathLst>
                <a:path extrusionOk="0" h="16504" w="2707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4" name="Google Shape;754;p1"/>
            <p:cNvSpPr/>
            <p:nvPr/>
          </p:nvSpPr>
          <p:spPr>
            <a:xfrm>
              <a:off x="5251673" y="2192076"/>
              <a:ext cx="1603826" cy="980929"/>
            </a:xfrm>
            <a:custGeom>
              <a:rect b="b" l="l" r="r" t="t"/>
              <a:pathLst>
                <a:path extrusionOk="0" h="16625" w="27182">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5" name="Google Shape;755;p1"/>
            <p:cNvSpPr/>
            <p:nvPr/>
          </p:nvSpPr>
          <p:spPr>
            <a:xfrm>
              <a:off x="6850543" y="2586749"/>
              <a:ext cx="6608" cy="189990"/>
            </a:xfrm>
            <a:custGeom>
              <a:rect b="b" l="l" r="r" t="t"/>
              <a:pathLst>
                <a:path extrusionOk="0" h="3220" w="112">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6" name="Google Shape;756;p1"/>
            <p:cNvSpPr/>
            <p:nvPr/>
          </p:nvSpPr>
          <p:spPr>
            <a:xfrm>
              <a:off x="6035531" y="2114369"/>
              <a:ext cx="38883" cy="38352"/>
            </a:xfrm>
            <a:custGeom>
              <a:rect b="b" l="l" r="r" t="t"/>
              <a:pathLst>
                <a:path extrusionOk="0" h="650" w="659">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7" name="Google Shape;757;p1"/>
            <p:cNvSpPr/>
            <p:nvPr/>
          </p:nvSpPr>
          <p:spPr>
            <a:xfrm>
              <a:off x="6032227" y="2110533"/>
              <a:ext cx="46023" cy="46023"/>
            </a:xfrm>
            <a:custGeom>
              <a:rect b="b" l="l" r="r" t="t"/>
              <a:pathLst>
                <a:path extrusionOk="0" h="780" w="78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8" name="Google Shape;758;p1"/>
            <p:cNvSpPr/>
            <p:nvPr/>
          </p:nvSpPr>
          <p:spPr>
            <a:xfrm>
              <a:off x="6808356" y="3211239"/>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59" name="Google Shape;759;p1"/>
            <p:cNvSpPr/>
            <p:nvPr/>
          </p:nvSpPr>
          <p:spPr>
            <a:xfrm>
              <a:off x="6805111" y="3207404"/>
              <a:ext cx="46023" cy="46082"/>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0" name="Google Shape;760;p1"/>
            <p:cNvSpPr/>
            <p:nvPr/>
          </p:nvSpPr>
          <p:spPr>
            <a:xfrm>
              <a:off x="6741564" y="3219441"/>
              <a:ext cx="22539" cy="21949"/>
            </a:xfrm>
            <a:custGeom>
              <a:rect b="b" l="l" r="r" t="t"/>
              <a:pathLst>
                <a:path extrusionOk="0" h="372" w="382">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1" name="Google Shape;761;p1"/>
            <p:cNvSpPr/>
            <p:nvPr/>
          </p:nvSpPr>
          <p:spPr>
            <a:xfrm>
              <a:off x="6697253" y="3219441"/>
              <a:ext cx="22480" cy="21949"/>
            </a:xfrm>
            <a:custGeom>
              <a:rect b="b" l="l" r="r" t="t"/>
              <a:pathLst>
                <a:path extrusionOk="0" h="372" w="381">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2" name="Google Shape;762;p1"/>
            <p:cNvSpPr/>
            <p:nvPr/>
          </p:nvSpPr>
          <p:spPr>
            <a:xfrm>
              <a:off x="5844479" y="3294434"/>
              <a:ext cx="421519" cy="77825"/>
            </a:xfrm>
            <a:custGeom>
              <a:rect b="b" l="l" r="r" t="t"/>
              <a:pathLst>
                <a:path extrusionOk="0" h="1319" w="7144">
                  <a:moveTo>
                    <a:pt x="0" y="1"/>
                  </a:moveTo>
                  <a:lnTo>
                    <a:pt x="0" y="1318"/>
                  </a:lnTo>
                  <a:lnTo>
                    <a:pt x="7144" y="1318"/>
                  </a:lnTo>
                  <a:lnTo>
                    <a:pt x="714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3" name="Google Shape;763;p1"/>
            <p:cNvSpPr/>
            <p:nvPr/>
          </p:nvSpPr>
          <p:spPr>
            <a:xfrm>
              <a:off x="5841174" y="3291189"/>
              <a:ext cx="428128" cy="84316"/>
            </a:xfrm>
            <a:custGeom>
              <a:rect b="b" l="l" r="r" t="t"/>
              <a:pathLst>
                <a:path extrusionOk="0" h="1429" w="7256">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4" name="Google Shape;764;p1"/>
            <p:cNvSpPr/>
            <p:nvPr/>
          </p:nvSpPr>
          <p:spPr>
            <a:xfrm>
              <a:off x="5257691" y="3542955"/>
              <a:ext cx="1595094" cy="130869"/>
            </a:xfrm>
            <a:custGeom>
              <a:rect b="b" l="l" r="r" t="t"/>
              <a:pathLst>
                <a:path extrusionOk="0" h="2218" w="27034">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5" name="Google Shape;765;p1"/>
            <p:cNvSpPr/>
            <p:nvPr/>
          </p:nvSpPr>
          <p:spPr>
            <a:xfrm>
              <a:off x="5253856" y="3539120"/>
              <a:ext cx="1602764" cy="138540"/>
            </a:xfrm>
            <a:custGeom>
              <a:rect b="b" l="l" r="r" t="t"/>
              <a:pathLst>
                <a:path extrusionOk="0" h="2348" w="27164">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6" name="Google Shape;766;p1"/>
            <p:cNvSpPr/>
            <p:nvPr/>
          </p:nvSpPr>
          <p:spPr>
            <a:xfrm>
              <a:off x="542573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7" name="Google Shape;767;p1"/>
            <p:cNvSpPr/>
            <p:nvPr/>
          </p:nvSpPr>
          <p:spPr>
            <a:xfrm>
              <a:off x="5422487" y="3569743"/>
              <a:ext cx="119895" cy="44960"/>
            </a:xfrm>
            <a:custGeom>
              <a:rect b="b" l="l" r="r" t="t"/>
              <a:pathLst>
                <a:path extrusionOk="0" h="762" w="2032">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8" name="Google Shape;768;p1"/>
            <p:cNvSpPr/>
            <p:nvPr/>
          </p:nvSpPr>
          <p:spPr>
            <a:xfrm>
              <a:off x="5565334" y="3573047"/>
              <a:ext cx="113345" cy="38352"/>
            </a:xfrm>
            <a:custGeom>
              <a:rect b="b" l="l" r="r" t="t"/>
              <a:pathLst>
                <a:path extrusionOk="0" h="650" w="1921">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69" name="Google Shape;769;p1"/>
            <p:cNvSpPr/>
            <p:nvPr/>
          </p:nvSpPr>
          <p:spPr>
            <a:xfrm>
              <a:off x="5562030" y="3569743"/>
              <a:ext cx="119954" cy="44960"/>
            </a:xfrm>
            <a:custGeom>
              <a:rect b="b" l="l" r="r" t="t"/>
              <a:pathLst>
                <a:path extrusionOk="0" h="762" w="2033">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0" name="Google Shape;770;p1"/>
            <p:cNvSpPr/>
            <p:nvPr/>
          </p:nvSpPr>
          <p:spPr>
            <a:xfrm>
              <a:off x="5708712"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1" name="Google Shape;771;p1"/>
            <p:cNvSpPr/>
            <p:nvPr/>
          </p:nvSpPr>
          <p:spPr>
            <a:xfrm>
              <a:off x="5705467" y="3569743"/>
              <a:ext cx="119895" cy="44960"/>
            </a:xfrm>
            <a:custGeom>
              <a:rect b="b" l="l" r="r" t="t"/>
              <a:pathLst>
                <a:path extrusionOk="0" h="762" w="2032">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2" name="Google Shape;772;p1"/>
            <p:cNvSpPr/>
            <p:nvPr/>
          </p:nvSpPr>
          <p:spPr>
            <a:xfrm>
              <a:off x="5848314" y="3573047"/>
              <a:ext cx="112814" cy="38352"/>
            </a:xfrm>
            <a:custGeom>
              <a:rect b="b" l="l" r="r" t="t"/>
              <a:pathLst>
                <a:path extrusionOk="0" h="650" w="1912">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3" name="Google Shape;773;p1"/>
            <p:cNvSpPr/>
            <p:nvPr/>
          </p:nvSpPr>
          <p:spPr>
            <a:xfrm>
              <a:off x="5845010" y="3569743"/>
              <a:ext cx="119954" cy="44960"/>
            </a:xfrm>
            <a:custGeom>
              <a:rect b="b" l="l" r="r" t="t"/>
              <a:pathLst>
                <a:path extrusionOk="0" h="762" w="2033">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4" name="Google Shape;774;p1"/>
            <p:cNvSpPr/>
            <p:nvPr/>
          </p:nvSpPr>
          <p:spPr>
            <a:xfrm>
              <a:off x="5990099"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5" name="Google Shape;775;p1"/>
            <p:cNvSpPr/>
            <p:nvPr/>
          </p:nvSpPr>
          <p:spPr>
            <a:xfrm>
              <a:off x="5986794"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6" name="Google Shape;776;p1"/>
            <p:cNvSpPr/>
            <p:nvPr/>
          </p:nvSpPr>
          <p:spPr>
            <a:xfrm>
              <a:off x="612964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7" name="Google Shape;777;p1"/>
            <p:cNvSpPr/>
            <p:nvPr/>
          </p:nvSpPr>
          <p:spPr>
            <a:xfrm>
              <a:off x="6126337" y="3569743"/>
              <a:ext cx="119423" cy="44960"/>
            </a:xfrm>
            <a:custGeom>
              <a:rect b="b" l="l" r="r" t="t"/>
              <a:pathLst>
                <a:path extrusionOk="0" h="762" w="2024">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8" name="Google Shape;778;p1"/>
            <p:cNvSpPr/>
            <p:nvPr/>
          </p:nvSpPr>
          <p:spPr>
            <a:xfrm>
              <a:off x="6273078"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79" name="Google Shape;779;p1"/>
            <p:cNvSpPr/>
            <p:nvPr/>
          </p:nvSpPr>
          <p:spPr>
            <a:xfrm>
              <a:off x="6269243" y="3569743"/>
              <a:ext cx="119895" cy="44960"/>
            </a:xfrm>
            <a:custGeom>
              <a:rect b="b" l="l" r="r" t="t"/>
              <a:pathLst>
                <a:path extrusionOk="0" h="762" w="2032">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0" name="Google Shape;780;p1"/>
            <p:cNvSpPr/>
            <p:nvPr/>
          </p:nvSpPr>
          <p:spPr>
            <a:xfrm>
              <a:off x="641262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1" name="Google Shape;781;p1"/>
            <p:cNvSpPr/>
            <p:nvPr/>
          </p:nvSpPr>
          <p:spPr>
            <a:xfrm>
              <a:off x="6409376" y="3569743"/>
              <a:ext cx="119364" cy="44960"/>
            </a:xfrm>
            <a:custGeom>
              <a:rect b="b" l="l" r="r" t="t"/>
              <a:pathLst>
                <a:path extrusionOk="0" h="762" w="2023">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2" name="Google Shape;782;p1"/>
            <p:cNvSpPr/>
            <p:nvPr/>
          </p:nvSpPr>
          <p:spPr>
            <a:xfrm>
              <a:off x="655930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3" name="Google Shape;783;p1"/>
            <p:cNvSpPr/>
            <p:nvPr/>
          </p:nvSpPr>
          <p:spPr>
            <a:xfrm>
              <a:off x="6556058"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4" name="Google Shape;784;p1"/>
            <p:cNvSpPr/>
            <p:nvPr/>
          </p:nvSpPr>
          <p:spPr>
            <a:xfrm>
              <a:off x="535953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5" name="Google Shape;785;p1"/>
            <p:cNvSpPr/>
            <p:nvPr/>
          </p:nvSpPr>
          <p:spPr>
            <a:xfrm>
              <a:off x="5356227"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6" name="Google Shape;786;p1"/>
            <p:cNvSpPr/>
            <p:nvPr/>
          </p:nvSpPr>
          <p:spPr>
            <a:xfrm>
              <a:off x="549907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7" name="Google Shape;787;p1"/>
            <p:cNvSpPr/>
            <p:nvPr/>
          </p:nvSpPr>
          <p:spPr>
            <a:xfrm>
              <a:off x="549582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8" name="Google Shape;788;p1"/>
            <p:cNvSpPr/>
            <p:nvPr/>
          </p:nvSpPr>
          <p:spPr>
            <a:xfrm>
              <a:off x="564251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89" name="Google Shape;789;p1"/>
            <p:cNvSpPr/>
            <p:nvPr/>
          </p:nvSpPr>
          <p:spPr>
            <a:xfrm>
              <a:off x="5639206"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0" name="Google Shape;790;p1"/>
            <p:cNvSpPr/>
            <p:nvPr/>
          </p:nvSpPr>
          <p:spPr>
            <a:xfrm>
              <a:off x="5782053"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1" name="Google Shape;791;p1"/>
            <p:cNvSpPr/>
            <p:nvPr/>
          </p:nvSpPr>
          <p:spPr>
            <a:xfrm>
              <a:off x="577880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2" name="Google Shape;792;p1"/>
            <p:cNvSpPr/>
            <p:nvPr/>
          </p:nvSpPr>
          <p:spPr>
            <a:xfrm>
              <a:off x="5923307" y="3599304"/>
              <a:ext cx="113345" cy="38411"/>
            </a:xfrm>
            <a:custGeom>
              <a:rect b="b" l="l" r="r" t="t"/>
              <a:pathLst>
                <a:path extrusionOk="0" h="651" w="1921">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3" name="Google Shape;793;p1"/>
            <p:cNvSpPr/>
            <p:nvPr/>
          </p:nvSpPr>
          <p:spPr>
            <a:xfrm>
              <a:off x="5920003"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4" name="Google Shape;794;p1"/>
            <p:cNvSpPr/>
            <p:nvPr/>
          </p:nvSpPr>
          <p:spPr>
            <a:xfrm>
              <a:off x="606344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5" name="Google Shape;795;p1"/>
            <p:cNvSpPr/>
            <p:nvPr/>
          </p:nvSpPr>
          <p:spPr>
            <a:xfrm>
              <a:off x="6060136"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6" name="Google Shape;796;p1"/>
            <p:cNvSpPr/>
            <p:nvPr/>
          </p:nvSpPr>
          <p:spPr>
            <a:xfrm>
              <a:off x="6206818" y="3599304"/>
              <a:ext cx="112814" cy="38411"/>
            </a:xfrm>
            <a:custGeom>
              <a:rect b="b" l="l" r="r" t="t"/>
              <a:pathLst>
                <a:path extrusionOk="0" h="651" w="1912">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7" name="Google Shape;797;p1"/>
            <p:cNvSpPr/>
            <p:nvPr/>
          </p:nvSpPr>
          <p:spPr>
            <a:xfrm>
              <a:off x="6202982"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8" name="Google Shape;798;p1"/>
            <p:cNvSpPr/>
            <p:nvPr/>
          </p:nvSpPr>
          <p:spPr>
            <a:xfrm>
              <a:off x="6346419"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799" name="Google Shape;799;p1"/>
            <p:cNvSpPr/>
            <p:nvPr/>
          </p:nvSpPr>
          <p:spPr>
            <a:xfrm>
              <a:off x="6342584" y="3596058"/>
              <a:ext cx="119895" cy="44901"/>
            </a:xfrm>
            <a:custGeom>
              <a:rect b="b" l="l" r="r" t="t"/>
              <a:pathLst>
                <a:path extrusionOk="0" h="761" w="2032">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0" name="Google Shape;800;p1"/>
            <p:cNvSpPr/>
            <p:nvPr/>
          </p:nvSpPr>
          <p:spPr>
            <a:xfrm>
              <a:off x="649310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1" name="Google Shape;801;p1"/>
            <p:cNvSpPr/>
            <p:nvPr/>
          </p:nvSpPr>
          <p:spPr>
            <a:xfrm>
              <a:off x="6489797"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2" name="Google Shape;802;p1"/>
            <p:cNvSpPr/>
            <p:nvPr/>
          </p:nvSpPr>
          <p:spPr>
            <a:xfrm>
              <a:off x="663264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3" name="Google Shape;803;p1"/>
            <p:cNvSpPr/>
            <p:nvPr/>
          </p:nvSpPr>
          <p:spPr>
            <a:xfrm>
              <a:off x="6629399"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4" name="Google Shape;804;p1"/>
            <p:cNvSpPr/>
            <p:nvPr/>
          </p:nvSpPr>
          <p:spPr>
            <a:xfrm>
              <a:off x="5370447" y="2293916"/>
              <a:ext cx="907057" cy="792060"/>
            </a:xfrm>
            <a:custGeom>
              <a:rect b="b" l="l" r="r" t="t"/>
              <a:pathLst>
                <a:path extrusionOk="0" h="13424" w="15373">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5" name="Google Shape;805;p1"/>
            <p:cNvSpPr/>
            <p:nvPr/>
          </p:nvSpPr>
          <p:spPr>
            <a:xfrm>
              <a:off x="5367201" y="2290611"/>
              <a:ext cx="913606" cy="798668"/>
            </a:xfrm>
            <a:custGeom>
              <a:rect b="b" l="l" r="r" t="t"/>
              <a:pathLst>
                <a:path extrusionOk="0" h="13536" w="15484">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6" name="Google Shape;806;p1"/>
            <p:cNvSpPr/>
            <p:nvPr/>
          </p:nvSpPr>
          <p:spPr>
            <a:xfrm>
              <a:off x="5370447" y="2293916"/>
              <a:ext cx="907057" cy="72279"/>
            </a:xfrm>
            <a:custGeom>
              <a:rect b="b" l="l" r="r" t="t"/>
              <a:pathLst>
                <a:path extrusionOk="0" h="1225" w="15373">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7" name="Google Shape;807;p1"/>
            <p:cNvSpPr/>
            <p:nvPr/>
          </p:nvSpPr>
          <p:spPr>
            <a:xfrm>
              <a:off x="5367201" y="2290611"/>
              <a:ext cx="913606" cy="78887"/>
            </a:xfrm>
            <a:custGeom>
              <a:rect b="b" l="l" r="r" t="t"/>
              <a:pathLst>
                <a:path extrusionOk="0" h="1337" w="15484">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8" name="Google Shape;808;p1"/>
            <p:cNvSpPr/>
            <p:nvPr/>
          </p:nvSpPr>
          <p:spPr>
            <a:xfrm>
              <a:off x="5462433"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09" name="Google Shape;809;p1"/>
            <p:cNvSpPr/>
            <p:nvPr/>
          </p:nvSpPr>
          <p:spPr>
            <a:xfrm>
              <a:off x="55100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0" name="Google Shape;810;p1"/>
            <p:cNvSpPr/>
            <p:nvPr/>
          </p:nvSpPr>
          <p:spPr>
            <a:xfrm>
              <a:off x="54153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1" name="Google Shape;811;p1"/>
            <p:cNvSpPr/>
            <p:nvPr/>
          </p:nvSpPr>
          <p:spPr>
            <a:xfrm>
              <a:off x="5458597" y="2489275"/>
              <a:ext cx="556165" cy="7198"/>
            </a:xfrm>
            <a:custGeom>
              <a:rect b="b" l="l" r="r" t="t"/>
              <a:pathLst>
                <a:path extrusionOk="0" h="122" w="9426">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2" name="Google Shape;812;p1"/>
            <p:cNvSpPr/>
            <p:nvPr/>
          </p:nvSpPr>
          <p:spPr>
            <a:xfrm>
              <a:off x="5458597" y="2588932"/>
              <a:ext cx="199844" cy="7139"/>
            </a:xfrm>
            <a:custGeom>
              <a:rect b="b" l="l" r="r" t="t"/>
              <a:pathLst>
                <a:path extrusionOk="0" h="121" w="3387">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3" name="Google Shape;813;p1"/>
            <p:cNvSpPr/>
            <p:nvPr/>
          </p:nvSpPr>
          <p:spPr>
            <a:xfrm>
              <a:off x="5731192" y="2588932"/>
              <a:ext cx="240851" cy="7139"/>
            </a:xfrm>
            <a:custGeom>
              <a:rect b="b" l="l" r="r" t="t"/>
              <a:pathLst>
                <a:path extrusionOk="0" h="121" w="4082">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4" name="Google Shape;814;p1"/>
            <p:cNvSpPr/>
            <p:nvPr/>
          </p:nvSpPr>
          <p:spPr>
            <a:xfrm>
              <a:off x="5458597" y="2892150"/>
              <a:ext cx="359094" cy="6608"/>
            </a:xfrm>
            <a:custGeom>
              <a:rect b="b" l="l" r="r" t="t"/>
              <a:pathLst>
                <a:path extrusionOk="0" h="112" w="6086">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5" name="Google Shape;815;p1"/>
            <p:cNvSpPr/>
            <p:nvPr/>
          </p:nvSpPr>
          <p:spPr>
            <a:xfrm>
              <a:off x="5458597" y="2694017"/>
              <a:ext cx="561121" cy="6608"/>
            </a:xfrm>
            <a:custGeom>
              <a:rect b="b" l="l" r="r" t="t"/>
              <a:pathLst>
                <a:path extrusionOk="0" h="112" w="951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6" name="Google Shape;816;p1"/>
            <p:cNvSpPr/>
            <p:nvPr/>
          </p:nvSpPr>
          <p:spPr>
            <a:xfrm>
              <a:off x="5458597" y="2793614"/>
              <a:ext cx="182320" cy="7198"/>
            </a:xfrm>
            <a:custGeom>
              <a:rect b="b" l="l" r="r" t="t"/>
              <a:pathLst>
                <a:path extrusionOk="0" h="122" w="309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7" name="Google Shape;817;p1"/>
            <p:cNvSpPr/>
            <p:nvPr/>
          </p:nvSpPr>
          <p:spPr>
            <a:xfrm>
              <a:off x="5688474" y="2793614"/>
              <a:ext cx="326288" cy="7198"/>
            </a:xfrm>
            <a:custGeom>
              <a:rect b="b" l="l" r="r" t="t"/>
              <a:pathLst>
                <a:path extrusionOk="0" h="122" w="553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8" name="Google Shape;818;p1"/>
            <p:cNvSpPr/>
            <p:nvPr/>
          </p:nvSpPr>
          <p:spPr>
            <a:xfrm>
              <a:off x="6337628" y="2408264"/>
              <a:ext cx="409483" cy="672224"/>
            </a:xfrm>
            <a:custGeom>
              <a:rect b="b" l="l" r="r" t="t"/>
              <a:pathLst>
                <a:path extrusionOk="0" h="11393" w="694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19" name="Google Shape;819;p1"/>
            <p:cNvSpPr/>
            <p:nvPr/>
          </p:nvSpPr>
          <p:spPr>
            <a:xfrm>
              <a:off x="6334383" y="2405019"/>
              <a:ext cx="416563" cy="678773"/>
            </a:xfrm>
            <a:custGeom>
              <a:rect b="b" l="l" r="r" t="t"/>
              <a:pathLst>
                <a:path extrusionOk="0" h="11504" w="706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0" name="Google Shape;820;p1"/>
            <p:cNvSpPr/>
            <p:nvPr/>
          </p:nvSpPr>
          <p:spPr>
            <a:xfrm>
              <a:off x="6397280" y="2535829"/>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1" name="Google Shape;821;p1"/>
            <p:cNvSpPr/>
            <p:nvPr/>
          </p:nvSpPr>
          <p:spPr>
            <a:xfrm>
              <a:off x="6558772" y="2535829"/>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2" name="Google Shape;822;p1"/>
            <p:cNvSpPr/>
            <p:nvPr/>
          </p:nvSpPr>
          <p:spPr>
            <a:xfrm>
              <a:off x="6641967" y="2535829"/>
              <a:ext cx="48796" cy="7139"/>
            </a:xfrm>
            <a:custGeom>
              <a:rect b="b" l="l" r="r" t="t"/>
              <a:pathLst>
                <a:path extrusionOk="0" h="121" w="827">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3" name="Google Shape;823;p1"/>
            <p:cNvSpPr/>
            <p:nvPr/>
          </p:nvSpPr>
          <p:spPr>
            <a:xfrm>
              <a:off x="6554937" y="2625042"/>
              <a:ext cx="135825" cy="6608"/>
            </a:xfrm>
            <a:custGeom>
              <a:rect b="b" l="l" r="r" t="t"/>
              <a:pathLst>
                <a:path extrusionOk="0" h="112" w="2302">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4" name="Google Shape;824;p1"/>
            <p:cNvSpPr/>
            <p:nvPr/>
          </p:nvSpPr>
          <p:spPr>
            <a:xfrm>
              <a:off x="6476108" y="2625042"/>
              <a:ext cx="53162" cy="6608"/>
            </a:xfrm>
            <a:custGeom>
              <a:rect b="b" l="l" r="r" t="t"/>
              <a:pathLst>
                <a:path extrusionOk="0" h="112" w="901">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5" name="Google Shape;825;p1"/>
            <p:cNvSpPr/>
            <p:nvPr/>
          </p:nvSpPr>
          <p:spPr>
            <a:xfrm>
              <a:off x="6397280" y="2625042"/>
              <a:ext cx="48796" cy="6608"/>
            </a:xfrm>
            <a:custGeom>
              <a:rect b="b" l="l" r="r" t="t"/>
              <a:pathLst>
                <a:path extrusionOk="0" h="112" w="827">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6" name="Google Shape;826;p1"/>
            <p:cNvSpPr/>
            <p:nvPr/>
          </p:nvSpPr>
          <p:spPr>
            <a:xfrm>
              <a:off x="6397280" y="2580140"/>
              <a:ext cx="73459" cy="6667"/>
            </a:xfrm>
            <a:custGeom>
              <a:rect b="b" l="l" r="r" t="t"/>
              <a:pathLst>
                <a:path extrusionOk="0" h="113" w="1245">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7" name="Google Shape;827;p1"/>
            <p:cNvSpPr/>
            <p:nvPr/>
          </p:nvSpPr>
          <p:spPr>
            <a:xfrm>
              <a:off x="6491980" y="2580140"/>
              <a:ext cx="119954" cy="6667"/>
            </a:xfrm>
            <a:custGeom>
              <a:rect b="b" l="l" r="r" t="t"/>
              <a:pathLst>
                <a:path extrusionOk="0" h="113" w="2033">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8" name="Google Shape;828;p1"/>
            <p:cNvSpPr/>
            <p:nvPr/>
          </p:nvSpPr>
          <p:spPr>
            <a:xfrm>
              <a:off x="6641967" y="2580140"/>
              <a:ext cx="48796" cy="6667"/>
            </a:xfrm>
            <a:custGeom>
              <a:rect b="b" l="l" r="r" t="t"/>
              <a:pathLst>
                <a:path extrusionOk="0" h="113" w="827">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29" name="Google Shape;829;p1"/>
            <p:cNvSpPr/>
            <p:nvPr/>
          </p:nvSpPr>
          <p:spPr>
            <a:xfrm>
              <a:off x="6397280" y="2664456"/>
              <a:ext cx="135825" cy="7198"/>
            </a:xfrm>
            <a:custGeom>
              <a:rect b="b" l="l" r="r" t="t"/>
              <a:pathLst>
                <a:path extrusionOk="0" h="122" w="2302">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0" name="Google Shape;830;p1"/>
            <p:cNvSpPr/>
            <p:nvPr/>
          </p:nvSpPr>
          <p:spPr>
            <a:xfrm>
              <a:off x="6558772" y="2664456"/>
              <a:ext cx="53162" cy="7198"/>
            </a:xfrm>
            <a:custGeom>
              <a:rect b="b" l="l" r="r" t="t"/>
              <a:pathLst>
                <a:path extrusionOk="0" h="122" w="901">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1" name="Google Shape;831;p1"/>
            <p:cNvSpPr/>
            <p:nvPr/>
          </p:nvSpPr>
          <p:spPr>
            <a:xfrm>
              <a:off x="6397280" y="2806772"/>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2" name="Google Shape;832;p1"/>
            <p:cNvSpPr/>
            <p:nvPr/>
          </p:nvSpPr>
          <p:spPr>
            <a:xfrm>
              <a:off x="6558772" y="2806772"/>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3" name="Google Shape;833;p1"/>
            <p:cNvSpPr/>
            <p:nvPr/>
          </p:nvSpPr>
          <p:spPr>
            <a:xfrm>
              <a:off x="6641967" y="2664456"/>
              <a:ext cx="48796" cy="7198"/>
            </a:xfrm>
            <a:custGeom>
              <a:rect b="b" l="l" r="r" t="t"/>
              <a:pathLst>
                <a:path extrusionOk="0" h="122" w="827">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4" name="Google Shape;834;p1"/>
            <p:cNvSpPr/>
            <p:nvPr/>
          </p:nvSpPr>
          <p:spPr>
            <a:xfrm>
              <a:off x="6554937" y="2753669"/>
              <a:ext cx="135825" cy="6608"/>
            </a:xfrm>
            <a:custGeom>
              <a:rect b="b" l="l" r="r" t="t"/>
              <a:pathLst>
                <a:path extrusionOk="0" h="112" w="2302">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5" name="Google Shape;835;p1"/>
            <p:cNvSpPr/>
            <p:nvPr/>
          </p:nvSpPr>
          <p:spPr>
            <a:xfrm>
              <a:off x="6476108" y="2753669"/>
              <a:ext cx="53162" cy="6608"/>
            </a:xfrm>
            <a:custGeom>
              <a:rect b="b" l="l" r="r" t="t"/>
              <a:pathLst>
                <a:path extrusionOk="0" h="112" w="901">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6" name="Google Shape;836;p1"/>
            <p:cNvSpPr/>
            <p:nvPr/>
          </p:nvSpPr>
          <p:spPr>
            <a:xfrm>
              <a:off x="6397280" y="2753669"/>
              <a:ext cx="48796" cy="6608"/>
            </a:xfrm>
            <a:custGeom>
              <a:rect b="b" l="l" r="r" t="t"/>
              <a:pathLst>
                <a:path extrusionOk="0" h="112" w="827">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7" name="Google Shape;837;p1"/>
            <p:cNvSpPr/>
            <p:nvPr/>
          </p:nvSpPr>
          <p:spPr>
            <a:xfrm>
              <a:off x="6476108" y="2854919"/>
              <a:ext cx="53162" cy="7198"/>
            </a:xfrm>
            <a:custGeom>
              <a:rect b="b" l="l" r="r" t="t"/>
              <a:pathLst>
                <a:path extrusionOk="0" h="122" w="901">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8" name="Google Shape;838;p1"/>
            <p:cNvSpPr/>
            <p:nvPr/>
          </p:nvSpPr>
          <p:spPr>
            <a:xfrm>
              <a:off x="6397280" y="2854919"/>
              <a:ext cx="48796" cy="7198"/>
            </a:xfrm>
            <a:custGeom>
              <a:rect b="b" l="l" r="r" t="t"/>
              <a:pathLst>
                <a:path extrusionOk="0" h="122" w="827">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39" name="Google Shape;839;p1"/>
            <p:cNvSpPr/>
            <p:nvPr/>
          </p:nvSpPr>
          <p:spPr>
            <a:xfrm>
              <a:off x="6397280" y="2708236"/>
              <a:ext cx="73459" cy="7198"/>
            </a:xfrm>
            <a:custGeom>
              <a:rect b="b" l="l" r="r" t="t"/>
              <a:pathLst>
                <a:path extrusionOk="0" h="122" w="1245">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0" name="Google Shape;840;p1"/>
            <p:cNvSpPr/>
            <p:nvPr/>
          </p:nvSpPr>
          <p:spPr>
            <a:xfrm>
              <a:off x="6491980" y="2708236"/>
              <a:ext cx="119954" cy="7198"/>
            </a:xfrm>
            <a:custGeom>
              <a:rect b="b" l="l" r="r" t="t"/>
              <a:pathLst>
                <a:path extrusionOk="0" h="122" w="2033">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1" name="Google Shape;841;p1"/>
            <p:cNvSpPr/>
            <p:nvPr/>
          </p:nvSpPr>
          <p:spPr>
            <a:xfrm>
              <a:off x="6641967" y="2708236"/>
              <a:ext cx="48796" cy="7198"/>
            </a:xfrm>
            <a:custGeom>
              <a:rect b="b" l="l" r="r" t="t"/>
              <a:pathLst>
                <a:path extrusionOk="0" h="122" w="827">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2" name="Google Shape;842;p1"/>
            <p:cNvSpPr/>
            <p:nvPr/>
          </p:nvSpPr>
          <p:spPr>
            <a:xfrm>
              <a:off x="6396218" y="2902534"/>
              <a:ext cx="119895" cy="6667"/>
            </a:xfrm>
            <a:custGeom>
              <a:rect b="b" l="l" r="r" t="t"/>
              <a:pathLst>
                <a:path extrusionOk="0" h="113" w="2032">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3" name="Google Shape;843;p1"/>
            <p:cNvSpPr/>
            <p:nvPr/>
          </p:nvSpPr>
          <p:spPr>
            <a:xfrm>
              <a:off x="6396218" y="2946905"/>
              <a:ext cx="49327" cy="6608"/>
            </a:xfrm>
            <a:custGeom>
              <a:rect b="b" l="l" r="r" t="t"/>
              <a:pathLst>
                <a:path extrusionOk="0" h="112" w="836">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4" name="Google Shape;844;p1"/>
            <p:cNvSpPr/>
            <p:nvPr/>
          </p:nvSpPr>
          <p:spPr>
            <a:xfrm>
              <a:off x="5656730" y="2411037"/>
              <a:ext cx="707803" cy="605963"/>
            </a:xfrm>
            <a:custGeom>
              <a:rect b="b" l="l" r="r" t="t"/>
              <a:pathLst>
                <a:path extrusionOk="0" h="10270" w="11996">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5" name="Google Shape;845;p1"/>
            <p:cNvSpPr/>
            <p:nvPr/>
          </p:nvSpPr>
          <p:spPr>
            <a:xfrm>
              <a:off x="5695023" y="2385312"/>
              <a:ext cx="707272" cy="605432"/>
            </a:xfrm>
            <a:custGeom>
              <a:rect b="b" l="l" r="r" t="t"/>
              <a:pathLst>
                <a:path extrusionOk="0" h="10261" w="11987">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6" name="Google Shape;846;p1"/>
            <p:cNvSpPr/>
            <p:nvPr/>
          </p:nvSpPr>
          <p:spPr>
            <a:xfrm>
              <a:off x="5691778" y="2382007"/>
              <a:ext cx="714352" cy="611982"/>
            </a:xfrm>
            <a:custGeom>
              <a:rect b="b" l="l" r="r" t="t"/>
              <a:pathLst>
                <a:path extrusionOk="0" h="10372" w="12107">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7" name="Google Shape;847;p1"/>
            <p:cNvSpPr/>
            <p:nvPr/>
          </p:nvSpPr>
          <p:spPr>
            <a:xfrm>
              <a:off x="5647408" y="1634318"/>
              <a:ext cx="784979" cy="105144"/>
            </a:xfrm>
            <a:custGeom>
              <a:rect b="b" l="l" r="r" t="t"/>
              <a:pathLst>
                <a:path extrusionOk="0" h="1782" w="13304">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8" name="Google Shape;848;p1"/>
            <p:cNvSpPr/>
            <p:nvPr/>
          </p:nvSpPr>
          <p:spPr>
            <a:xfrm>
              <a:off x="5644163" y="1630483"/>
              <a:ext cx="791529" cy="112283"/>
            </a:xfrm>
            <a:custGeom>
              <a:rect b="b" l="l" r="r" t="t"/>
              <a:pathLst>
                <a:path extrusionOk="0" h="1903" w="13415">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49" name="Google Shape;849;p1"/>
            <p:cNvSpPr/>
            <p:nvPr/>
          </p:nvSpPr>
          <p:spPr>
            <a:xfrm>
              <a:off x="5783174" y="1797993"/>
              <a:ext cx="513505" cy="61363"/>
            </a:xfrm>
            <a:custGeom>
              <a:rect b="b" l="l" r="r" t="t"/>
              <a:pathLst>
                <a:path extrusionOk="0" h="1040" w="8703">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0" name="Google Shape;850;p1"/>
            <p:cNvSpPr/>
            <p:nvPr/>
          </p:nvSpPr>
          <p:spPr>
            <a:xfrm>
              <a:off x="5779870" y="1794689"/>
              <a:ext cx="520055" cy="67972"/>
            </a:xfrm>
            <a:custGeom>
              <a:rect b="b" l="l" r="r" t="t"/>
              <a:pathLst>
                <a:path extrusionOk="0" h="1152" w="8814">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1" name="Google Shape;851;p1"/>
            <p:cNvSpPr/>
            <p:nvPr/>
          </p:nvSpPr>
          <p:spPr>
            <a:xfrm>
              <a:off x="5918351" y="1908565"/>
              <a:ext cx="243093" cy="75052"/>
            </a:xfrm>
            <a:custGeom>
              <a:rect b="b" l="l" r="r" t="t"/>
              <a:pathLst>
                <a:path extrusionOk="0" h="1272" w="412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2" name="Google Shape;852;p1"/>
            <p:cNvSpPr/>
            <p:nvPr/>
          </p:nvSpPr>
          <p:spPr>
            <a:xfrm>
              <a:off x="5915106" y="1904730"/>
              <a:ext cx="249643" cy="82133"/>
            </a:xfrm>
            <a:custGeom>
              <a:rect b="b" l="l" r="r" t="t"/>
              <a:pathLst>
                <a:path extrusionOk="0" h="1392" w="4231">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3" name="Google Shape;853;p1"/>
            <p:cNvSpPr/>
            <p:nvPr/>
          </p:nvSpPr>
          <p:spPr>
            <a:xfrm>
              <a:off x="5656199" y="1614611"/>
              <a:ext cx="784979" cy="105144"/>
            </a:xfrm>
            <a:custGeom>
              <a:rect b="b" l="l" r="r" t="t"/>
              <a:pathLst>
                <a:path extrusionOk="0" h="1782" w="13304">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4" name="Google Shape;854;p1"/>
            <p:cNvSpPr/>
            <p:nvPr/>
          </p:nvSpPr>
          <p:spPr>
            <a:xfrm>
              <a:off x="5652895" y="1611366"/>
              <a:ext cx="792119" cy="112224"/>
            </a:xfrm>
            <a:custGeom>
              <a:rect b="b" l="l" r="r" t="t"/>
              <a:pathLst>
                <a:path extrusionOk="0" h="1902" w="13425">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5" name="Google Shape;855;p1"/>
            <p:cNvSpPr/>
            <p:nvPr/>
          </p:nvSpPr>
          <p:spPr>
            <a:xfrm>
              <a:off x="5742698" y="1644172"/>
              <a:ext cx="607615" cy="42246"/>
            </a:xfrm>
            <a:custGeom>
              <a:rect b="b" l="l" r="r" t="t"/>
              <a:pathLst>
                <a:path extrusionOk="0" h="716" w="10298">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6" name="Google Shape;856;p1"/>
            <p:cNvSpPr/>
            <p:nvPr/>
          </p:nvSpPr>
          <p:spPr>
            <a:xfrm>
              <a:off x="5792497" y="1778817"/>
              <a:ext cx="512909" cy="61363"/>
            </a:xfrm>
            <a:custGeom>
              <a:rect b="b" l="l" r="r" t="t"/>
              <a:pathLst>
                <a:path extrusionOk="0" h="1040" w="8693">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7" name="Google Shape;857;p1"/>
            <p:cNvSpPr/>
            <p:nvPr/>
          </p:nvSpPr>
          <p:spPr>
            <a:xfrm>
              <a:off x="5788662" y="1775572"/>
              <a:ext cx="520055" cy="67913"/>
            </a:xfrm>
            <a:custGeom>
              <a:rect b="b" l="l" r="r" t="t"/>
              <a:pathLst>
                <a:path extrusionOk="0" h="1151" w="8814">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8" name="Google Shape;858;p1"/>
            <p:cNvSpPr/>
            <p:nvPr/>
          </p:nvSpPr>
          <p:spPr>
            <a:xfrm>
              <a:off x="5896460" y="1795810"/>
              <a:ext cx="27436" cy="27436"/>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59" name="Google Shape;859;p1"/>
            <p:cNvSpPr/>
            <p:nvPr/>
          </p:nvSpPr>
          <p:spPr>
            <a:xfrm>
              <a:off x="5953399" y="1795810"/>
              <a:ext cx="27437" cy="27437"/>
            </a:xfrm>
            <a:custGeom>
              <a:rect b="b" l="l" r="r" t="t"/>
              <a:pathLst>
                <a:path extrusionOk="0" h="465" w="465">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0" name="Google Shape;860;p1"/>
            <p:cNvSpPr/>
            <p:nvPr/>
          </p:nvSpPr>
          <p:spPr>
            <a:xfrm>
              <a:off x="6006502" y="1795810"/>
              <a:ext cx="27437" cy="27437"/>
            </a:xfrm>
            <a:custGeom>
              <a:rect b="b" l="l" r="r" t="t"/>
              <a:pathLst>
                <a:path extrusionOk="0" h="465" w="465">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1" name="Google Shape;861;p1"/>
            <p:cNvSpPr/>
            <p:nvPr/>
          </p:nvSpPr>
          <p:spPr>
            <a:xfrm>
              <a:off x="6063440" y="1795810"/>
              <a:ext cx="27378" cy="27437"/>
            </a:xfrm>
            <a:custGeom>
              <a:rect b="b" l="l" r="r" t="t"/>
              <a:pathLst>
                <a:path extrusionOk="0" h="465" w="464">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2" name="Google Shape;862;p1"/>
            <p:cNvSpPr/>
            <p:nvPr/>
          </p:nvSpPr>
          <p:spPr>
            <a:xfrm>
              <a:off x="6118136" y="1795810"/>
              <a:ext cx="27437" cy="27437"/>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3" name="Google Shape;863;p1"/>
            <p:cNvSpPr/>
            <p:nvPr/>
          </p:nvSpPr>
          <p:spPr>
            <a:xfrm>
              <a:off x="6175074" y="1795810"/>
              <a:ext cx="27437" cy="27437"/>
            </a:xfrm>
            <a:custGeom>
              <a:rect b="b" l="l" r="r" t="t"/>
              <a:pathLst>
                <a:path extrusionOk="0" h="465" w="465">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4" name="Google Shape;864;p1"/>
            <p:cNvSpPr/>
            <p:nvPr/>
          </p:nvSpPr>
          <p:spPr>
            <a:xfrm>
              <a:off x="5860882" y="1237521"/>
              <a:ext cx="328471" cy="329002"/>
            </a:xfrm>
            <a:custGeom>
              <a:rect b="b" l="l" r="r" t="t"/>
              <a:pathLst>
                <a:path extrusionOk="0" h="5576" w="5567">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5" name="Google Shape;865;p1"/>
            <p:cNvSpPr/>
            <p:nvPr/>
          </p:nvSpPr>
          <p:spPr>
            <a:xfrm>
              <a:off x="5857046" y="1234217"/>
              <a:ext cx="335610" cy="335610"/>
            </a:xfrm>
            <a:custGeom>
              <a:rect b="b" l="l" r="r" t="t"/>
              <a:pathLst>
                <a:path extrusionOk="0" h="5688" w="5688">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6" name="Google Shape;866;p1"/>
            <p:cNvSpPr/>
            <p:nvPr/>
          </p:nvSpPr>
          <p:spPr>
            <a:xfrm>
              <a:off x="5884424" y="1216693"/>
              <a:ext cx="329002" cy="329002"/>
            </a:xfrm>
            <a:custGeom>
              <a:rect b="b" l="l" r="r" t="t"/>
              <a:pathLst>
                <a:path extrusionOk="0" h="5576" w="5576">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7" name="Google Shape;867;p1"/>
            <p:cNvSpPr/>
            <p:nvPr/>
          </p:nvSpPr>
          <p:spPr>
            <a:xfrm>
              <a:off x="5881179" y="1213448"/>
              <a:ext cx="335551" cy="335551"/>
            </a:xfrm>
            <a:custGeom>
              <a:rect b="b" l="l" r="r" t="t"/>
              <a:pathLst>
                <a:path extrusionOk="0" h="5687" w="5687">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8" name="Google Shape;868;p1"/>
            <p:cNvSpPr/>
            <p:nvPr/>
          </p:nvSpPr>
          <p:spPr>
            <a:xfrm>
              <a:off x="5975820" y="1391284"/>
              <a:ext cx="146210" cy="73105"/>
            </a:xfrm>
            <a:custGeom>
              <a:rect b="b" l="l" r="r" t="t"/>
              <a:pathLst>
                <a:path extrusionOk="0" h="1239" w="2478">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69" name="Google Shape;869;p1"/>
            <p:cNvSpPr/>
            <p:nvPr/>
          </p:nvSpPr>
          <p:spPr>
            <a:xfrm>
              <a:off x="5972575" y="1387508"/>
              <a:ext cx="152759" cy="80480"/>
            </a:xfrm>
            <a:custGeom>
              <a:rect b="b" l="l" r="r" t="t"/>
              <a:pathLst>
                <a:path extrusionOk="0" h="1364" w="2589">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0" name="Google Shape;870;p1"/>
            <p:cNvSpPr/>
            <p:nvPr/>
          </p:nvSpPr>
          <p:spPr>
            <a:xfrm>
              <a:off x="6007564" y="1298236"/>
              <a:ext cx="83254" cy="82723"/>
            </a:xfrm>
            <a:custGeom>
              <a:rect b="b" l="l" r="r" t="t"/>
              <a:pathLst>
                <a:path extrusionOk="0" h="1402" w="1411">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1" name="Google Shape;871;p1"/>
            <p:cNvSpPr/>
            <p:nvPr/>
          </p:nvSpPr>
          <p:spPr>
            <a:xfrm>
              <a:off x="6004318" y="1294401"/>
              <a:ext cx="89803" cy="89862"/>
            </a:xfrm>
            <a:custGeom>
              <a:rect b="b" l="l" r="r" t="t"/>
              <a:pathLst>
                <a:path extrusionOk="0" h="1523" w="1522">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2" name="Google Shape;872;p1"/>
            <p:cNvSpPr/>
            <p:nvPr/>
          </p:nvSpPr>
          <p:spPr>
            <a:xfrm>
              <a:off x="5927673" y="1888858"/>
              <a:ext cx="242562" cy="75583"/>
            </a:xfrm>
            <a:custGeom>
              <a:rect b="b" l="l" r="r" t="t"/>
              <a:pathLst>
                <a:path extrusionOk="0" h="1281" w="4111">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3" name="Google Shape;873;p1"/>
            <p:cNvSpPr/>
            <p:nvPr/>
          </p:nvSpPr>
          <p:spPr>
            <a:xfrm>
              <a:off x="5924369" y="1885554"/>
              <a:ext cx="249112" cy="82192"/>
            </a:xfrm>
            <a:custGeom>
              <a:rect b="b" l="l" r="r" t="t"/>
              <a:pathLst>
                <a:path extrusionOk="0" h="1393" w="4222">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4" name="Google Shape;874;p1"/>
            <p:cNvSpPr/>
            <p:nvPr/>
          </p:nvSpPr>
          <p:spPr>
            <a:xfrm>
              <a:off x="5808369" y="2463550"/>
              <a:ext cx="490494" cy="488842"/>
            </a:xfrm>
            <a:custGeom>
              <a:rect b="b" l="l" r="r" t="t"/>
              <a:pathLst>
                <a:path extrusionOk="0" h="8285" w="8313">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5" name="Google Shape;875;p1"/>
            <p:cNvSpPr/>
            <p:nvPr/>
          </p:nvSpPr>
          <p:spPr>
            <a:xfrm>
              <a:off x="5807248" y="2460305"/>
              <a:ext cx="492677" cy="495922"/>
            </a:xfrm>
            <a:custGeom>
              <a:rect b="b" l="l" r="r" t="t"/>
              <a:pathLst>
                <a:path extrusionOk="0" h="8405" w="835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6" name="Google Shape;876;p1"/>
            <p:cNvSpPr/>
            <p:nvPr/>
          </p:nvSpPr>
          <p:spPr>
            <a:xfrm>
              <a:off x="5808369" y="2421422"/>
              <a:ext cx="490494" cy="489373"/>
            </a:xfrm>
            <a:custGeom>
              <a:rect b="b" l="l" r="r" t="t"/>
              <a:pathLst>
                <a:path extrusionOk="0" h="8294" w="8313">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77" name="Google Shape;877;p1"/>
            <p:cNvSpPr/>
            <p:nvPr/>
          </p:nvSpPr>
          <p:spPr>
            <a:xfrm>
              <a:off x="5807248" y="2418117"/>
              <a:ext cx="492677" cy="495981"/>
            </a:xfrm>
            <a:custGeom>
              <a:rect b="b" l="l" r="r" t="t"/>
              <a:pathLst>
                <a:path extrusionOk="0" h="8406" w="835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grpSp>
          <p:nvGrpSpPr>
            <p:cNvPr id="878" name="Google Shape;878;p1"/>
            <p:cNvGrpSpPr/>
            <p:nvPr/>
          </p:nvGrpSpPr>
          <p:grpSpPr>
            <a:xfrm>
              <a:off x="5968208" y="2549518"/>
              <a:ext cx="174119" cy="231588"/>
              <a:chOff x="4803668" y="3224977"/>
              <a:chExt cx="98578" cy="131115"/>
            </a:xfrm>
          </p:grpSpPr>
          <p:sp>
            <p:nvSpPr>
              <p:cNvPr id="879" name="Google Shape;879;p1"/>
              <p:cNvSpPr/>
              <p:nvPr/>
            </p:nvSpPr>
            <p:spPr>
              <a:xfrm>
                <a:off x="4821006" y="3226815"/>
                <a:ext cx="63870" cy="47769"/>
              </a:xfrm>
              <a:custGeom>
                <a:rect b="b" l="l" r="r" t="t"/>
                <a:pathLst>
                  <a:path extrusionOk="0" h="1430" w="1912">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80" name="Google Shape;880;p1"/>
              <p:cNvSpPr/>
              <p:nvPr/>
            </p:nvSpPr>
            <p:spPr>
              <a:xfrm>
                <a:off x="4818834" y="3224977"/>
                <a:ext cx="67912" cy="51477"/>
              </a:xfrm>
              <a:custGeom>
                <a:rect b="b" l="l" r="r" t="t"/>
                <a:pathLst>
                  <a:path extrusionOk="0" h="1541" w="2033">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81" name="Google Shape;881;p1"/>
              <p:cNvSpPr/>
              <p:nvPr/>
            </p:nvSpPr>
            <p:spPr>
              <a:xfrm>
                <a:off x="4805506" y="3274550"/>
                <a:ext cx="94870" cy="79671"/>
              </a:xfrm>
              <a:custGeom>
                <a:rect b="b" l="l" r="r" t="t"/>
                <a:pathLst>
                  <a:path extrusionOk="0" h="2385" w="284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82" name="Google Shape;882;p1"/>
              <p:cNvSpPr/>
              <p:nvPr/>
            </p:nvSpPr>
            <p:spPr>
              <a:xfrm>
                <a:off x="4803668" y="3272680"/>
                <a:ext cx="98578" cy="83412"/>
              </a:xfrm>
              <a:custGeom>
                <a:rect b="b" l="l" r="r" t="t"/>
                <a:pathLst>
                  <a:path extrusionOk="0" h="2497" w="2951">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883" name="Google Shape;883;p1"/>
              <p:cNvSpPr/>
              <p:nvPr/>
            </p:nvSpPr>
            <p:spPr>
              <a:xfrm>
                <a:off x="4842084" y="3295930"/>
                <a:ext cx="21413" cy="36913"/>
              </a:xfrm>
              <a:custGeom>
                <a:rect b="b" l="l" r="r" t="t"/>
                <a:pathLst>
                  <a:path extrusionOk="0" h="1105" w="641">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2"/>
          <p:cNvSpPr txBox="1"/>
          <p:nvPr>
            <p:ph idx="1" type="subTitle"/>
          </p:nvPr>
        </p:nvSpPr>
        <p:spPr>
          <a:xfrm>
            <a:off x="720000" y="2286108"/>
            <a:ext cx="2036549" cy="7350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Sora"/>
              <a:buNone/>
            </a:pPr>
            <a:r>
              <a:rPr b="0" lang="en-US" sz="1600"/>
              <a:t>SOWMYA SREE BHAGYAM</a:t>
            </a:r>
            <a:endParaRPr sz="1600"/>
          </a:p>
        </p:txBody>
      </p:sp>
      <p:sp>
        <p:nvSpPr>
          <p:cNvPr id="889" name="Google Shape;889;p2"/>
          <p:cNvSpPr txBox="1"/>
          <p:nvPr>
            <p:ph idx="7" type="subTitle"/>
          </p:nvPr>
        </p:nvSpPr>
        <p:spPr>
          <a:xfrm>
            <a:off x="3303853" y="2286108"/>
            <a:ext cx="2022359" cy="7350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Sora"/>
              <a:buNone/>
            </a:pPr>
            <a:r>
              <a:rPr b="0" lang="en-US" sz="1600"/>
              <a:t>ZAHEEN ANSAR</a:t>
            </a:r>
            <a:endParaRPr sz="1600"/>
          </a:p>
        </p:txBody>
      </p:sp>
      <p:sp>
        <p:nvSpPr>
          <p:cNvPr id="890" name="Google Shape;890;p2"/>
          <p:cNvSpPr txBox="1"/>
          <p:nvPr>
            <p:ph idx="8" type="subTitle"/>
          </p:nvPr>
        </p:nvSpPr>
        <p:spPr>
          <a:xfrm>
            <a:off x="6080425" y="2286108"/>
            <a:ext cx="1805729" cy="7350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Sora"/>
              <a:buNone/>
            </a:pPr>
            <a:r>
              <a:rPr b="0" lang="en-US" sz="1600"/>
              <a:t>MOIN AHMED ZAHIR</a:t>
            </a:r>
            <a:endParaRPr sz="1600"/>
          </a:p>
        </p:txBody>
      </p:sp>
      <p:sp>
        <p:nvSpPr>
          <p:cNvPr id="891" name="Google Shape;891;p2"/>
          <p:cNvSpPr txBox="1"/>
          <p:nvPr>
            <p:ph idx="9" type="subTitle"/>
          </p:nvPr>
        </p:nvSpPr>
        <p:spPr>
          <a:xfrm>
            <a:off x="941324" y="3166563"/>
            <a:ext cx="1593900" cy="519324"/>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Sora"/>
              <a:buNone/>
            </a:pPr>
            <a:r>
              <a:rPr lang="en-US"/>
              <a:t>01291648</a:t>
            </a:r>
            <a:endParaRPr/>
          </a:p>
        </p:txBody>
      </p:sp>
      <p:sp>
        <p:nvSpPr>
          <p:cNvPr id="892" name="Google Shape;892;p2"/>
          <p:cNvSpPr txBox="1"/>
          <p:nvPr>
            <p:ph idx="13" type="subTitle"/>
          </p:nvPr>
        </p:nvSpPr>
        <p:spPr>
          <a:xfrm>
            <a:off x="3517888" y="3159888"/>
            <a:ext cx="1593900" cy="532673"/>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Sora"/>
              <a:buNone/>
            </a:pPr>
            <a:r>
              <a:rPr lang="en-US"/>
              <a:t>01298069</a:t>
            </a:r>
            <a:endParaRPr/>
          </a:p>
        </p:txBody>
      </p:sp>
      <p:sp>
        <p:nvSpPr>
          <p:cNvPr id="893" name="Google Shape;893;p2"/>
          <p:cNvSpPr txBox="1"/>
          <p:nvPr>
            <p:ph idx="14" type="subTitle"/>
          </p:nvPr>
        </p:nvSpPr>
        <p:spPr>
          <a:xfrm>
            <a:off x="6207345" y="3141454"/>
            <a:ext cx="1593900" cy="592743"/>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2400"/>
              <a:buFont typeface="Sora"/>
              <a:buNone/>
            </a:pPr>
            <a:r>
              <a:rPr lang="en-US"/>
              <a:t>01292798</a:t>
            </a:r>
            <a:endParaRPr/>
          </a:p>
        </p:txBody>
      </p:sp>
      <p:sp>
        <p:nvSpPr>
          <p:cNvPr id="894" name="Google Shape;894;p2"/>
          <p:cNvSpPr txBox="1"/>
          <p:nvPr>
            <p:ph idx="15" type="title"/>
          </p:nvPr>
        </p:nvSpPr>
        <p:spPr>
          <a:xfrm>
            <a:off x="720000" y="541675"/>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Team Members</a:t>
            </a:r>
            <a:endParaRPr>
              <a:latin typeface="Times New Roman"/>
              <a:ea typeface="Times New Roman"/>
              <a:cs typeface="Times New Roman"/>
              <a:sym typeface="Times New Roman"/>
            </a:endParaRPr>
          </a:p>
        </p:txBody>
      </p:sp>
      <p:grpSp>
        <p:nvGrpSpPr>
          <p:cNvPr id="895" name="Google Shape;895;p2"/>
          <p:cNvGrpSpPr/>
          <p:nvPr/>
        </p:nvGrpSpPr>
        <p:grpSpPr>
          <a:xfrm>
            <a:off x="3998437" y="1478111"/>
            <a:ext cx="633633" cy="662124"/>
            <a:chOff x="5310611" y="1502972"/>
            <a:chExt cx="339515" cy="354781"/>
          </a:xfrm>
        </p:grpSpPr>
        <p:sp>
          <p:nvSpPr>
            <p:cNvPr id="896" name="Google Shape;896;p2"/>
            <p:cNvSpPr/>
            <p:nvPr/>
          </p:nvSpPr>
          <p:spPr>
            <a:xfrm>
              <a:off x="5310611" y="1502972"/>
              <a:ext cx="339515" cy="343285"/>
            </a:xfrm>
            <a:custGeom>
              <a:rect b="b" l="l" r="r" t="t"/>
              <a:pathLst>
                <a:path extrusionOk="0" h="13110" w="12966">
                  <a:moveTo>
                    <a:pt x="5684" y="1"/>
                  </a:moveTo>
                  <a:cubicBezTo>
                    <a:pt x="5669" y="1"/>
                    <a:pt x="5654" y="1"/>
                    <a:pt x="5639" y="2"/>
                  </a:cubicBezTo>
                  <a:cubicBezTo>
                    <a:pt x="4656" y="2"/>
                    <a:pt x="2672" y="956"/>
                    <a:pt x="2453" y="2788"/>
                  </a:cubicBezTo>
                  <a:cubicBezTo>
                    <a:pt x="2329" y="3875"/>
                    <a:pt x="1909" y="4009"/>
                    <a:pt x="1670" y="4772"/>
                  </a:cubicBezTo>
                  <a:cubicBezTo>
                    <a:pt x="1422" y="5592"/>
                    <a:pt x="1642" y="6098"/>
                    <a:pt x="1432" y="6842"/>
                  </a:cubicBezTo>
                  <a:cubicBezTo>
                    <a:pt x="1222" y="7586"/>
                    <a:pt x="802" y="7796"/>
                    <a:pt x="821" y="9055"/>
                  </a:cubicBezTo>
                  <a:cubicBezTo>
                    <a:pt x="840" y="10505"/>
                    <a:pt x="1" y="10839"/>
                    <a:pt x="325" y="11793"/>
                  </a:cubicBezTo>
                  <a:cubicBezTo>
                    <a:pt x="573" y="12509"/>
                    <a:pt x="1890" y="13110"/>
                    <a:pt x="1890" y="13110"/>
                  </a:cubicBezTo>
                  <a:lnTo>
                    <a:pt x="11067" y="13110"/>
                  </a:lnTo>
                  <a:cubicBezTo>
                    <a:pt x="11067" y="13110"/>
                    <a:pt x="12393" y="12509"/>
                    <a:pt x="12632" y="11793"/>
                  </a:cubicBezTo>
                  <a:cubicBezTo>
                    <a:pt x="12966" y="10839"/>
                    <a:pt x="12117" y="10515"/>
                    <a:pt x="12145" y="9055"/>
                  </a:cubicBezTo>
                  <a:cubicBezTo>
                    <a:pt x="12164" y="7796"/>
                    <a:pt x="11745" y="7577"/>
                    <a:pt x="11535" y="6842"/>
                  </a:cubicBezTo>
                  <a:cubicBezTo>
                    <a:pt x="11325" y="6098"/>
                    <a:pt x="11535" y="5592"/>
                    <a:pt x="11287" y="4772"/>
                  </a:cubicBezTo>
                  <a:cubicBezTo>
                    <a:pt x="11058" y="4009"/>
                    <a:pt x="10638" y="3875"/>
                    <a:pt x="10504" y="2788"/>
                  </a:cubicBezTo>
                  <a:cubicBezTo>
                    <a:pt x="10285" y="956"/>
                    <a:pt x="8301" y="2"/>
                    <a:pt x="7318" y="2"/>
                  </a:cubicBezTo>
                  <a:cubicBezTo>
                    <a:pt x="7303" y="1"/>
                    <a:pt x="7288" y="1"/>
                    <a:pt x="7273" y="1"/>
                  </a:cubicBezTo>
                  <a:cubicBezTo>
                    <a:pt x="7078" y="1"/>
                    <a:pt x="6886" y="58"/>
                    <a:pt x="6727" y="164"/>
                  </a:cubicBezTo>
                  <a:cubicBezTo>
                    <a:pt x="6650" y="212"/>
                    <a:pt x="6564" y="236"/>
                    <a:pt x="6480" y="236"/>
                  </a:cubicBezTo>
                  <a:cubicBezTo>
                    <a:pt x="6395" y="236"/>
                    <a:pt x="6312" y="212"/>
                    <a:pt x="6240" y="164"/>
                  </a:cubicBezTo>
                  <a:cubicBezTo>
                    <a:pt x="6072" y="58"/>
                    <a:pt x="5879" y="1"/>
                    <a:pt x="5684" y="1"/>
                  </a:cubicBezTo>
                  <a:close/>
                </a:path>
              </a:pathLst>
            </a:custGeom>
            <a:solidFill>
              <a:srgbClr val="576D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7" name="Google Shape;897;p2"/>
            <p:cNvSpPr/>
            <p:nvPr/>
          </p:nvSpPr>
          <p:spPr>
            <a:xfrm>
              <a:off x="5310611" y="1502972"/>
              <a:ext cx="169914" cy="343285"/>
            </a:xfrm>
            <a:custGeom>
              <a:rect b="b" l="l" r="r" t="t"/>
              <a:pathLst>
                <a:path extrusionOk="0" h="13110" w="6489">
                  <a:moveTo>
                    <a:pt x="5694" y="1"/>
                  </a:moveTo>
                  <a:cubicBezTo>
                    <a:pt x="5679" y="1"/>
                    <a:pt x="5664" y="1"/>
                    <a:pt x="5649" y="2"/>
                  </a:cubicBezTo>
                  <a:cubicBezTo>
                    <a:pt x="4666" y="2"/>
                    <a:pt x="2682" y="956"/>
                    <a:pt x="2462" y="2788"/>
                  </a:cubicBezTo>
                  <a:cubicBezTo>
                    <a:pt x="2329" y="3875"/>
                    <a:pt x="1909" y="4009"/>
                    <a:pt x="1680" y="4772"/>
                  </a:cubicBezTo>
                  <a:cubicBezTo>
                    <a:pt x="1432" y="5592"/>
                    <a:pt x="1642" y="6098"/>
                    <a:pt x="1432" y="6842"/>
                  </a:cubicBezTo>
                  <a:cubicBezTo>
                    <a:pt x="1222" y="7586"/>
                    <a:pt x="802" y="7796"/>
                    <a:pt x="821" y="9055"/>
                  </a:cubicBezTo>
                  <a:cubicBezTo>
                    <a:pt x="850" y="10505"/>
                    <a:pt x="1" y="10839"/>
                    <a:pt x="335" y="11793"/>
                  </a:cubicBezTo>
                  <a:cubicBezTo>
                    <a:pt x="573" y="12509"/>
                    <a:pt x="1899" y="13110"/>
                    <a:pt x="1899" y="13110"/>
                  </a:cubicBezTo>
                  <a:lnTo>
                    <a:pt x="6488" y="13110"/>
                  </a:lnTo>
                  <a:lnTo>
                    <a:pt x="6479" y="231"/>
                  </a:lnTo>
                  <a:cubicBezTo>
                    <a:pt x="6393" y="231"/>
                    <a:pt x="6316" y="212"/>
                    <a:pt x="6240" y="164"/>
                  </a:cubicBezTo>
                  <a:cubicBezTo>
                    <a:pt x="6072" y="58"/>
                    <a:pt x="5887" y="1"/>
                    <a:pt x="5694" y="1"/>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8" name="Google Shape;898;p2"/>
            <p:cNvSpPr/>
            <p:nvPr/>
          </p:nvSpPr>
          <p:spPr>
            <a:xfrm>
              <a:off x="5348841" y="1709101"/>
              <a:ext cx="263081" cy="148652"/>
            </a:xfrm>
            <a:custGeom>
              <a:rect b="b" l="l" r="r" t="t"/>
              <a:pathLst>
                <a:path extrusionOk="0" h="5677" w="10047">
                  <a:moveTo>
                    <a:pt x="3712" y="0"/>
                  </a:moveTo>
                  <a:lnTo>
                    <a:pt x="3712" y="1126"/>
                  </a:lnTo>
                  <a:cubicBezTo>
                    <a:pt x="3712" y="1498"/>
                    <a:pt x="3473" y="1822"/>
                    <a:pt x="3130" y="1946"/>
                  </a:cubicBezTo>
                  <a:lnTo>
                    <a:pt x="869" y="2748"/>
                  </a:lnTo>
                  <a:cubicBezTo>
                    <a:pt x="344" y="2929"/>
                    <a:pt x="1" y="3425"/>
                    <a:pt x="1" y="3978"/>
                  </a:cubicBezTo>
                  <a:lnTo>
                    <a:pt x="1" y="5028"/>
                  </a:lnTo>
                  <a:cubicBezTo>
                    <a:pt x="1" y="5381"/>
                    <a:pt x="287" y="5677"/>
                    <a:pt x="649" y="5677"/>
                  </a:cubicBezTo>
                  <a:lnTo>
                    <a:pt x="9388" y="5677"/>
                  </a:lnTo>
                  <a:cubicBezTo>
                    <a:pt x="9750" y="5677"/>
                    <a:pt x="10046" y="5381"/>
                    <a:pt x="10046" y="5028"/>
                  </a:cubicBezTo>
                  <a:lnTo>
                    <a:pt x="10046" y="3988"/>
                  </a:lnTo>
                  <a:cubicBezTo>
                    <a:pt x="10046" y="3425"/>
                    <a:pt x="9693" y="2929"/>
                    <a:pt x="9178" y="2748"/>
                  </a:cubicBezTo>
                  <a:lnTo>
                    <a:pt x="6917" y="1946"/>
                  </a:lnTo>
                  <a:cubicBezTo>
                    <a:pt x="6564" y="1822"/>
                    <a:pt x="6335" y="1498"/>
                    <a:pt x="6335" y="1126"/>
                  </a:cubicBezTo>
                  <a:lnTo>
                    <a:pt x="6335" y="0"/>
                  </a:lnTo>
                  <a:close/>
                </a:path>
              </a:pathLst>
            </a:custGeom>
            <a:solidFill>
              <a:srgbClr val="DAE2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9" name="Google Shape;899;p2"/>
            <p:cNvSpPr/>
            <p:nvPr/>
          </p:nvSpPr>
          <p:spPr>
            <a:xfrm>
              <a:off x="5348841" y="1767048"/>
              <a:ext cx="263081" cy="90705"/>
            </a:xfrm>
            <a:custGeom>
              <a:rect b="b" l="l" r="r" t="t"/>
              <a:pathLst>
                <a:path extrusionOk="0" h="3464" w="10047">
                  <a:moveTo>
                    <a:pt x="2376" y="1"/>
                  </a:moveTo>
                  <a:lnTo>
                    <a:pt x="878" y="535"/>
                  </a:lnTo>
                  <a:cubicBezTo>
                    <a:pt x="354" y="716"/>
                    <a:pt x="1" y="1212"/>
                    <a:pt x="1" y="1765"/>
                  </a:cubicBezTo>
                  <a:lnTo>
                    <a:pt x="1" y="2815"/>
                  </a:lnTo>
                  <a:cubicBezTo>
                    <a:pt x="1" y="3168"/>
                    <a:pt x="296" y="3464"/>
                    <a:pt x="659" y="3464"/>
                  </a:cubicBezTo>
                  <a:lnTo>
                    <a:pt x="9397" y="3464"/>
                  </a:lnTo>
                  <a:cubicBezTo>
                    <a:pt x="9760" y="3464"/>
                    <a:pt x="10046" y="3168"/>
                    <a:pt x="10046" y="2815"/>
                  </a:cubicBezTo>
                  <a:lnTo>
                    <a:pt x="10046" y="1775"/>
                  </a:lnTo>
                  <a:cubicBezTo>
                    <a:pt x="10046" y="1212"/>
                    <a:pt x="9703" y="716"/>
                    <a:pt x="9178" y="535"/>
                  </a:cubicBezTo>
                  <a:lnTo>
                    <a:pt x="7671" y="1"/>
                  </a:lnTo>
                  <a:cubicBezTo>
                    <a:pt x="7070" y="821"/>
                    <a:pt x="6268" y="1727"/>
                    <a:pt x="5333" y="2223"/>
                  </a:cubicBezTo>
                  <a:cubicBezTo>
                    <a:pt x="5238" y="2276"/>
                    <a:pt x="5131" y="2302"/>
                    <a:pt x="5023" y="2302"/>
                  </a:cubicBezTo>
                  <a:cubicBezTo>
                    <a:pt x="4916" y="2302"/>
                    <a:pt x="4809" y="2276"/>
                    <a:pt x="4713" y="2223"/>
                  </a:cubicBezTo>
                  <a:cubicBezTo>
                    <a:pt x="3778" y="1727"/>
                    <a:pt x="2977" y="821"/>
                    <a:pt x="2376" y="1"/>
                  </a:cubicBezTo>
                  <a:close/>
                </a:path>
              </a:pathLst>
            </a:custGeom>
            <a:solidFill>
              <a:srgbClr val="A2B5C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0" name="Google Shape;900;p2"/>
            <p:cNvSpPr/>
            <p:nvPr/>
          </p:nvSpPr>
          <p:spPr>
            <a:xfrm>
              <a:off x="5446013" y="1708839"/>
              <a:ext cx="68736" cy="23069"/>
            </a:xfrm>
            <a:custGeom>
              <a:rect b="b" l="l" r="r" t="t"/>
              <a:pathLst>
                <a:path extrusionOk="0" h="881" w="2625">
                  <a:moveTo>
                    <a:pt x="1" y="1"/>
                  </a:moveTo>
                  <a:lnTo>
                    <a:pt x="1" y="602"/>
                  </a:lnTo>
                  <a:cubicBezTo>
                    <a:pt x="416" y="788"/>
                    <a:pt x="862" y="881"/>
                    <a:pt x="1309" y="881"/>
                  </a:cubicBezTo>
                  <a:cubicBezTo>
                    <a:pt x="1756" y="881"/>
                    <a:pt x="2204" y="788"/>
                    <a:pt x="2624" y="602"/>
                  </a:cubicBezTo>
                  <a:lnTo>
                    <a:pt x="2624" y="1"/>
                  </a:lnTo>
                  <a:close/>
                </a:path>
              </a:pathLst>
            </a:custGeom>
            <a:solidFill>
              <a:srgbClr val="D4DD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1" name="Google Shape;901;p2"/>
            <p:cNvSpPr/>
            <p:nvPr/>
          </p:nvSpPr>
          <p:spPr>
            <a:xfrm>
              <a:off x="5406055" y="1548979"/>
              <a:ext cx="148652" cy="171381"/>
            </a:xfrm>
            <a:custGeom>
              <a:rect b="b" l="l" r="r" t="t"/>
              <a:pathLst>
                <a:path extrusionOk="0" h="6545" w="5677">
                  <a:moveTo>
                    <a:pt x="0" y="0"/>
                  </a:moveTo>
                  <a:lnTo>
                    <a:pt x="0" y="3711"/>
                  </a:lnTo>
                  <a:cubicBezTo>
                    <a:pt x="0" y="5276"/>
                    <a:pt x="1269" y="6545"/>
                    <a:pt x="2834" y="6545"/>
                  </a:cubicBezTo>
                  <a:cubicBezTo>
                    <a:pt x="4408" y="6545"/>
                    <a:pt x="5676" y="5276"/>
                    <a:pt x="5676" y="3711"/>
                  </a:cubicBezTo>
                  <a:lnTo>
                    <a:pt x="5676" y="0"/>
                  </a:lnTo>
                  <a:close/>
                </a:path>
              </a:pathLst>
            </a:custGeom>
            <a:solidFill>
              <a:srgbClr val="E0E7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2" name="Google Shape;902;p2"/>
            <p:cNvSpPr/>
            <p:nvPr/>
          </p:nvSpPr>
          <p:spPr>
            <a:xfrm>
              <a:off x="5405584" y="1548979"/>
              <a:ext cx="149124" cy="171590"/>
            </a:xfrm>
            <a:custGeom>
              <a:rect b="b" l="l" r="r" t="t"/>
              <a:pathLst>
                <a:path extrusionOk="0" h="6553" w="5695">
                  <a:moveTo>
                    <a:pt x="18" y="0"/>
                  </a:moveTo>
                  <a:lnTo>
                    <a:pt x="18" y="3711"/>
                  </a:lnTo>
                  <a:cubicBezTo>
                    <a:pt x="1" y="5302"/>
                    <a:pt x="1299" y="6552"/>
                    <a:pt x="2836" y="6552"/>
                  </a:cubicBezTo>
                  <a:cubicBezTo>
                    <a:pt x="2985" y="6552"/>
                    <a:pt x="3137" y="6541"/>
                    <a:pt x="3290" y="6516"/>
                  </a:cubicBezTo>
                  <a:cubicBezTo>
                    <a:pt x="1907" y="6297"/>
                    <a:pt x="886" y="5104"/>
                    <a:pt x="886" y="3711"/>
                  </a:cubicBezTo>
                  <a:lnTo>
                    <a:pt x="886" y="2576"/>
                  </a:lnTo>
                  <a:cubicBezTo>
                    <a:pt x="886" y="2395"/>
                    <a:pt x="944" y="2223"/>
                    <a:pt x="1039" y="2070"/>
                  </a:cubicBezTo>
                  <a:cubicBezTo>
                    <a:pt x="1392" y="1489"/>
                    <a:pt x="1735" y="1412"/>
                    <a:pt x="2117" y="1307"/>
                  </a:cubicBezTo>
                  <a:cubicBezTo>
                    <a:pt x="2384" y="1260"/>
                    <a:pt x="2632" y="1164"/>
                    <a:pt x="2852" y="1021"/>
                  </a:cubicBezTo>
                  <a:cubicBezTo>
                    <a:pt x="3081" y="1164"/>
                    <a:pt x="3329" y="1260"/>
                    <a:pt x="3586" y="1307"/>
                  </a:cubicBezTo>
                  <a:cubicBezTo>
                    <a:pt x="3977" y="1412"/>
                    <a:pt x="4311" y="1489"/>
                    <a:pt x="4664" y="2070"/>
                  </a:cubicBezTo>
                  <a:cubicBezTo>
                    <a:pt x="4931" y="2490"/>
                    <a:pt x="5284" y="2853"/>
                    <a:pt x="5694" y="3129"/>
                  </a:cubicBezTo>
                  <a:lnTo>
                    <a:pt x="5694" y="0"/>
                  </a:lnTo>
                  <a:close/>
                </a:path>
              </a:pathLst>
            </a:custGeom>
            <a:solidFill>
              <a:srgbClr val="DAE2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3" name="Google Shape;903;p2"/>
            <p:cNvSpPr/>
            <p:nvPr/>
          </p:nvSpPr>
          <p:spPr>
            <a:xfrm>
              <a:off x="5455047" y="1668802"/>
              <a:ext cx="50668" cy="17361"/>
            </a:xfrm>
            <a:custGeom>
              <a:rect b="b" l="l" r="r" t="t"/>
              <a:pathLst>
                <a:path extrusionOk="0" h="663" w="1935">
                  <a:moveTo>
                    <a:pt x="312" y="1"/>
                  </a:moveTo>
                  <a:cubicBezTo>
                    <a:pt x="143" y="1"/>
                    <a:pt x="0" y="224"/>
                    <a:pt x="161" y="385"/>
                  </a:cubicBezTo>
                  <a:cubicBezTo>
                    <a:pt x="371" y="567"/>
                    <a:pt x="641" y="662"/>
                    <a:pt x="922" y="662"/>
                  </a:cubicBezTo>
                  <a:cubicBezTo>
                    <a:pt x="936" y="662"/>
                    <a:pt x="949" y="662"/>
                    <a:pt x="963" y="662"/>
                  </a:cubicBezTo>
                  <a:cubicBezTo>
                    <a:pt x="976" y="662"/>
                    <a:pt x="990" y="662"/>
                    <a:pt x="1003" y="662"/>
                  </a:cubicBezTo>
                  <a:cubicBezTo>
                    <a:pt x="1284" y="662"/>
                    <a:pt x="1555" y="567"/>
                    <a:pt x="1773" y="385"/>
                  </a:cubicBezTo>
                  <a:cubicBezTo>
                    <a:pt x="1935" y="224"/>
                    <a:pt x="1792" y="1"/>
                    <a:pt x="1622" y="1"/>
                  </a:cubicBezTo>
                  <a:cubicBezTo>
                    <a:pt x="1571" y="1"/>
                    <a:pt x="1517" y="21"/>
                    <a:pt x="1468" y="70"/>
                  </a:cubicBezTo>
                  <a:cubicBezTo>
                    <a:pt x="1316" y="175"/>
                    <a:pt x="1139" y="228"/>
                    <a:pt x="964" y="228"/>
                  </a:cubicBezTo>
                  <a:cubicBezTo>
                    <a:pt x="788" y="228"/>
                    <a:pt x="614" y="175"/>
                    <a:pt x="467" y="70"/>
                  </a:cubicBezTo>
                  <a:cubicBezTo>
                    <a:pt x="418" y="21"/>
                    <a:pt x="364" y="1"/>
                    <a:pt x="312" y="1"/>
                  </a:cubicBezTo>
                  <a:close/>
                </a:path>
              </a:pathLst>
            </a:custGeom>
            <a:solidFill>
              <a:srgbClr val="D4DDE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4" name="Google Shape;904;p2"/>
            <p:cNvSpPr/>
            <p:nvPr/>
          </p:nvSpPr>
          <p:spPr>
            <a:xfrm>
              <a:off x="5440279" y="1628844"/>
              <a:ext cx="11521" cy="17334"/>
            </a:xfrm>
            <a:custGeom>
              <a:rect b="b" l="l" r="r" t="t"/>
              <a:pathLst>
                <a:path extrusionOk="0" h="662" w="440">
                  <a:moveTo>
                    <a:pt x="220" y="1"/>
                  </a:moveTo>
                  <a:cubicBezTo>
                    <a:pt x="110" y="1"/>
                    <a:pt x="0" y="75"/>
                    <a:pt x="0" y="222"/>
                  </a:cubicBezTo>
                  <a:lnTo>
                    <a:pt x="0" y="442"/>
                  </a:lnTo>
                  <a:cubicBezTo>
                    <a:pt x="0" y="566"/>
                    <a:pt x="96" y="661"/>
                    <a:pt x="220" y="661"/>
                  </a:cubicBezTo>
                  <a:cubicBezTo>
                    <a:pt x="344" y="661"/>
                    <a:pt x="439" y="556"/>
                    <a:pt x="439" y="432"/>
                  </a:cubicBezTo>
                  <a:lnTo>
                    <a:pt x="439" y="222"/>
                  </a:lnTo>
                  <a:cubicBezTo>
                    <a:pt x="439" y="75"/>
                    <a:pt x="329" y="1"/>
                    <a:pt x="220" y="1"/>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5" name="Google Shape;905;p2"/>
            <p:cNvSpPr/>
            <p:nvPr/>
          </p:nvSpPr>
          <p:spPr>
            <a:xfrm>
              <a:off x="5508962" y="1628844"/>
              <a:ext cx="11521" cy="17334"/>
            </a:xfrm>
            <a:custGeom>
              <a:rect b="b" l="l" r="r" t="t"/>
              <a:pathLst>
                <a:path extrusionOk="0" h="662" w="440">
                  <a:moveTo>
                    <a:pt x="220" y="1"/>
                  </a:moveTo>
                  <a:cubicBezTo>
                    <a:pt x="110" y="1"/>
                    <a:pt x="1" y="75"/>
                    <a:pt x="1" y="222"/>
                  </a:cubicBezTo>
                  <a:lnTo>
                    <a:pt x="1" y="442"/>
                  </a:lnTo>
                  <a:cubicBezTo>
                    <a:pt x="1" y="566"/>
                    <a:pt x="96" y="661"/>
                    <a:pt x="220" y="661"/>
                  </a:cubicBezTo>
                  <a:cubicBezTo>
                    <a:pt x="335" y="661"/>
                    <a:pt x="440" y="556"/>
                    <a:pt x="440" y="432"/>
                  </a:cubicBezTo>
                  <a:lnTo>
                    <a:pt x="440" y="222"/>
                  </a:lnTo>
                  <a:cubicBezTo>
                    <a:pt x="440" y="75"/>
                    <a:pt x="330" y="1"/>
                    <a:pt x="220" y="1"/>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6" name="Google Shape;906;p2"/>
            <p:cNvSpPr/>
            <p:nvPr/>
          </p:nvSpPr>
          <p:spPr>
            <a:xfrm>
              <a:off x="5432528" y="1611666"/>
              <a:ext cx="26761" cy="11521"/>
            </a:xfrm>
            <a:custGeom>
              <a:rect b="b" l="l" r="r" t="t"/>
              <a:pathLst>
                <a:path extrusionOk="0" h="440" w="1022">
                  <a:moveTo>
                    <a:pt x="296" y="1"/>
                  </a:moveTo>
                  <a:cubicBezTo>
                    <a:pt x="0" y="1"/>
                    <a:pt x="0" y="440"/>
                    <a:pt x="296" y="440"/>
                  </a:cubicBezTo>
                  <a:lnTo>
                    <a:pt x="735" y="440"/>
                  </a:lnTo>
                  <a:cubicBezTo>
                    <a:pt x="1021" y="440"/>
                    <a:pt x="1021" y="1"/>
                    <a:pt x="735" y="1"/>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7" name="Google Shape;907;p2"/>
            <p:cNvSpPr/>
            <p:nvPr/>
          </p:nvSpPr>
          <p:spPr>
            <a:xfrm>
              <a:off x="5501211" y="1611666"/>
              <a:ext cx="26761" cy="11521"/>
            </a:xfrm>
            <a:custGeom>
              <a:rect b="b" l="l" r="r" t="t"/>
              <a:pathLst>
                <a:path extrusionOk="0" h="440" w="1022">
                  <a:moveTo>
                    <a:pt x="297" y="1"/>
                  </a:moveTo>
                  <a:cubicBezTo>
                    <a:pt x="1" y="1"/>
                    <a:pt x="1" y="440"/>
                    <a:pt x="297" y="440"/>
                  </a:cubicBezTo>
                  <a:lnTo>
                    <a:pt x="736" y="440"/>
                  </a:lnTo>
                  <a:cubicBezTo>
                    <a:pt x="1022" y="440"/>
                    <a:pt x="1022" y="1"/>
                    <a:pt x="736" y="1"/>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8" name="Google Shape;908;p2"/>
            <p:cNvSpPr/>
            <p:nvPr/>
          </p:nvSpPr>
          <p:spPr>
            <a:xfrm>
              <a:off x="5353842" y="1786792"/>
              <a:ext cx="46740" cy="70961"/>
            </a:xfrm>
            <a:custGeom>
              <a:rect b="b" l="l" r="r" t="t"/>
              <a:pathLst>
                <a:path extrusionOk="0" h="2710" w="1785">
                  <a:moveTo>
                    <a:pt x="287" y="0"/>
                  </a:moveTo>
                  <a:cubicBezTo>
                    <a:pt x="172" y="96"/>
                    <a:pt x="77" y="210"/>
                    <a:pt x="0" y="334"/>
                  </a:cubicBezTo>
                  <a:lnTo>
                    <a:pt x="1117" y="1298"/>
                  </a:lnTo>
                  <a:cubicBezTo>
                    <a:pt x="1260" y="1422"/>
                    <a:pt x="1346" y="1603"/>
                    <a:pt x="1346" y="1794"/>
                  </a:cubicBezTo>
                  <a:lnTo>
                    <a:pt x="1346" y="2710"/>
                  </a:lnTo>
                  <a:lnTo>
                    <a:pt x="1784" y="2710"/>
                  </a:lnTo>
                  <a:lnTo>
                    <a:pt x="1784" y="1794"/>
                  </a:lnTo>
                  <a:cubicBezTo>
                    <a:pt x="1784" y="1479"/>
                    <a:pt x="1641" y="1174"/>
                    <a:pt x="1403" y="973"/>
                  </a:cubicBezTo>
                  <a:lnTo>
                    <a:pt x="287" y="0"/>
                  </a:ln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9" name="Google Shape;909;p2"/>
            <p:cNvSpPr/>
            <p:nvPr/>
          </p:nvSpPr>
          <p:spPr>
            <a:xfrm>
              <a:off x="5560415" y="1786792"/>
              <a:ext cx="46740" cy="70961"/>
            </a:xfrm>
            <a:custGeom>
              <a:rect b="b" l="l" r="r" t="t"/>
              <a:pathLst>
                <a:path extrusionOk="0" h="2710" w="1785">
                  <a:moveTo>
                    <a:pt x="1489" y="0"/>
                  </a:moveTo>
                  <a:lnTo>
                    <a:pt x="383" y="973"/>
                  </a:lnTo>
                  <a:cubicBezTo>
                    <a:pt x="134" y="1174"/>
                    <a:pt x="1" y="1479"/>
                    <a:pt x="1" y="1794"/>
                  </a:cubicBezTo>
                  <a:lnTo>
                    <a:pt x="1" y="2710"/>
                  </a:lnTo>
                  <a:lnTo>
                    <a:pt x="440" y="2710"/>
                  </a:lnTo>
                  <a:lnTo>
                    <a:pt x="440" y="1794"/>
                  </a:lnTo>
                  <a:cubicBezTo>
                    <a:pt x="440" y="1603"/>
                    <a:pt x="516" y="1422"/>
                    <a:pt x="669" y="1298"/>
                  </a:cubicBezTo>
                  <a:lnTo>
                    <a:pt x="1785" y="334"/>
                  </a:lnTo>
                  <a:cubicBezTo>
                    <a:pt x="1699" y="210"/>
                    <a:pt x="1604" y="96"/>
                    <a:pt x="1489" y="0"/>
                  </a:cubicBez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0" name="Google Shape;910;p2"/>
            <p:cNvSpPr/>
            <p:nvPr/>
          </p:nvSpPr>
          <p:spPr>
            <a:xfrm>
              <a:off x="5480499" y="1502972"/>
              <a:ext cx="149909" cy="256613"/>
            </a:xfrm>
            <a:custGeom>
              <a:rect b="b" l="l" r="r" t="t"/>
              <a:pathLst>
                <a:path extrusionOk="0" h="9800" w="5725">
                  <a:moveTo>
                    <a:pt x="785" y="1"/>
                  </a:moveTo>
                  <a:cubicBezTo>
                    <a:pt x="590" y="1"/>
                    <a:pt x="398" y="58"/>
                    <a:pt x="239" y="164"/>
                  </a:cubicBezTo>
                  <a:cubicBezTo>
                    <a:pt x="162" y="212"/>
                    <a:pt x="76" y="231"/>
                    <a:pt x="0" y="231"/>
                  </a:cubicBezTo>
                  <a:lnTo>
                    <a:pt x="0" y="2187"/>
                  </a:lnTo>
                  <a:cubicBezTo>
                    <a:pt x="563" y="2902"/>
                    <a:pt x="1393" y="2330"/>
                    <a:pt x="2185" y="3589"/>
                  </a:cubicBezTo>
                  <a:cubicBezTo>
                    <a:pt x="2843" y="4667"/>
                    <a:pt x="3683" y="4629"/>
                    <a:pt x="3969" y="5468"/>
                  </a:cubicBezTo>
                  <a:cubicBezTo>
                    <a:pt x="4055" y="5707"/>
                    <a:pt x="4007" y="5974"/>
                    <a:pt x="4026" y="6222"/>
                  </a:cubicBezTo>
                  <a:cubicBezTo>
                    <a:pt x="4150" y="7653"/>
                    <a:pt x="5238" y="8302"/>
                    <a:pt x="5724" y="9799"/>
                  </a:cubicBezTo>
                  <a:cubicBezTo>
                    <a:pt x="5676" y="9551"/>
                    <a:pt x="5648" y="9303"/>
                    <a:pt x="5657" y="9055"/>
                  </a:cubicBezTo>
                  <a:cubicBezTo>
                    <a:pt x="5676" y="7796"/>
                    <a:pt x="5257" y="7577"/>
                    <a:pt x="5047" y="6842"/>
                  </a:cubicBezTo>
                  <a:cubicBezTo>
                    <a:pt x="4837" y="6098"/>
                    <a:pt x="5047" y="5592"/>
                    <a:pt x="4799" y="4772"/>
                  </a:cubicBezTo>
                  <a:cubicBezTo>
                    <a:pt x="4570" y="4009"/>
                    <a:pt x="4150" y="3875"/>
                    <a:pt x="4016" y="2788"/>
                  </a:cubicBezTo>
                  <a:cubicBezTo>
                    <a:pt x="3797" y="956"/>
                    <a:pt x="1813" y="2"/>
                    <a:pt x="830" y="2"/>
                  </a:cubicBezTo>
                  <a:cubicBezTo>
                    <a:pt x="815" y="1"/>
                    <a:pt x="800" y="1"/>
                    <a:pt x="785" y="1"/>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1" name="Google Shape;911;p2"/>
            <p:cNvSpPr/>
            <p:nvPr/>
          </p:nvSpPr>
          <p:spPr>
            <a:xfrm>
              <a:off x="5330354" y="1502972"/>
              <a:ext cx="149909" cy="256351"/>
            </a:xfrm>
            <a:custGeom>
              <a:rect b="b" l="l" r="r" t="t"/>
              <a:pathLst>
                <a:path extrusionOk="0" h="9790" w="5725">
                  <a:moveTo>
                    <a:pt x="4938" y="1"/>
                  </a:moveTo>
                  <a:cubicBezTo>
                    <a:pt x="4923" y="1"/>
                    <a:pt x="4909" y="1"/>
                    <a:pt x="4895" y="2"/>
                  </a:cubicBezTo>
                  <a:cubicBezTo>
                    <a:pt x="3902" y="2"/>
                    <a:pt x="1928" y="956"/>
                    <a:pt x="1699" y="2788"/>
                  </a:cubicBezTo>
                  <a:cubicBezTo>
                    <a:pt x="1575" y="3875"/>
                    <a:pt x="1155" y="4009"/>
                    <a:pt x="926" y="4772"/>
                  </a:cubicBezTo>
                  <a:cubicBezTo>
                    <a:pt x="678" y="5592"/>
                    <a:pt x="888" y="6098"/>
                    <a:pt x="678" y="6842"/>
                  </a:cubicBezTo>
                  <a:cubicBezTo>
                    <a:pt x="468" y="7577"/>
                    <a:pt x="48" y="7796"/>
                    <a:pt x="67" y="9055"/>
                  </a:cubicBezTo>
                  <a:cubicBezTo>
                    <a:pt x="77" y="9303"/>
                    <a:pt x="48" y="9551"/>
                    <a:pt x="1" y="9790"/>
                  </a:cubicBezTo>
                  <a:cubicBezTo>
                    <a:pt x="487" y="8302"/>
                    <a:pt x="1584" y="7653"/>
                    <a:pt x="1689" y="6222"/>
                  </a:cubicBezTo>
                  <a:cubicBezTo>
                    <a:pt x="1718" y="5974"/>
                    <a:pt x="1670" y="5707"/>
                    <a:pt x="1756" y="5468"/>
                  </a:cubicBezTo>
                  <a:cubicBezTo>
                    <a:pt x="2042" y="4629"/>
                    <a:pt x="2872" y="4667"/>
                    <a:pt x="3540" y="3589"/>
                  </a:cubicBezTo>
                  <a:cubicBezTo>
                    <a:pt x="4322" y="2330"/>
                    <a:pt x="5162" y="2902"/>
                    <a:pt x="5725" y="2187"/>
                  </a:cubicBezTo>
                  <a:lnTo>
                    <a:pt x="5725" y="231"/>
                  </a:lnTo>
                  <a:cubicBezTo>
                    <a:pt x="5639" y="231"/>
                    <a:pt x="5553" y="212"/>
                    <a:pt x="5486" y="164"/>
                  </a:cubicBezTo>
                  <a:cubicBezTo>
                    <a:pt x="5318" y="58"/>
                    <a:pt x="5125" y="1"/>
                    <a:pt x="4938" y="1"/>
                  </a:cubicBezTo>
                  <a:close/>
                </a:path>
              </a:pathLst>
            </a:custGeom>
            <a:solidFill>
              <a:srgbClr val="576D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12" name="Google Shape;912;p2"/>
          <p:cNvGrpSpPr/>
          <p:nvPr/>
        </p:nvGrpSpPr>
        <p:grpSpPr>
          <a:xfrm>
            <a:off x="1496775" y="1478111"/>
            <a:ext cx="492212" cy="662542"/>
            <a:chOff x="7606826" y="1502999"/>
            <a:chExt cx="263552" cy="354754"/>
          </a:xfrm>
        </p:grpSpPr>
        <p:sp>
          <p:nvSpPr>
            <p:cNvPr id="913" name="Google Shape;913;p2"/>
            <p:cNvSpPr/>
            <p:nvPr/>
          </p:nvSpPr>
          <p:spPr>
            <a:xfrm>
              <a:off x="7606826" y="1703340"/>
              <a:ext cx="263552" cy="154413"/>
            </a:xfrm>
            <a:custGeom>
              <a:rect b="b" l="l" r="r" t="t"/>
              <a:pathLst>
                <a:path extrusionOk="0" h="5897" w="10065">
                  <a:moveTo>
                    <a:pt x="3721" y="1"/>
                  </a:moveTo>
                  <a:lnTo>
                    <a:pt x="3721" y="1337"/>
                  </a:lnTo>
                  <a:cubicBezTo>
                    <a:pt x="3721" y="1709"/>
                    <a:pt x="3482" y="2042"/>
                    <a:pt x="3139" y="2166"/>
                  </a:cubicBezTo>
                  <a:lnTo>
                    <a:pt x="878" y="2968"/>
                  </a:lnTo>
                  <a:cubicBezTo>
                    <a:pt x="353" y="3149"/>
                    <a:pt x="0" y="3645"/>
                    <a:pt x="0" y="4198"/>
                  </a:cubicBezTo>
                  <a:lnTo>
                    <a:pt x="0" y="5248"/>
                  </a:lnTo>
                  <a:cubicBezTo>
                    <a:pt x="0" y="5601"/>
                    <a:pt x="296" y="5897"/>
                    <a:pt x="658" y="5897"/>
                  </a:cubicBezTo>
                  <a:lnTo>
                    <a:pt x="9407" y="5897"/>
                  </a:lnTo>
                  <a:cubicBezTo>
                    <a:pt x="9769" y="5897"/>
                    <a:pt x="10065" y="5601"/>
                    <a:pt x="10065" y="5248"/>
                  </a:cubicBezTo>
                  <a:lnTo>
                    <a:pt x="10065" y="4208"/>
                  </a:lnTo>
                  <a:cubicBezTo>
                    <a:pt x="10065" y="3645"/>
                    <a:pt x="9712" y="3149"/>
                    <a:pt x="9187" y="2958"/>
                  </a:cubicBezTo>
                  <a:lnTo>
                    <a:pt x="6926" y="2166"/>
                  </a:lnTo>
                  <a:cubicBezTo>
                    <a:pt x="6573" y="2042"/>
                    <a:pt x="6344" y="1709"/>
                    <a:pt x="6344" y="1337"/>
                  </a:cubicBezTo>
                  <a:lnTo>
                    <a:pt x="6344" y="1"/>
                  </a:lnTo>
                  <a:close/>
                </a:path>
              </a:pathLst>
            </a:custGeom>
            <a:solidFill>
              <a:srgbClr val="ACB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2"/>
            <p:cNvSpPr/>
            <p:nvPr/>
          </p:nvSpPr>
          <p:spPr>
            <a:xfrm>
              <a:off x="7626543" y="1502999"/>
              <a:ext cx="223856" cy="240090"/>
            </a:xfrm>
            <a:custGeom>
              <a:rect b="b" l="l" r="r" t="t"/>
              <a:pathLst>
                <a:path extrusionOk="0" h="9169" w="8549">
                  <a:moveTo>
                    <a:pt x="4275" y="1"/>
                  </a:moveTo>
                  <a:cubicBezTo>
                    <a:pt x="2224" y="1"/>
                    <a:pt x="564" y="1670"/>
                    <a:pt x="564" y="3722"/>
                  </a:cubicBezTo>
                  <a:lnTo>
                    <a:pt x="564" y="5257"/>
                  </a:lnTo>
                  <a:cubicBezTo>
                    <a:pt x="564" y="6097"/>
                    <a:pt x="401" y="6927"/>
                    <a:pt x="87" y="7709"/>
                  </a:cubicBezTo>
                  <a:cubicBezTo>
                    <a:pt x="1" y="7929"/>
                    <a:pt x="106" y="8186"/>
                    <a:pt x="325" y="8282"/>
                  </a:cubicBezTo>
                  <a:cubicBezTo>
                    <a:pt x="878" y="8491"/>
                    <a:pt x="2968" y="9169"/>
                    <a:pt x="4275" y="9169"/>
                  </a:cubicBezTo>
                  <a:cubicBezTo>
                    <a:pt x="5591" y="9169"/>
                    <a:pt x="7680" y="8491"/>
                    <a:pt x="8224" y="8282"/>
                  </a:cubicBezTo>
                  <a:cubicBezTo>
                    <a:pt x="8444" y="8186"/>
                    <a:pt x="8549" y="7929"/>
                    <a:pt x="8463" y="7709"/>
                  </a:cubicBezTo>
                  <a:cubicBezTo>
                    <a:pt x="8148" y="6927"/>
                    <a:pt x="7986" y="6097"/>
                    <a:pt x="7995" y="5257"/>
                  </a:cubicBezTo>
                  <a:lnTo>
                    <a:pt x="7995" y="3722"/>
                  </a:lnTo>
                  <a:cubicBezTo>
                    <a:pt x="7995" y="1670"/>
                    <a:pt x="6326" y="10"/>
                    <a:pt x="4275" y="1"/>
                  </a:cubicBezTo>
                  <a:close/>
                </a:path>
              </a:pathLst>
            </a:cu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2"/>
            <p:cNvSpPr/>
            <p:nvPr/>
          </p:nvSpPr>
          <p:spPr>
            <a:xfrm>
              <a:off x="7641049" y="1708839"/>
              <a:ext cx="194869" cy="102959"/>
            </a:xfrm>
            <a:custGeom>
              <a:rect b="b" l="l" r="r" t="t"/>
              <a:pathLst>
                <a:path extrusionOk="0" h="3932" w="7442">
                  <a:moveTo>
                    <a:pt x="1317" y="1"/>
                  </a:moveTo>
                  <a:cubicBezTo>
                    <a:pt x="592" y="1"/>
                    <a:pt x="0" y="583"/>
                    <a:pt x="0" y="1308"/>
                  </a:cubicBezTo>
                  <a:cubicBezTo>
                    <a:pt x="0" y="2758"/>
                    <a:pt x="1183" y="3931"/>
                    <a:pt x="2624" y="3931"/>
                  </a:cubicBezTo>
                  <a:lnTo>
                    <a:pt x="4818" y="3931"/>
                  </a:lnTo>
                  <a:cubicBezTo>
                    <a:pt x="6268" y="3931"/>
                    <a:pt x="7441" y="2758"/>
                    <a:pt x="7441" y="1308"/>
                  </a:cubicBezTo>
                  <a:cubicBezTo>
                    <a:pt x="7441" y="583"/>
                    <a:pt x="6850" y="1"/>
                    <a:pt x="6134" y="1"/>
                  </a:cubicBezTo>
                  <a:close/>
                </a:path>
              </a:pathLst>
            </a:custGeom>
            <a:solidFill>
              <a:srgbClr val="A5B7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2"/>
            <p:cNvSpPr/>
            <p:nvPr/>
          </p:nvSpPr>
          <p:spPr>
            <a:xfrm>
              <a:off x="7659431" y="1726069"/>
              <a:ext cx="158341" cy="65227"/>
            </a:xfrm>
            <a:custGeom>
              <a:rect b="b" l="l" r="r" t="t"/>
              <a:pathLst>
                <a:path extrusionOk="0" h="2491" w="6047">
                  <a:moveTo>
                    <a:pt x="651" y="1"/>
                  </a:moveTo>
                  <a:cubicBezTo>
                    <a:pt x="180" y="1"/>
                    <a:pt x="1" y="625"/>
                    <a:pt x="405" y="879"/>
                  </a:cubicBezTo>
                  <a:lnTo>
                    <a:pt x="2656" y="2377"/>
                  </a:lnTo>
                  <a:cubicBezTo>
                    <a:pt x="2766" y="2453"/>
                    <a:pt x="2892" y="2491"/>
                    <a:pt x="3019" y="2491"/>
                  </a:cubicBezTo>
                  <a:cubicBezTo>
                    <a:pt x="3145" y="2491"/>
                    <a:pt x="3272" y="2453"/>
                    <a:pt x="3381" y="2377"/>
                  </a:cubicBezTo>
                  <a:lnTo>
                    <a:pt x="5633" y="879"/>
                  </a:lnTo>
                  <a:cubicBezTo>
                    <a:pt x="6046" y="625"/>
                    <a:pt x="5858" y="1"/>
                    <a:pt x="5387" y="1"/>
                  </a:cubicBezTo>
                  <a:cubicBezTo>
                    <a:pt x="5380" y="1"/>
                    <a:pt x="5373" y="1"/>
                    <a:pt x="5366" y="1"/>
                  </a:cubicBezTo>
                  <a:lnTo>
                    <a:pt x="672" y="1"/>
                  </a:lnTo>
                  <a:cubicBezTo>
                    <a:pt x="665" y="1"/>
                    <a:pt x="658" y="1"/>
                    <a:pt x="651" y="1"/>
                  </a:cubicBezTo>
                  <a:close/>
                </a:path>
              </a:pathLst>
            </a:custGeom>
            <a:solidFill>
              <a:srgbClr val="697D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2"/>
            <p:cNvSpPr/>
            <p:nvPr/>
          </p:nvSpPr>
          <p:spPr>
            <a:xfrm>
              <a:off x="7692739" y="1502999"/>
              <a:ext cx="142420" cy="85468"/>
            </a:xfrm>
            <a:custGeom>
              <a:rect b="b" l="l" r="r" t="t"/>
              <a:pathLst>
                <a:path extrusionOk="0" h="3264" w="5439">
                  <a:moveTo>
                    <a:pt x="1747" y="1"/>
                  </a:moveTo>
                  <a:cubicBezTo>
                    <a:pt x="1136" y="1"/>
                    <a:pt x="535" y="154"/>
                    <a:pt x="1" y="440"/>
                  </a:cubicBezTo>
                  <a:lnTo>
                    <a:pt x="1" y="640"/>
                  </a:lnTo>
                  <a:cubicBezTo>
                    <a:pt x="1" y="2090"/>
                    <a:pt x="1174" y="3264"/>
                    <a:pt x="2624" y="3264"/>
                  </a:cubicBezTo>
                  <a:lnTo>
                    <a:pt x="5439" y="3264"/>
                  </a:lnTo>
                  <a:cubicBezTo>
                    <a:pt x="5210" y="1403"/>
                    <a:pt x="3626" y="1"/>
                    <a:pt x="1747" y="1"/>
                  </a:cubicBezTo>
                  <a:close/>
                </a:path>
              </a:pathLst>
            </a:custGeom>
            <a:solidFill>
              <a:srgbClr val="899C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2"/>
            <p:cNvSpPr/>
            <p:nvPr/>
          </p:nvSpPr>
          <p:spPr>
            <a:xfrm>
              <a:off x="7687266" y="1703340"/>
              <a:ext cx="102436" cy="87955"/>
            </a:xfrm>
            <a:custGeom>
              <a:rect b="b" l="l" r="r" t="t"/>
              <a:pathLst>
                <a:path extrusionOk="0" h="3359" w="3912">
                  <a:moveTo>
                    <a:pt x="649" y="1"/>
                  </a:moveTo>
                  <a:lnTo>
                    <a:pt x="649" y="1337"/>
                  </a:lnTo>
                  <a:cubicBezTo>
                    <a:pt x="649" y="1709"/>
                    <a:pt x="410" y="2042"/>
                    <a:pt x="57" y="2166"/>
                  </a:cubicBezTo>
                  <a:lnTo>
                    <a:pt x="0" y="2186"/>
                  </a:lnTo>
                  <a:lnTo>
                    <a:pt x="1593" y="3245"/>
                  </a:lnTo>
                  <a:cubicBezTo>
                    <a:pt x="1703" y="3321"/>
                    <a:pt x="1829" y="3359"/>
                    <a:pt x="1956" y="3359"/>
                  </a:cubicBezTo>
                  <a:cubicBezTo>
                    <a:pt x="2082" y="3359"/>
                    <a:pt x="2209" y="3321"/>
                    <a:pt x="2318" y="3245"/>
                  </a:cubicBezTo>
                  <a:lnTo>
                    <a:pt x="3911" y="2186"/>
                  </a:lnTo>
                  <a:lnTo>
                    <a:pt x="3854" y="2166"/>
                  </a:lnTo>
                  <a:cubicBezTo>
                    <a:pt x="3501" y="2042"/>
                    <a:pt x="3272" y="1709"/>
                    <a:pt x="3272" y="1337"/>
                  </a:cubicBezTo>
                  <a:lnTo>
                    <a:pt x="3272" y="1"/>
                  </a:lnTo>
                  <a:close/>
                </a:path>
              </a:pathLst>
            </a:custGeom>
            <a:solidFill>
              <a:srgbClr val="E7EC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2"/>
            <p:cNvSpPr/>
            <p:nvPr/>
          </p:nvSpPr>
          <p:spPr>
            <a:xfrm>
              <a:off x="7704234" y="1703340"/>
              <a:ext cx="68736" cy="28254"/>
            </a:xfrm>
            <a:custGeom>
              <a:rect b="b" l="l" r="r" t="t"/>
              <a:pathLst>
                <a:path extrusionOk="0" h="1079" w="2625">
                  <a:moveTo>
                    <a:pt x="1" y="1"/>
                  </a:moveTo>
                  <a:lnTo>
                    <a:pt x="1" y="802"/>
                  </a:lnTo>
                  <a:cubicBezTo>
                    <a:pt x="363" y="964"/>
                    <a:pt x="754" y="1060"/>
                    <a:pt x="1155" y="1079"/>
                  </a:cubicBezTo>
                  <a:lnTo>
                    <a:pt x="1308" y="1079"/>
                  </a:lnTo>
                  <a:cubicBezTo>
                    <a:pt x="1766" y="1079"/>
                    <a:pt x="2214" y="984"/>
                    <a:pt x="2624" y="802"/>
                  </a:cubicBezTo>
                  <a:lnTo>
                    <a:pt x="2624" y="1"/>
                  </a:lnTo>
                  <a:close/>
                </a:path>
              </a:pathLst>
            </a:custGeom>
            <a:solidFill>
              <a:srgbClr val="E3E9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2"/>
            <p:cNvSpPr/>
            <p:nvPr/>
          </p:nvSpPr>
          <p:spPr>
            <a:xfrm>
              <a:off x="7664014" y="1576133"/>
              <a:ext cx="149176" cy="144070"/>
            </a:xfrm>
            <a:custGeom>
              <a:rect b="b" l="l" r="r" t="t"/>
              <a:pathLst>
                <a:path extrusionOk="0" h="5502" w="5697">
                  <a:moveTo>
                    <a:pt x="3415" y="0"/>
                  </a:moveTo>
                  <a:cubicBezTo>
                    <a:pt x="3347" y="0"/>
                    <a:pt x="3283" y="53"/>
                    <a:pt x="3283" y="137"/>
                  </a:cubicBezTo>
                  <a:lnTo>
                    <a:pt x="3283" y="690"/>
                  </a:lnTo>
                  <a:cubicBezTo>
                    <a:pt x="3283" y="814"/>
                    <a:pt x="3187" y="909"/>
                    <a:pt x="3063" y="909"/>
                  </a:cubicBezTo>
                  <a:lnTo>
                    <a:pt x="878" y="909"/>
                  </a:lnTo>
                  <a:cubicBezTo>
                    <a:pt x="392" y="909"/>
                    <a:pt x="1" y="1301"/>
                    <a:pt x="1" y="1787"/>
                  </a:cubicBezTo>
                  <a:lnTo>
                    <a:pt x="1" y="2579"/>
                  </a:lnTo>
                  <a:cubicBezTo>
                    <a:pt x="1" y="4115"/>
                    <a:pt x="1184" y="5431"/>
                    <a:pt x="2710" y="5498"/>
                  </a:cubicBezTo>
                  <a:cubicBezTo>
                    <a:pt x="2756" y="5500"/>
                    <a:pt x="2802" y="5501"/>
                    <a:pt x="2847" y="5501"/>
                  </a:cubicBezTo>
                  <a:cubicBezTo>
                    <a:pt x="4407" y="5501"/>
                    <a:pt x="5687" y="4240"/>
                    <a:pt x="5687" y="2655"/>
                  </a:cubicBezTo>
                  <a:lnTo>
                    <a:pt x="5687" y="1787"/>
                  </a:lnTo>
                  <a:cubicBezTo>
                    <a:pt x="5696" y="1301"/>
                    <a:pt x="5295" y="909"/>
                    <a:pt x="4818" y="909"/>
                  </a:cubicBezTo>
                  <a:lnTo>
                    <a:pt x="4475" y="909"/>
                  </a:lnTo>
                  <a:cubicBezTo>
                    <a:pt x="4408" y="909"/>
                    <a:pt x="4361" y="890"/>
                    <a:pt x="4313" y="843"/>
                  </a:cubicBezTo>
                  <a:lnTo>
                    <a:pt x="3512" y="41"/>
                  </a:lnTo>
                  <a:cubicBezTo>
                    <a:pt x="3483" y="13"/>
                    <a:pt x="3449" y="0"/>
                    <a:pt x="3415" y="0"/>
                  </a:cubicBezTo>
                  <a:close/>
                </a:path>
              </a:pathLst>
            </a:custGeom>
            <a:solidFill>
              <a:srgbClr val="ECF0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2"/>
            <p:cNvSpPr/>
            <p:nvPr/>
          </p:nvSpPr>
          <p:spPr>
            <a:xfrm>
              <a:off x="7664014" y="1576133"/>
              <a:ext cx="126186" cy="144148"/>
            </a:xfrm>
            <a:custGeom>
              <a:rect b="b" l="l" r="r" t="t"/>
              <a:pathLst>
                <a:path extrusionOk="0" h="5505" w="4819">
                  <a:moveTo>
                    <a:pt x="3415" y="0"/>
                  </a:moveTo>
                  <a:cubicBezTo>
                    <a:pt x="3347" y="0"/>
                    <a:pt x="3283" y="53"/>
                    <a:pt x="3283" y="137"/>
                  </a:cubicBezTo>
                  <a:lnTo>
                    <a:pt x="3283" y="690"/>
                  </a:lnTo>
                  <a:cubicBezTo>
                    <a:pt x="3283" y="814"/>
                    <a:pt x="3187" y="909"/>
                    <a:pt x="3063" y="909"/>
                  </a:cubicBezTo>
                  <a:lnTo>
                    <a:pt x="878" y="909"/>
                  </a:lnTo>
                  <a:cubicBezTo>
                    <a:pt x="392" y="909"/>
                    <a:pt x="1" y="1301"/>
                    <a:pt x="1" y="1787"/>
                  </a:cubicBezTo>
                  <a:lnTo>
                    <a:pt x="1" y="2569"/>
                  </a:lnTo>
                  <a:cubicBezTo>
                    <a:pt x="1" y="3857"/>
                    <a:pt x="821" y="5031"/>
                    <a:pt x="2052" y="5393"/>
                  </a:cubicBezTo>
                  <a:cubicBezTo>
                    <a:pt x="2310" y="5467"/>
                    <a:pt x="2576" y="5505"/>
                    <a:pt x="2842" y="5505"/>
                  </a:cubicBezTo>
                  <a:cubicBezTo>
                    <a:pt x="2989" y="5505"/>
                    <a:pt x="3136" y="5493"/>
                    <a:pt x="3283" y="5469"/>
                  </a:cubicBezTo>
                  <a:cubicBezTo>
                    <a:pt x="1909" y="5250"/>
                    <a:pt x="878" y="4010"/>
                    <a:pt x="878" y="2579"/>
                  </a:cubicBezTo>
                  <a:lnTo>
                    <a:pt x="878" y="2226"/>
                  </a:lnTo>
                  <a:cubicBezTo>
                    <a:pt x="878" y="1739"/>
                    <a:pt x="1270" y="1348"/>
                    <a:pt x="1756" y="1348"/>
                  </a:cubicBezTo>
                  <a:lnTo>
                    <a:pt x="4380" y="1348"/>
                  </a:lnTo>
                  <a:cubicBezTo>
                    <a:pt x="4618" y="1348"/>
                    <a:pt x="4818" y="1148"/>
                    <a:pt x="4818" y="909"/>
                  </a:cubicBezTo>
                  <a:lnTo>
                    <a:pt x="4475" y="909"/>
                  </a:lnTo>
                  <a:cubicBezTo>
                    <a:pt x="4408" y="909"/>
                    <a:pt x="4361" y="890"/>
                    <a:pt x="4313" y="843"/>
                  </a:cubicBezTo>
                  <a:lnTo>
                    <a:pt x="3512" y="41"/>
                  </a:lnTo>
                  <a:cubicBezTo>
                    <a:pt x="3483" y="13"/>
                    <a:pt x="3449" y="0"/>
                    <a:pt x="3415" y="0"/>
                  </a:cubicBezTo>
                  <a:close/>
                </a:path>
              </a:pathLst>
            </a:custGeom>
            <a:solidFill>
              <a:srgbClr val="E7EC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2"/>
            <p:cNvSpPr/>
            <p:nvPr/>
          </p:nvSpPr>
          <p:spPr>
            <a:xfrm>
              <a:off x="7690749" y="1611431"/>
              <a:ext cx="26761" cy="11521"/>
            </a:xfrm>
            <a:custGeom>
              <a:rect b="b" l="l" r="r" t="t"/>
              <a:pathLst>
                <a:path extrusionOk="0" h="440" w="1022">
                  <a:moveTo>
                    <a:pt x="296" y="0"/>
                  </a:moveTo>
                  <a:cubicBezTo>
                    <a:pt x="1" y="0"/>
                    <a:pt x="1" y="439"/>
                    <a:pt x="296" y="439"/>
                  </a:cubicBezTo>
                  <a:lnTo>
                    <a:pt x="735" y="439"/>
                  </a:lnTo>
                  <a:cubicBezTo>
                    <a:pt x="1021" y="439"/>
                    <a:pt x="1021" y="0"/>
                    <a:pt x="735" y="0"/>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2"/>
            <p:cNvSpPr/>
            <p:nvPr/>
          </p:nvSpPr>
          <p:spPr>
            <a:xfrm>
              <a:off x="7759458" y="1611431"/>
              <a:ext cx="26735" cy="11521"/>
            </a:xfrm>
            <a:custGeom>
              <a:rect b="b" l="l" r="r" t="t"/>
              <a:pathLst>
                <a:path extrusionOk="0" h="440" w="1021">
                  <a:moveTo>
                    <a:pt x="296" y="0"/>
                  </a:moveTo>
                  <a:cubicBezTo>
                    <a:pt x="0" y="0"/>
                    <a:pt x="0" y="439"/>
                    <a:pt x="296" y="439"/>
                  </a:cubicBezTo>
                  <a:lnTo>
                    <a:pt x="735" y="439"/>
                  </a:lnTo>
                  <a:cubicBezTo>
                    <a:pt x="1021" y="439"/>
                    <a:pt x="1021" y="0"/>
                    <a:pt x="735" y="0"/>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2"/>
            <p:cNvSpPr/>
            <p:nvPr/>
          </p:nvSpPr>
          <p:spPr>
            <a:xfrm>
              <a:off x="7698499" y="1629106"/>
              <a:ext cx="11521" cy="17308"/>
            </a:xfrm>
            <a:custGeom>
              <a:rect b="b" l="l" r="r" t="t"/>
              <a:pathLst>
                <a:path extrusionOk="0" h="661" w="440">
                  <a:moveTo>
                    <a:pt x="220" y="0"/>
                  </a:moveTo>
                  <a:cubicBezTo>
                    <a:pt x="110" y="0"/>
                    <a:pt x="0" y="74"/>
                    <a:pt x="0" y="222"/>
                  </a:cubicBezTo>
                  <a:lnTo>
                    <a:pt x="0" y="441"/>
                  </a:lnTo>
                  <a:cubicBezTo>
                    <a:pt x="0" y="556"/>
                    <a:pt x="96" y="661"/>
                    <a:pt x="220" y="661"/>
                  </a:cubicBezTo>
                  <a:cubicBezTo>
                    <a:pt x="334" y="661"/>
                    <a:pt x="439" y="556"/>
                    <a:pt x="439" y="441"/>
                  </a:cubicBezTo>
                  <a:lnTo>
                    <a:pt x="439" y="222"/>
                  </a:lnTo>
                  <a:cubicBezTo>
                    <a:pt x="439" y="74"/>
                    <a:pt x="329" y="0"/>
                    <a:pt x="220" y="0"/>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2"/>
            <p:cNvSpPr/>
            <p:nvPr/>
          </p:nvSpPr>
          <p:spPr>
            <a:xfrm>
              <a:off x="7767183" y="1629106"/>
              <a:ext cx="11521" cy="17308"/>
            </a:xfrm>
            <a:custGeom>
              <a:rect b="b" l="l" r="r" t="t"/>
              <a:pathLst>
                <a:path extrusionOk="0" h="661" w="440">
                  <a:moveTo>
                    <a:pt x="220" y="0"/>
                  </a:moveTo>
                  <a:cubicBezTo>
                    <a:pt x="111" y="0"/>
                    <a:pt x="1" y="74"/>
                    <a:pt x="1" y="222"/>
                  </a:cubicBezTo>
                  <a:lnTo>
                    <a:pt x="1" y="441"/>
                  </a:lnTo>
                  <a:cubicBezTo>
                    <a:pt x="1" y="556"/>
                    <a:pt x="96" y="661"/>
                    <a:pt x="220" y="661"/>
                  </a:cubicBezTo>
                  <a:cubicBezTo>
                    <a:pt x="344" y="661"/>
                    <a:pt x="440" y="556"/>
                    <a:pt x="440" y="441"/>
                  </a:cubicBezTo>
                  <a:lnTo>
                    <a:pt x="440" y="222"/>
                  </a:lnTo>
                  <a:cubicBezTo>
                    <a:pt x="440" y="74"/>
                    <a:pt x="330" y="0"/>
                    <a:pt x="220" y="0"/>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2"/>
            <p:cNvSpPr/>
            <p:nvPr/>
          </p:nvSpPr>
          <p:spPr>
            <a:xfrm>
              <a:off x="7610073" y="1789541"/>
              <a:ext cx="48233" cy="68212"/>
            </a:xfrm>
            <a:custGeom>
              <a:rect b="b" l="l" r="r" t="t"/>
              <a:pathLst>
                <a:path extrusionOk="0" h="2605" w="1842">
                  <a:moveTo>
                    <a:pt x="248" y="0"/>
                  </a:moveTo>
                  <a:cubicBezTo>
                    <a:pt x="143" y="105"/>
                    <a:pt x="67" y="229"/>
                    <a:pt x="0" y="363"/>
                  </a:cubicBezTo>
                  <a:lnTo>
                    <a:pt x="1193" y="1431"/>
                  </a:lnTo>
                  <a:cubicBezTo>
                    <a:pt x="1336" y="1555"/>
                    <a:pt x="1412" y="1736"/>
                    <a:pt x="1412" y="1927"/>
                  </a:cubicBezTo>
                  <a:lnTo>
                    <a:pt x="1412" y="2605"/>
                  </a:lnTo>
                  <a:lnTo>
                    <a:pt x="1841" y="2605"/>
                  </a:lnTo>
                  <a:lnTo>
                    <a:pt x="1841" y="1918"/>
                  </a:lnTo>
                  <a:cubicBezTo>
                    <a:pt x="1841" y="1612"/>
                    <a:pt x="1717" y="1317"/>
                    <a:pt x="1488" y="1107"/>
                  </a:cubicBezTo>
                  <a:lnTo>
                    <a:pt x="248" y="0"/>
                  </a:ln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2"/>
            <p:cNvSpPr/>
            <p:nvPr/>
          </p:nvSpPr>
          <p:spPr>
            <a:xfrm>
              <a:off x="7818662" y="1789541"/>
              <a:ext cx="48233" cy="68212"/>
            </a:xfrm>
            <a:custGeom>
              <a:rect b="b" l="l" r="r" t="t"/>
              <a:pathLst>
                <a:path extrusionOk="0" h="2605" w="1842">
                  <a:moveTo>
                    <a:pt x="1593" y="0"/>
                  </a:moveTo>
                  <a:lnTo>
                    <a:pt x="363" y="1107"/>
                  </a:lnTo>
                  <a:cubicBezTo>
                    <a:pt x="134" y="1317"/>
                    <a:pt x="0" y="1612"/>
                    <a:pt x="0" y="1918"/>
                  </a:cubicBezTo>
                  <a:lnTo>
                    <a:pt x="0" y="2605"/>
                  </a:lnTo>
                  <a:lnTo>
                    <a:pt x="429" y="2605"/>
                  </a:lnTo>
                  <a:lnTo>
                    <a:pt x="429" y="1927"/>
                  </a:lnTo>
                  <a:cubicBezTo>
                    <a:pt x="429" y="1736"/>
                    <a:pt x="515" y="1555"/>
                    <a:pt x="649" y="1431"/>
                  </a:cubicBezTo>
                  <a:lnTo>
                    <a:pt x="1841" y="363"/>
                  </a:lnTo>
                  <a:cubicBezTo>
                    <a:pt x="1784" y="229"/>
                    <a:pt x="1698" y="105"/>
                    <a:pt x="1593" y="0"/>
                  </a:cubicBez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2"/>
            <p:cNvSpPr/>
            <p:nvPr/>
          </p:nvSpPr>
          <p:spPr>
            <a:xfrm>
              <a:off x="7712744" y="1666393"/>
              <a:ext cx="51480" cy="22990"/>
            </a:xfrm>
            <a:custGeom>
              <a:rect b="b" l="l" r="r" t="t"/>
              <a:pathLst>
                <a:path extrusionOk="0" h="878" w="1966">
                  <a:moveTo>
                    <a:pt x="124" y="0"/>
                  </a:moveTo>
                  <a:cubicBezTo>
                    <a:pt x="57" y="0"/>
                    <a:pt x="0" y="67"/>
                    <a:pt x="10" y="134"/>
                  </a:cubicBezTo>
                  <a:cubicBezTo>
                    <a:pt x="86" y="553"/>
                    <a:pt x="487" y="878"/>
                    <a:pt x="983" y="878"/>
                  </a:cubicBezTo>
                  <a:cubicBezTo>
                    <a:pt x="1479" y="878"/>
                    <a:pt x="1889" y="553"/>
                    <a:pt x="1956" y="134"/>
                  </a:cubicBezTo>
                  <a:cubicBezTo>
                    <a:pt x="1965" y="67"/>
                    <a:pt x="1918" y="0"/>
                    <a:pt x="185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2"/>
            <p:cNvSpPr/>
            <p:nvPr/>
          </p:nvSpPr>
          <p:spPr>
            <a:xfrm>
              <a:off x="7704234" y="1794778"/>
              <a:ext cx="11260" cy="62975"/>
            </a:xfrm>
            <a:custGeom>
              <a:rect b="b" l="l" r="r" t="t"/>
              <a:pathLst>
                <a:path extrusionOk="0" h="2405" w="430">
                  <a:moveTo>
                    <a:pt x="220" y="1"/>
                  </a:moveTo>
                  <a:cubicBezTo>
                    <a:pt x="96" y="1"/>
                    <a:pt x="1" y="96"/>
                    <a:pt x="1" y="220"/>
                  </a:cubicBezTo>
                  <a:lnTo>
                    <a:pt x="1" y="2405"/>
                  </a:lnTo>
                  <a:lnTo>
                    <a:pt x="430" y="2405"/>
                  </a:lnTo>
                  <a:lnTo>
                    <a:pt x="430" y="220"/>
                  </a:lnTo>
                  <a:cubicBezTo>
                    <a:pt x="430" y="96"/>
                    <a:pt x="335" y="1"/>
                    <a:pt x="220" y="1"/>
                  </a:cubicBez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2"/>
            <p:cNvSpPr/>
            <p:nvPr/>
          </p:nvSpPr>
          <p:spPr>
            <a:xfrm>
              <a:off x="7761448" y="1794778"/>
              <a:ext cx="11521" cy="62975"/>
            </a:xfrm>
            <a:custGeom>
              <a:rect b="b" l="l" r="r" t="t"/>
              <a:pathLst>
                <a:path extrusionOk="0" h="2405" w="440">
                  <a:moveTo>
                    <a:pt x="220" y="1"/>
                  </a:moveTo>
                  <a:cubicBezTo>
                    <a:pt x="96" y="1"/>
                    <a:pt x="0" y="96"/>
                    <a:pt x="0" y="220"/>
                  </a:cubicBezTo>
                  <a:lnTo>
                    <a:pt x="0" y="2405"/>
                  </a:lnTo>
                  <a:lnTo>
                    <a:pt x="439" y="2405"/>
                  </a:lnTo>
                  <a:lnTo>
                    <a:pt x="439" y="220"/>
                  </a:lnTo>
                  <a:cubicBezTo>
                    <a:pt x="439" y="96"/>
                    <a:pt x="344" y="1"/>
                    <a:pt x="220" y="1"/>
                  </a:cubicBezTo>
                  <a:close/>
                </a:path>
              </a:pathLst>
            </a:custGeom>
            <a:solidFill>
              <a:srgbClr val="869FB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1" name="Google Shape;931;p2"/>
          <p:cNvGrpSpPr/>
          <p:nvPr/>
        </p:nvGrpSpPr>
        <p:grpSpPr>
          <a:xfrm>
            <a:off x="6731124" y="1478111"/>
            <a:ext cx="504330" cy="661824"/>
            <a:chOff x="7608056" y="3345794"/>
            <a:chExt cx="270334" cy="354755"/>
          </a:xfrm>
        </p:grpSpPr>
        <p:sp>
          <p:nvSpPr>
            <p:cNvPr id="932" name="Google Shape;932;p2"/>
            <p:cNvSpPr/>
            <p:nvPr/>
          </p:nvSpPr>
          <p:spPr>
            <a:xfrm>
              <a:off x="7636284" y="3351293"/>
              <a:ext cx="213879" cy="276068"/>
            </a:xfrm>
            <a:custGeom>
              <a:rect b="b" l="l" r="r" t="t"/>
              <a:pathLst>
                <a:path extrusionOk="0" h="10543" w="8168">
                  <a:moveTo>
                    <a:pt x="4084" y="1"/>
                  </a:moveTo>
                  <a:cubicBezTo>
                    <a:pt x="1823" y="1"/>
                    <a:pt x="1" y="1832"/>
                    <a:pt x="1" y="4084"/>
                  </a:cubicBezTo>
                  <a:lnTo>
                    <a:pt x="1" y="4694"/>
                  </a:lnTo>
                  <a:cubicBezTo>
                    <a:pt x="1" y="6221"/>
                    <a:pt x="669" y="7661"/>
                    <a:pt x="1833" y="8644"/>
                  </a:cubicBezTo>
                  <a:lnTo>
                    <a:pt x="4084" y="10542"/>
                  </a:lnTo>
                  <a:lnTo>
                    <a:pt x="6335" y="8644"/>
                  </a:lnTo>
                  <a:cubicBezTo>
                    <a:pt x="7499" y="7661"/>
                    <a:pt x="8167" y="6221"/>
                    <a:pt x="8167" y="4694"/>
                  </a:cubicBezTo>
                  <a:lnTo>
                    <a:pt x="8167" y="4084"/>
                  </a:lnTo>
                  <a:cubicBezTo>
                    <a:pt x="8167" y="1832"/>
                    <a:pt x="6335" y="1"/>
                    <a:pt x="4084" y="1"/>
                  </a:cubicBezTo>
                  <a:close/>
                </a:path>
              </a:pathLst>
            </a:custGeom>
            <a:solidFill>
              <a:srgbClr val="899C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2"/>
            <p:cNvSpPr/>
            <p:nvPr/>
          </p:nvSpPr>
          <p:spPr>
            <a:xfrm>
              <a:off x="7608056" y="3548387"/>
              <a:ext cx="270334" cy="151925"/>
            </a:xfrm>
            <a:custGeom>
              <a:rect b="b" l="l" r="r" t="t"/>
              <a:pathLst>
                <a:path extrusionOk="0" h="5802" w="10324">
                  <a:moveTo>
                    <a:pt x="3655" y="1"/>
                  </a:moveTo>
                  <a:lnTo>
                    <a:pt x="3655" y="1021"/>
                  </a:lnTo>
                  <a:cubicBezTo>
                    <a:pt x="3655" y="1308"/>
                    <a:pt x="3473" y="1565"/>
                    <a:pt x="3197" y="1642"/>
                  </a:cubicBezTo>
                  <a:lnTo>
                    <a:pt x="926" y="2309"/>
                  </a:lnTo>
                  <a:cubicBezTo>
                    <a:pt x="382" y="2471"/>
                    <a:pt x="1" y="2977"/>
                    <a:pt x="1" y="3549"/>
                  </a:cubicBezTo>
                  <a:lnTo>
                    <a:pt x="1" y="5162"/>
                  </a:lnTo>
                  <a:cubicBezTo>
                    <a:pt x="1" y="5509"/>
                    <a:pt x="287" y="5801"/>
                    <a:pt x="633" y="5801"/>
                  </a:cubicBezTo>
                  <a:cubicBezTo>
                    <a:pt x="638" y="5801"/>
                    <a:pt x="644" y="5801"/>
                    <a:pt x="650" y="5801"/>
                  </a:cubicBezTo>
                  <a:lnTo>
                    <a:pt x="9674" y="5801"/>
                  </a:lnTo>
                  <a:cubicBezTo>
                    <a:pt x="10037" y="5801"/>
                    <a:pt x="10323" y="5515"/>
                    <a:pt x="10323" y="5162"/>
                  </a:cubicBezTo>
                  <a:lnTo>
                    <a:pt x="10323" y="3549"/>
                  </a:lnTo>
                  <a:cubicBezTo>
                    <a:pt x="10323" y="2977"/>
                    <a:pt x="9941" y="2471"/>
                    <a:pt x="9398" y="2309"/>
                  </a:cubicBezTo>
                  <a:lnTo>
                    <a:pt x="7127" y="1642"/>
                  </a:lnTo>
                  <a:cubicBezTo>
                    <a:pt x="6851" y="1565"/>
                    <a:pt x="6669" y="1308"/>
                    <a:pt x="6669" y="1021"/>
                  </a:cubicBezTo>
                  <a:lnTo>
                    <a:pt x="6669" y="1"/>
                  </a:lnTo>
                  <a:close/>
                </a:path>
              </a:pathLst>
            </a:custGeom>
            <a:solidFill>
              <a:srgbClr val="E7EC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2"/>
            <p:cNvSpPr/>
            <p:nvPr/>
          </p:nvSpPr>
          <p:spPr>
            <a:xfrm>
              <a:off x="7608056" y="3590100"/>
              <a:ext cx="270334" cy="110213"/>
            </a:xfrm>
            <a:custGeom>
              <a:rect b="b" l="l" r="r" t="t"/>
              <a:pathLst>
                <a:path extrusionOk="0" h="4209" w="10324">
                  <a:moveTo>
                    <a:pt x="3302" y="1"/>
                  </a:moveTo>
                  <a:cubicBezTo>
                    <a:pt x="3264" y="20"/>
                    <a:pt x="3235" y="39"/>
                    <a:pt x="3197" y="49"/>
                  </a:cubicBezTo>
                  <a:lnTo>
                    <a:pt x="926" y="716"/>
                  </a:lnTo>
                  <a:cubicBezTo>
                    <a:pt x="382" y="878"/>
                    <a:pt x="1" y="1384"/>
                    <a:pt x="1" y="1956"/>
                  </a:cubicBezTo>
                  <a:lnTo>
                    <a:pt x="1" y="3569"/>
                  </a:lnTo>
                  <a:cubicBezTo>
                    <a:pt x="1" y="3916"/>
                    <a:pt x="278" y="4208"/>
                    <a:pt x="633" y="4208"/>
                  </a:cubicBezTo>
                  <a:cubicBezTo>
                    <a:pt x="638" y="4208"/>
                    <a:pt x="644" y="4208"/>
                    <a:pt x="650" y="4208"/>
                  </a:cubicBezTo>
                  <a:lnTo>
                    <a:pt x="9674" y="4208"/>
                  </a:lnTo>
                  <a:cubicBezTo>
                    <a:pt x="10027" y="4208"/>
                    <a:pt x="10323" y="3922"/>
                    <a:pt x="10323" y="3569"/>
                  </a:cubicBezTo>
                  <a:lnTo>
                    <a:pt x="10323" y="1956"/>
                  </a:lnTo>
                  <a:cubicBezTo>
                    <a:pt x="10323" y="1384"/>
                    <a:pt x="9941" y="878"/>
                    <a:pt x="9398" y="716"/>
                  </a:cubicBezTo>
                  <a:lnTo>
                    <a:pt x="7127" y="49"/>
                  </a:lnTo>
                  <a:cubicBezTo>
                    <a:pt x="7089" y="39"/>
                    <a:pt x="7051" y="20"/>
                    <a:pt x="7022" y="1"/>
                  </a:cubicBezTo>
                  <a:lnTo>
                    <a:pt x="5162" y="1422"/>
                  </a:lnTo>
                  <a:lnTo>
                    <a:pt x="3302" y="1"/>
                  </a:lnTo>
                  <a:close/>
                </a:path>
              </a:pathLst>
            </a:custGeom>
            <a:solidFill>
              <a:srgbClr val="899C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2"/>
            <p:cNvSpPr/>
            <p:nvPr/>
          </p:nvSpPr>
          <p:spPr>
            <a:xfrm>
              <a:off x="7703736" y="3548387"/>
              <a:ext cx="78974" cy="22441"/>
            </a:xfrm>
            <a:custGeom>
              <a:rect b="b" l="l" r="r" t="t"/>
              <a:pathLst>
                <a:path extrusionOk="0" h="857" w="3016">
                  <a:moveTo>
                    <a:pt x="1" y="1"/>
                  </a:moveTo>
                  <a:lnTo>
                    <a:pt x="1" y="478"/>
                  </a:lnTo>
                  <a:cubicBezTo>
                    <a:pt x="473" y="730"/>
                    <a:pt x="990" y="857"/>
                    <a:pt x="1508" y="857"/>
                  </a:cubicBezTo>
                  <a:cubicBezTo>
                    <a:pt x="2026" y="857"/>
                    <a:pt x="2543" y="730"/>
                    <a:pt x="3015" y="478"/>
                  </a:cubicBezTo>
                  <a:lnTo>
                    <a:pt x="3015" y="1"/>
                  </a:lnTo>
                  <a:close/>
                </a:path>
              </a:pathLst>
            </a:custGeom>
            <a:solidFill>
              <a:srgbClr val="E3E9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2"/>
            <p:cNvSpPr/>
            <p:nvPr/>
          </p:nvSpPr>
          <p:spPr>
            <a:xfrm>
              <a:off x="7649795" y="3402013"/>
              <a:ext cx="187118" cy="157634"/>
            </a:xfrm>
            <a:custGeom>
              <a:rect b="b" l="l" r="r" t="t"/>
              <a:pathLst>
                <a:path extrusionOk="0" h="6020" w="7146">
                  <a:moveTo>
                    <a:pt x="773" y="0"/>
                  </a:moveTo>
                  <a:lnTo>
                    <a:pt x="773" y="2357"/>
                  </a:lnTo>
                  <a:lnTo>
                    <a:pt x="668" y="2357"/>
                  </a:lnTo>
                  <a:cubicBezTo>
                    <a:pt x="0" y="2404"/>
                    <a:pt x="0" y="3387"/>
                    <a:pt x="668" y="3435"/>
                  </a:cubicBezTo>
                  <a:lnTo>
                    <a:pt x="782" y="3435"/>
                  </a:lnTo>
                  <a:cubicBezTo>
                    <a:pt x="897" y="4894"/>
                    <a:pt x="2108" y="6020"/>
                    <a:pt x="3568" y="6020"/>
                  </a:cubicBezTo>
                  <a:cubicBezTo>
                    <a:pt x="5028" y="6020"/>
                    <a:pt x="6239" y="4894"/>
                    <a:pt x="6354" y="3435"/>
                  </a:cubicBezTo>
                  <a:lnTo>
                    <a:pt x="6468" y="3435"/>
                  </a:lnTo>
                  <a:cubicBezTo>
                    <a:pt x="7145" y="3387"/>
                    <a:pt x="7145" y="2404"/>
                    <a:pt x="6468" y="2357"/>
                  </a:cubicBezTo>
                  <a:lnTo>
                    <a:pt x="6468" y="2366"/>
                  </a:lnTo>
                  <a:lnTo>
                    <a:pt x="6363" y="2366"/>
                  </a:lnTo>
                  <a:lnTo>
                    <a:pt x="6363" y="0"/>
                  </a:lnTo>
                  <a:close/>
                </a:path>
              </a:pathLst>
            </a:custGeom>
            <a:solidFill>
              <a:srgbClr val="ECF0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2"/>
            <p:cNvSpPr/>
            <p:nvPr/>
          </p:nvSpPr>
          <p:spPr>
            <a:xfrm>
              <a:off x="7652283" y="3402013"/>
              <a:ext cx="164154" cy="157581"/>
            </a:xfrm>
            <a:custGeom>
              <a:rect b="b" l="l" r="r" t="t"/>
              <a:pathLst>
                <a:path extrusionOk="0" h="6018" w="6269">
                  <a:moveTo>
                    <a:pt x="678" y="0"/>
                  </a:moveTo>
                  <a:lnTo>
                    <a:pt x="678" y="2357"/>
                  </a:lnTo>
                  <a:lnTo>
                    <a:pt x="601" y="2357"/>
                  </a:lnTo>
                  <a:cubicBezTo>
                    <a:pt x="315" y="2357"/>
                    <a:pt x="77" y="2557"/>
                    <a:pt x="39" y="2834"/>
                  </a:cubicBezTo>
                  <a:cubicBezTo>
                    <a:pt x="0" y="3158"/>
                    <a:pt x="248" y="3435"/>
                    <a:pt x="573" y="3435"/>
                  </a:cubicBezTo>
                  <a:lnTo>
                    <a:pt x="687" y="3435"/>
                  </a:lnTo>
                  <a:cubicBezTo>
                    <a:pt x="791" y="4914"/>
                    <a:pt x="2033" y="6017"/>
                    <a:pt x="3466" y="6017"/>
                  </a:cubicBezTo>
                  <a:cubicBezTo>
                    <a:pt x="3613" y="6017"/>
                    <a:pt x="3762" y="6006"/>
                    <a:pt x="3912" y="5982"/>
                  </a:cubicBezTo>
                  <a:cubicBezTo>
                    <a:pt x="2548" y="5762"/>
                    <a:pt x="1546" y="4598"/>
                    <a:pt x="1546" y="3215"/>
                  </a:cubicBezTo>
                  <a:lnTo>
                    <a:pt x="1546" y="1670"/>
                  </a:lnTo>
                  <a:cubicBezTo>
                    <a:pt x="1546" y="1428"/>
                    <a:pt x="1742" y="1237"/>
                    <a:pt x="1976" y="1237"/>
                  </a:cubicBezTo>
                  <a:cubicBezTo>
                    <a:pt x="2010" y="1237"/>
                    <a:pt x="2045" y="1242"/>
                    <a:pt x="2080" y="1250"/>
                  </a:cubicBezTo>
                  <a:cubicBezTo>
                    <a:pt x="2433" y="1345"/>
                    <a:pt x="2796" y="1412"/>
                    <a:pt x="3168" y="1460"/>
                  </a:cubicBezTo>
                  <a:lnTo>
                    <a:pt x="3244" y="1460"/>
                  </a:lnTo>
                  <a:cubicBezTo>
                    <a:pt x="3597" y="1460"/>
                    <a:pt x="3864" y="1145"/>
                    <a:pt x="3816" y="802"/>
                  </a:cubicBezTo>
                  <a:lnTo>
                    <a:pt x="3816" y="802"/>
                  </a:lnTo>
                  <a:cubicBezTo>
                    <a:pt x="4732" y="1031"/>
                    <a:pt x="5572" y="1479"/>
                    <a:pt x="6268" y="2109"/>
                  </a:cubicBezTo>
                  <a:lnTo>
                    <a:pt x="6268" y="0"/>
                  </a:lnTo>
                  <a:close/>
                </a:path>
              </a:pathLst>
            </a:custGeom>
            <a:solidFill>
              <a:srgbClr val="E7EC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2"/>
            <p:cNvSpPr/>
            <p:nvPr/>
          </p:nvSpPr>
          <p:spPr>
            <a:xfrm>
              <a:off x="7703736" y="3464386"/>
              <a:ext cx="11260" cy="17073"/>
            </a:xfrm>
            <a:custGeom>
              <a:rect b="b" l="l" r="r" t="t"/>
              <a:pathLst>
                <a:path extrusionOk="0" h="652" w="430">
                  <a:moveTo>
                    <a:pt x="215" y="1"/>
                  </a:moveTo>
                  <a:cubicBezTo>
                    <a:pt x="108" y="1"/>
                    <a:pt x="1" y="75"/>
                    <a:pt x="1" y="223"/>
                  </a:cubicBezTo>
                  <a:lnTo>
                    <a:pt x="1" y="433"/>
                  </a:lnTo>
                  <a:cubicBezTo>
                    <a:pt x="1" y="547"/>
                    <a:pt x="96" y="652"/>
                    <a:pt x="220" y="652"/>
                  </a:cubicBezTo>
                  <a:cubicBezTo>
                    <a:pt x="335" y="652"/>
                    <a:pt x="430" y="547"/>
                    <a:pt x="430" y="433"/>
                  </a:cubicBezTo>
                  <a:lnTo>
                    <a:pt x="430" y="223"/>
                  </a:lnTo>
                  <a:cubicBezTo>
                    <a:pt x="430" y="75"/>
                    <a:pt x="323" y="1"/>
                    <a:pt x="215" y="1"/>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2"/>
            <p:cNvSpPr/>
            <p:nvPr/>
          </p:nvSpPr>
          <p:spPr>
            <a:xfrm>
              <a:off x="7771425" y="3464386"/>
              <a:ext cx="11286" cy="17073"/>
            </a:xfrm>
            <a:custGeom>
              <a:rect b="b" l="l" r="r" t="t"/>
              <a:pathLst>
                <a:path extrusionOk="0" h="652" w="431">
                  <a:moveTo>
                    <a:pt x="216" y="1"/>
                  </a:moveTo>
                  <a:cubicBezTo>
                    <a:pt x="108" y="1"/>
                    <a:pt x="1" y="75"/>
                    <a:pt x="1" y="223"/>
                  </a:cubicBezTo>
                  <a:lnTo>
                    <a:pt x="1" y="433"/>
                  </a:lnTo>
                  <a:cubicBezTo>
                    <a:pt x="1" y="547"/>
                    <a:pt x="96" y="652"/>
                    <a:pt x="211" y="652"/>
                  </a:cubicBezTo>
                  <a:cubicBezTo>
                    <a:pt x="335" y="652"/>
                    <a:pt x="430" y="547"/>
                    <a:pt x="430" y="433"/>
                  </a:cubicBezTo>
                  <a:lnTo>
                    <a:pt x="430" y="223"/>
                  </a:lnTo>
                  <a:cubicBezTo>
                    <a:pt x="430" y="75"/>
                    <a:pt x="323" y="1"/>
                    <a:pt x="216" y="1"/>
                  </a:cubicBez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2"/>
            <p:cNvSpPr/>
            <p:nvPr/>
          </p:nvSpPr>
          <p:spPr>
            <a:xfrm>
              <a:off x="7696247" y="3446973"/>
              <a:ext cx="26264" cy="11521"/>
            </a:xfrm>
            <a:custGeom>
              <a:rect b="b" l="l" r="r" t="t"/>
              <a:pathLst>
                <a:path extrusionOk="0" h="440" w="1003">
                  <a:moveTo>
                    <a:pt x="287" y="0"/>
                  </a:moveTo>
                  <a:cubicBezTo>
                    <a:pt x="0" y="0"/>
                    <a:pt x="0" y="439"/>
                    <a:pt x="287" y="439"/>
                  </a:cubicBezTo>
                  <a:lnTo>
                    <a:pt x="716" y="439"/>
                  </a:lnTo>
                  <a:cubicBezTo>
                    <a:pt x="1002" y="439"/>
                    <a:pt x="1002" y="0"/>
                    <a:pt x="716" y="0"/>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2"/>
            <p:cNvSpPr/>
            <p:nvPr/>
          </p:nvSpPr>
          <p:spPr>
            <a:xfrm>
              <a:off x="7763936" y="3446973"/>
              <a:ext cx="26264" cy="11521"/>
            </a:xfrm>
            <a:custGeom>
              <a:rect b="b" l="l" r="r" t="t"/>
              <a:pathLst>
                <a:path extrusionOk="0" h="440" w="1003">
                  <a:moveTo>
                    <a:pt x="287" y="0"/>
                  </a:moveTo>
                  <a:cubicBezTo>
                    <a:pt x="1" y="0"/>
                    <a:pt x="1" y="439"/>
                    <a:pt x="287" y="439"/>
                  </a:cubicBezTo>
                  <a:lnTo>
                    <a:pt x="716" y="439"/>
                  </a:lnTo>
                  <a:cubicBezTo>
                    <a:pt x="1002" y="439"/>
                    <a:pt x="1002" y="0"/>
                    <a:pt x="716" y="0"/>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2"/>
            <p:cNvSpPr/>
            <p:nvPr/>
          </p:nvSpPr>
          <p:spPr>
            <a:xfrm>
              <a:off x="7718243" y="3503218"/>
              <a:ext cx="49961" cy="16994"/>
            </a:xfrm>
            <a:custGeom>
              <a:rect b="b" l="l" r="r" t="t"/>
              <a:pathLst>
                <a:path extrusionOk="0" h="649" w="1908">
                  <a:moveTo>
                    <a:pt x="310" y="0"/>
                  </a:moveTo>
                  <a:cubicBezTo>
                    <a:pt x="144" y="0"/>
                    <a:pt x="1" y="217"/>
                    <a:pt x="162" y="371"/>
                  </a:cubicBezTo>
                  <a:cubicBezTo>
                    <a:pt x="372" y="553"/>
                    <a:pt x="642" y="648"/>
                    <a:pt x="915" y="648"/>
                  </a:cubicBezTo>
                  <a:cubicBezTo>
                    <a:pt x="928" y="648"/>
                    <a:pt x="941" y="648"/>
                    <a:pt x="954" y="648"/>
                  </a:cubicBezTo>
                  <a:cubicBezTo>
                    <a:pt x="967" y="648"/>
                    <a:pt x="980" y="648"/>
                    <a:pt x="993" y="648"/>
                  </a:cubicBezTo>
                  <a:cubicBezTo>
                    <a:pt x="1266" y="648"/>
                    <a:pt x="1536" y="553"/>
                    <a:pt x="1746" y="371"/>
                  </a:cubicBezTo>
                  <a:cubicBezTo>
                    <a:pt x="1907" y="217"/>
                    <a:pt x="1764" y="0"/>
                    <a:pt x="1597" y="0"/>
                  </a:cubicBezTo>
                  <a:cubicBezTo>
                    <a:pt x="1548" y="0"/>
                    <a:pt x="1496" y="20"/>
                    <a:pt x="1450" y="66"/>
                  </a:cubicBezTo>
                  <a:cubicBezTo>
                    <a:pt x="1302" y="166"/>
                    <a:pt x="1128" y="216"/>
                    <a:pt x="954" y="216"/>
                  </a:cubicBezTo>
                  <a:cubicBezTo>
                    <a:pt x="780" y="216"/>
                    <a:pt x="606" y="166"/>
                    <a:pt x="458" y="66"/>
                  </a:cubicBezTo>
                  <a:cubicBezTo>
                    <a:pt x="412" y="20"/>
                    <a:pt x="360" y="0"/>
                    <a:pt x="310" y="0"/>
                  </a:cubicBezTo>
                  <a:close/>
                </a:path>
              </a:pathLst>
            </a:custGeom>
            <a:solidFill>
              <a:srgbClr val="DAE2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2"/>
            <p:cNvSpPr/>
            <p:nvPr/>
          </p:nvSpPr>
          <p:spPr>
            <a:xfrm>
              <a:off x="7658777" y="3402013"/>
              <a:ext cx="22519" cy="64729"/>
            </a:xfrm>
            <a:custGeom>
              <a:rect b="b" l="l" r="r" t="t"/>
              <a:pathLst>
                <a:path extrusionOk="0" h="2472" w="860">
                  <a:moveTo>
                    <a:pt x="0" y="0"/>
                  </a:moveTo>
                  <a:lnTo>
                    <a:pt x="0" y="2471"/>
                  </a:lnTo>
                  <a:lnTo>
                    <a:pt x="477" y="2414"/>
                  </a:lnTo>
                  <a:cubicBezTo>
                    <a:pt x="697" y="2385"/>
                    <a:pt x="859" y="2204"/>
                    <a:pt x="859" y="1985"/>
                  </a:cubicBezTo>
                  <a:lnTo>
                    <a:pt x="859" y="0"/>
                  </a:ln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2"/>
            <p:cNvSpPr/>
            <p:nvPr/>
          </p:nvSpPr>
          <p:spPr>
            <a:xfrm>
              <a:off x="7805151" y="3402013"/>
              <a:ext cx="22519" cy="64729"/>
            </a:xfrm>
            <a:custGeom>
              <a:rect b="b" l="l" r="r" t="t"/>
              <a:pathLst>
                <a:path extrusionOk="0" h="2472" w="860">
                  <a:moveTo>
                    <a:pt x="1" y="0"/>
                  </a:moveTo>
                  <a:lnTo>
                    <a:pt x="1" y="1985"/>
                  </a:lnTo>
                  <a:cubicBezTo>
                    <a:pt x="1" y="2204"/>
                    <a:pt x="163" y="2385"/>
                    <a:pt x="382" y="2414"/>
                  </a:cubicBezTo>
                  <a:lnTo>
                    <a:pt x="859" y="2471"/>
                  </a:lnTo>
                  <a:lnTo>
                    <a:pt x="859" y="0"/>
                  </a:lnTo>
                  <a:close/>
                </a:path>
              </a:pathLst>
            </a:custGeom>
            <a:solidFill>
              <a:srgbClr val="213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2"/>
            <p:cNvSpPr/>
            <p:nvPr/>
          </p:nvSpPr>
          <p:spPr>
            <a:xfrm>
              <a:off x="7652021" y="3351345"/>
              <a:ext cx="183635" cy="101388"/>
            </a:xfrm>
            <a:custGeom>
              <a:rect b="b" l="l" r="r" t="t"/>
              <a:pathLst>
                <a:path extrusionOk="0" h="3872" w="7013">
                  <a:moveTo>
                    <a:pt x="3481" y="1"/>
                  </a:moveTo>
                  <a:cubicBezTo>
                    <a:pt x="2139" y="1"/>
                    <a:pt x="797" y="650"/>
                    <a:pt x="1" y="1954"/>
                  </a:cubicBezTo>
                  <a:lnTo>
                    <a:pt x="1" y="2021"/>
                  </a:lnTo>
                  <a:cubicBezTo>
                    <a:pt x="1022" y="2489"/>
                    <a:pt x="2109" y="2813"/>
                    <a:pt x="3225" y="2985"/>
                  </a:cubicBezTo>
                  <a:cubicBezTo>
                    <a:pt x="3230" y="2985"/>
                    <a:pt x="3234" y="2985"/>
                    <a:pt x="3239" y="2985"/>
                  </a:cubicBezTo>
                  <a:cubicBezTo>
                    <a:pt x="3346" y="2985"/>
                    <a:pt x="3424" y="2876"/>
                    <a:pt x="3388" y="2775"/>
                  </a:cubicBezTo>
                  <a:lnTo>
                    <a:pt x="3244" y="2431"/>
                  </a:lnTo>
                  <a:cubicBezTo>
                    <a:pt x="3200" y="2325"/>
                    <a:pt x="3279" y="2219"/>
                    <a:pt x="3389" y="2219"/>
                  </a:cubicBezTo>
                  <a:cubicBezTo>
                    <a:pt x="3398" y="2219"/>
                    <a:pt x="3407" y="2220"/>
                    <a:pt x="3416" y="2221"/>
                  </a:cubicBezTo>
                  <a:cubicBezTo>
                    <a:pt x="4017" y="2326"/>
                    <a:pt x="5525" y="2698"/>
                    <a:pt x="6698" y="3872"/>
                  </a:cubicBezTo>
                  <a:lnTo>
                    <a:pt x="7013" y="2040"/>
                  </a:lnTo>
                  <a:cubicBezTo>
                    <a:pt x="6230" y="683"/>
                    <a:pt x="4856" y="1"/>
                    <a:pt x="3481" y="1"/>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2"/>
            <p:cNvSpPr/>
            <p:nvPr/>
          </p:nvSpPr>
          <p:spPr>
            <a:xfrm>
              <a:off x="7652021" y="3351293"/>
              <a:ext cx="183635" cy="84970"/>
            </a:xfrm>
            <a:custGeom>
              <a:rect b="b" l="l" r="r" t="t"/>
              <a:pathLst>
                <a:path extrusionOk="0" h="3245" w="7013">
                  <a:moveTo>
                    <a:pt x="3483" y="1"/>
                  </a:moveTo>
                  <a:cubicBezTo>
                    <a:pt x="2062" y="1"/>
                    <a:pt x="745" y="745"/>
                    <a:pt x="1" y="1956"/>
                  </a:cubicBezTo>
                  <a:lnTo>
                    <a:pt x="1" y="2023"/>
                  </a:lnTo>
                  <a:cubicBezTo>
                    <a:pt x="163" y="2099"/>
                    <a:pt x="363" y="2176"/>
                    <a:pt x="573" y="2262"/>
                  </a:cubicBezTo>
                  <a:cubicBezTo>
                    <a:pt x="1260" y="1162"/>
                    <a:pt x="2369" y="646"/>
                    <a:pt x="3469" y="646"/>
                  </a:cubicBezTo>
                  <a:cubicBezTo>
                    <a:pt x="4938" y="646"/>
                    <a:pt x="6393" y="1565"/>
                    <a:pt x="6812" y="3244"/>
                  </a:cubicBezTo>
                  <a:lnTo>
                    <a:pt x="7013" y="2042"/>
                  </a:lnTo>
                  <a:cubicBezTo>
                    <a:pt x="6288" y="783"/>
                    <a:pt x="4943" y="1"/>
                    <a:pt x="3483" y="1"/>
                  </a:cubicBezTo>
                  <a:close/>
                </a:path>
              </a:pathLst>
            </a:custGeom>
            <a:solidFill>
              <a:srgbClr val="576D8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2"/>
            <p:cNvSpPr/>
            <p:nvPr/>
          </p:nvSpPr>
          <p:spPr>
            <a:xfrm>
              <a:off x="7630549" y="3345794"/>
              <a:ext cx="225086" cy="354493"/>
            </a:xfrm>
            <a:custGeom>
              <a:rect b="b" l="l" r="r" t="t"/>
              <a:pathLst>
                <a:path extrusionOk="0" h="13538" w="8596">
                  <a:moveTo>
                    <a:pt x="4303" y="430"/>
                  </a:moveTo>
                  <a:cubicBezTo>
                    <a:pt x="6440" y="430"/>
                    <a:pt x="8176" y="2157"/>
                    <a:pt x="8176" y="4294"/>
                  </a:cubicBezTo>
                  <a:lnTo>
                    <a:pt x="8176" y="4904"/>
                  </a:lnTo>
                  <a:cubicBezTo>
                    <a:pt x="8176" y="6364"/>
                    <a:pt x="7527" y="7747"/>
                    <a:pt x="6411" y="8682"/>
                  </a:cubicBezTo>
                  <a:lnTo>
                    <a:pt x="4303" y="10466"/>
                  </a:lnTo>
                  <a:lnTo>
                    <a:pt x="2195" y="8682"/>
                  </a:lnTo>
                  <a:cubicBezTo>
                    <a:pt x="1078" y="7747"/>
                    <a:pt x="430" y="6364"/>
                    <a:pt x="430" y="4904"/>
                  </a:cubicBezTo>
                  <a:lnTo>
                    <a:pt x="430" y="4294"/>
                  </a:lnTo>
                  <a:cubicBezTo>
                    <a:pt x="430" y="2157"/>
                    <a:pt x="2166" y="430"/>
                    <a:pt x="4303" y="430"/>
                  </a:cubicBezTo>
                  <a:close/>
                  <a:moveTo>
                    <a:pt x="4303" y="1"/>
                  </a:moveTo>
                  <a:cubicBezTo>
                    <a:pt x="1928" y="1"/>
                    <a:pt x="10" y="1918"/>
                    <a:pt x="0" y="4294"/>
                  </a:cubicBezTo>
                  <a:lnTo>
                    <a:pt x="0" y="4904"/>
                  </a:lnTo>
                  <a:cubicBezTo>
                    <a:pt x="0" y="6488"/>
                    <a:pt x="697" y="7995"/>
                    <a:pt x="1908" y="9016"/>
                  </a:cubicBezTo>
                  <a:lnTo>
                    <a:pt x="4093" y="10848"/>
                  </a:lnTo>
                  <a:lnTo>
                    <a:pt x="4093" y="13538"/>
                  </a:lnTo>
                  <a:lnTo>
                    <a:pt x="4522" y="13538"/>
                  </a:lnTo>
                  <a:lnTo>
                    <a:pt x="4522" y="10848"/>
                  </a:lnTo>
                  <a:lnTo>
                    <a:pt x="6688" y="9016"/>
                  </a:lnTo>
                  <a:cubicBezTo>
                    <a:pt x="7900" y="7995"/>
                    <a:pt x="8596" y="6488"/>
                    <a:pt x="8596" y="4904"/>
                  </a:cubicBezTo>
                  <a:lnTo>
                    <a:pt x="8596" y="4294"/>
                  </a:lnTo>
                  <a:cubicBezTo>
                    <a:pt x="8596" y="1928"/>
                    <a:pt x="6678" y="1"/>
                    <a:pt x="4303" y="1"/>
                  </a:cubicBezTo>
                  <a:close/>
                </a:path>
              </a:pathLst>
            </a:custGeom>
            <a:solidFill>
              <a:srgbClr val="ACB9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2"/>
            <p:cNvSpPr/>
            <p:nvPr/>
          </p:nvSpPr>
          <p:spPr>
            <a:xfrm>
              <a:off x="7731964" y="3627335"/>
              <a:ext cx="22519" cy="33752"/>
            </a:xfrm>
            <a:custGeom>
              <a:rect b="b" l="l" r="r" t="t"/>
              <a:pathLst>
                <a:path extrusionOk="0" h="1289" w="860">
                  <a:moveTo>
                    <a:pt x="430" y="0"/>
                  </a:moveTo>
                  <a:cubicBezTo>
                    <a:pt x="191" y="0"/>
                    <a:pt x="1" y="191"/>
                    <a:pt x="1" y="430"/>
                  </a:cubicBezTo>
                  <a:lnTo>
                    <a:pt x="1" y="859"/>
                  </a:lnTo>
                  <a:cubicBezTo>
                    <a:pt x="1" y="1097"/>
                    <a:pt x="191" y="1288"/>
                    <a:pt x="430" y="1288"/>
                  </a:cubicBezTo>
                  <a:cubicBezTo>
                    <a:pt x="668" y="1288"/>
                    <a:pt x="859" y="1097"/>
                    <a:pt x="859" y="859"/>
                  </a:cubicBezTo>
                  <a:lnTo>
                    <a:pt x="859" y="430"/>
                  </a:lnTo>
                  <a:cubicBezTo>
                    <a:pt x="859" y="191"/>
                    <a:pt x="668" y="0"/>
                    <a:pt x="430" y="0"/>
                  </a:cubicBezTo>
                  <a:close/>
                </a:path>
              </a:pathLst>
            </a:custGeom>
            <a:solidFill>
              <a:srgbClr val="3951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2"/>
            <p:cNvSpPr/>
            <p:nvPr/>
          </p:nvSpPr>
          <p:spPr>
            <a:xfrm>
              <a:off x="7611565" y="3617333"/>
              <a:ext cx="52972" cy="83216"/>
            </a:xfrm>
            <a:custGeom>
              <a:rect b="b" l="l" r="r" t="t"/>
              <a:pathLst>
                <a:path extrusionOk="0" h="3178" w="2023">
                  <a:moveTo>
                    <a:pt x="248" y="1"/>
                  </a:moveTo>
                  <a:cubicBezTo>
                    <a:pt x="144" y="106"/>
                    <a:pt x="58" y="230"/>
                    <a:pt x="0" y="363"/>
                  </a:cubicBezTo>
                  <a:lnTo>
                    <a:pt x="1374" y="1575"/>
                  </a:lnTo>
                  <a:cubicBezTo>
                    <a:pt x="1508" y="1699"/>
                    <a:pt x="1584" y="1870"/>
                    <a:pt x="1594" y="2052"/>
                  </a:cubicBezTo>
                  <a:lnTo>
                    <a:pt x="1594" y="3177"/>
                  </a:lnTo>
                  <a:lnTo>
                    <a:pt x="2023" y="3177"/>
                  </a:lnTo>
                  <a:lnTo>
                    <a:pt x="2023" y="2052"/>
                  </a:lnTo>
                  <a:cubicBezTo>
                    <a:pt x="2023" y="1746"/>
                    <a:pt x="1889" y="1451"/>
                    <a:pt x="1660" y="1250"/>
                  </a:cubicBezTo>
                  <a:lnTo>
                    <a:pt x="248" y="1"/>
                  </a:lnTo>
                  <a:close/>
                </a:path>
              </a:pathLst>
            </a:custGeom>
            <a:solidFill>
              <a:srgbClr val="ACB9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2"/>
            <p:cNvSpPr/>
            <p:nvPr/>
          </p:nvSpPr>
          <p:spPr>
            <a:xfrm>
              <a:off x="7821909" y="3617333"/>
              <a:ext cx="52972" cy="82954"/>
            </a:xfrm>
            <a:custGeom>
              <a:rect b="b" l="l" r="r" t="t"/>
              <a:pathLst>
                <a:path extrusionOk="0" h="3168" w="2023">
                  <a:moveTo>
                    <a:pt x="1774" y="1"/>
                  </a:moveTo>
                  <a:lnTo>
                    <a:pt x="363" y="1250"/>
                  </a:lnTo>
                  <a:cubicBezTo>
                    <a:pt x="134" y="1451"/>
                    <a:pt x="0" y="1746"/>
                    <a:pt x="0" y="2052"/>
                  </a:cubicBezTo>
                  <a:lnTo>
                    <a:pt x="0" y="3168"/>
                  </a:lnTo>
                  <a:lnTo>
                    <a:pt x="429" y="3168"/>
                  </a:lnTo>
                  <a:lnTo>
                    <a:pt x="429" y="2052"/>
                  </a:lnTo>
                  <a:cubicBezTo>
                    <a:pt x="439" y="1870"/>
                    <a:pt x="515" y="1699"/>
                    <a:pt x="649" y="1575"/>
                  </a:cubicBezTo>
                  <a:lnTo>
                    <a:pt x="2023" y="354"/>
                  </a:lnTo>
                  <a:cubicBezTo>
                    <a:pt x="1956" y="220"/>
                    <a:pt x="1879" y="106"/>
                    <a:pt x="1774" y="1"/>
                  </a:cubicBezTo>
                  <a:close/>
                </a:path>
              </a:pathLst>
            </a:custGeom>
            <a:solidFill>
              <a:srgbClr val="ACB9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4"/>
          <p:cNvSpPr txBox="1"/>
          <p:nvPr>
            <p:ph type="title"/>
          </p:nvPr>
        </p:nvSpPr>
        <p:spPr>
          <a:xfrm>
            <a:off x="1319271" y="709470"/>
            <a:ext cx="6596630" cy="744796"/>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US" sz="3600">
                <a:latin typeface="Times New Roman"/>
                <a:ea typeface="Times New Roman"/>
                <a:cs typeface="Times New Roman"/>
                <a:sym typeface="Times New Roman"/>
              </a:rPr>
              <a:t>Problem Statement</a:t>
            </a:r>
            <a:endParaRPr sz="3600">
              <a:latin typeface="Times New Roman"/>
              <a:ea typeface="Times New Roman"/>
              <a:cs typeface="Times New Roman"/>
              <a:sym typeface="Times New Roman"/>
            </a:endParaRPr>
          </a:p>
        </p:txBody>
      </p:sp>
      <p:grpSp>
        <p:nvGrpSpPr>
          <p:cNvPr id="956" name="Google Shape;956;p4"/>
          <p:cNvGrpSpPr/>
          <p:nvPr/>
        </p:nvGrpSpPr>
        <p:grpSpPr>
          <a:xfrm>
            <a:off x="639818" y="1747641"/>
            <a:ext cx="2060833" cy="1717609"/>
            <a:chOff x="1136562" y="1210000"/>
            <a:chExt cx="2955371" cy="2463165"/>
          </a:xfrm>
        </p:grpSpPr>
        <p:sp>
          <p:nvSpPr>
            <p:cNvPr id="957" name="Google Shape;957;p4"/>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4"/>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4"/>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4"/>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4"/>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4"/>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4"/>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4"/>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4"/>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4"/>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4"/>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4"/>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4"/>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4"/>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4"/>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4"/>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4"/>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4"/>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4"/>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4"/>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4"/>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4"/>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4"/>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4"/>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4"/>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4"/>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4"/>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4"/>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4"/>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4"/>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4"/>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4"/>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4"/>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4"/>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4"/>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4"/>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4"/>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4"/>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4"/>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4"/>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4"/>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4"/>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4"/>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4"/>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4"/>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4"/>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4"/>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4"/>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4"/>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4"/>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4"/>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4"/>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4"/>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4"/>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4"/>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4"/>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4"/>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4"/>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4"/>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4"/>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4"/>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4"/>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4"/>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4"/>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4"/>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4"/>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4"/>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4"/>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4"/>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4"/>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4"/>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4"/>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4"/>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4"/>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4"/>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4"/>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4"/>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4"/>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4"/>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4"/>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4"/>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4"/>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4"/>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4"/>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4"/>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4"/>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4"/>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4"/>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4"/>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4"/>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4"/>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4"/>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4"/>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4"/>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4"/>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4"/>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4"/>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4"/>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4"/>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4"/>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4"/>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4"/>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4"/>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4"/>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4"/>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4"/>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4"/>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4"/>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4"/>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4"/>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4"/>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4"/>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4"/>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4"/>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4"/>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4"/>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4"/>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4"/>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4"/>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4"/>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4"/>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4"/>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4"/>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4"/>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4"/>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4"/>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4"/>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4"/>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4"/>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4"/>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4"/>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4"/>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4"/>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4"/>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4"/>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4"/>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4"/>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4"/>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4"/>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4"/>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4"/>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4"/>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4"/>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4"/>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4"/>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4"/>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4"/>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4"/>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4"/>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4"/>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4"/>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4"/>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4"/>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4"/>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4"/>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4"/>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4"/>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4"/>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4"/>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4"/>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4"/>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4"/>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4"/>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4"/>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4"/>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4"/>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4"/>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4"/>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4"/>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4"/>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4"/>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4"/>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4"/>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4"/>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4"/>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4"/>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4"/>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4"/>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4"/>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4"/>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4"/>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4"/>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4"/>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4"/>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4"/>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4"/>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4"/>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4"/>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4"/>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4"/>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4"/>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4"/>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4"/>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4"/>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4"/>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4"/>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4"/>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4"/>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4"/>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4"/>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4"/>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4"/>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4"/>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0" name="Google Shape;1160;p4"/>
          <p:cNvSpPr/>
          <p:nvPr/>
        </p:nvSpPr>
        <p:spPr>
          <a:xfrm>
            <a:off x="2910119" y="1521824"/>
            <a:ext cx="5560200" cy="28932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1400"/>
              <a:buFont typeface="Times New Roman"/>
              <a:buChar char="•"/>
            </a:pPr>
            <a:r>
              <a:rPr b="0" i="0" lang="en-US" sz="1400" u="none" cap="none" strike="noStrike">
                <a:solidFill>
                  <a:srgbClr val="273540"/>
                </a:solidFill>
                <a:latin typeface="Times New Roman"/>
                <a:ea typeface="Times New Roman"/>
                <a:cs typeface="Times New Roman"/>
                <a:sym typeface="Times New Roman"/>
              </a:rPr>
              <a:t>This project looks at how Large Language Models (LLMs) can be used to predict when a company’s stock might rise or fall in different situations. </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400"/>
              <a:buFont typeface="Times New Roman"/>
              <a:buChar char="•"/>
            </a:pPr>
            <a:r>
              <a:rPr b="0" i="0" lang="en-US" sz="1400" u="none" cap="none" strike="noStrike">
                <a:solidFill>
                  <a:srgbClr val="273540"/>
                </a:solidFill>
                <a:latin typeface="Times New Roman"/>
                <a:ea typeface="Times New Roman"/>
                <a:cs typeface="Times New Roman"/>
                <a:sym typeface="Times New Roman"/>
              </a:rPr>
              <a:t>By studying things like financial news, earnings reports, global events and influential tweets, the system tries to understand patterns in market sentiment and turn them into useful forecasts. </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400"/>
              <a:buFont typeface="Times New Roman"/>
              <a:buChar char="•"/>
            </a:pPr>
            <a:r>
              <a:rPr b="0" i="0" lang="en-US" sz="1400" u="none" cap="none" strike="noStrike">
                <a:solidFill>
                  <a:srgbClr val="273540"/>
                </a:solidFill>
                <a:latin typeface="Times New Roman"/>
                <a:ea typeface="Times New Roman"/>
                <a:cs typeface="Times New Roman"/>
                <a:sym typeface="Times New Roman"/>
              </a:rPr>
              <a:t>The aim is to see how well LLMs can connect language and data to make stock predictions more accurate and insightful. </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400"/>
              <a:buFont typeface="Times New Roman"/>
              <a:buChar char="•"/>
            </a:pPr>
            <a:r>
              <a:rPr b="0" i="0" lang="en-US" sz="1400" u="none" cap="none" strike="noStrike">
                <a:solidFill>
                  <a:srgbClr val="273540"/>
                </a:solidFill>
                <a:latin typeface="Times New Roman"/>
                <a:ea typeface="Times New Roman"/>
                <a:cs typeface="Times New Roman"/>
                <a:sym typeface="Times New Roman"/>
              </a:rPr>
              <a:t>Also, the system can be extended to provide Buy / Hold / Sell recommendations by mapping news-driven sentiment to potential market movements. </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400"/>
              <a:buFont typeface="Times New Roman"/>
              <a:buChar char="•"/>
            </a:pPr>
            <a:r>
              <a:rPr b="0" i="0" lang="en-US" sz="1400" u="none" cap="none" strike="noStrike">
                <a:solidFill>
                  <a:srgbClr val="273540"/>
                </a:solidFill>
                <a:latin typeface="Times New Roman"/>
                <a:ea typeface="Times New Roman"/>
                <a:cs typeface="Times New Roman"/>
                <a:sym typeface="Times New Roman"/>
              </a:rPr>
              <a:t>The goal is to make AI-powered market analysis more transparent, insightful, and decision-oriented.</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5"/>
          <p:cNvSpPr txBox="1"/>
          <p:nvPr>
            <p:ph type="title"/>
          </p:nvPr>
        </p:nvSpPr>
        <p:spPr>
          <a:xfrm>
            <a:off x="720000" y="575047"/>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Workflow</a:t>
            </a:r>
            <a:endParaRPr>
              <a:latin typeface="Times New Roman"/>
              <a:ea typeface="Times New Roman"/>
              <a:cs typeface="Times New Roman"/>
              <a:sym typeface="Times New Roman"/>
            </a:endParaRPr>
          </a:p>
        </p:txBody>
      </p:sp>
      <p:pic>
        <p:nvPicPr>
          <p:cNvPr id="1166" name="Google Shape;1166;p5"/>
          <p:cNvPicPr preferRelativeResize="0"/>
          <p:nvPr/>
        </p:nvPicPr>
        <p:blipFill rotWithShape="1">
          <a:blip r:embed="rId3">
            <a:alphaModFix/>
          </a:blip>
          <a:srcRect b="0" l="0" r="0" t="0"/>
          <a:stretch/>
        </p:blipFill>
        <p:spPr>
          <a:xfrm>
            <a:off x="1853149" y="1351422"/>
            <a:ext cx="5444602" cy="31645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6"/>
          <p:cNvSpPr txBox="1"/>
          <p:nvPr>
            <p:ph type="title"/>
          </p:nvPr>
        </p:nvSpPr>
        <p:spPr>
          <a:xfrm>
            <a:off x="727088" y="2254991"/>
            <a:ext cx="77109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latin typeface="Times New Roman"/>
                <a:ea typeface="Times New Roman"/>
                <a:cs typeface="Times New Roman"/>
                <a:sym typeface="Times New Roman"/>
              </a:rPr>
              <a:t>Literature Review</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8ca009c97a_0_3"/>
          <p:cNvSpPr txBox="1"/>
          <p:nvPr/>
        </p:nvSpPr>
        <p:spPr>
          <a:xfrm>
            <a:off x="511925" y="407850"/>
            <a:ext cx="7865400" cy="531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rPr b="0" i="0" lang="en-US" sz="2250" u="none" cap="none" strike="noStrike">
                <a:solidFill>
                  <a:srgbClr val="000000"/>
                </a:solidFill>
                <a:latin typeface="Times New Roman"/>
                <a:ea typeface="Times New Roman"/>
                <a:cs typeface="Times New Roman"/>
                <a:sym typeface="Times New Roman"/>
              </a:rPr>
              <a:t>1) Trading using LLM’s</a:t>
            </a:r>
            <a:endParaRPr b="0" i="0" sz="2250" u="none" cap="none" strike="noStrike">
              <a:solidFill>
                <a:srgbClr val="000000"/>
              </a:solidFill>
              <a:latin typeface="Times New Roman"/>
              <a:ea typeface="Times New Roman"/>
              <a:cs typeface="Times New Roman"/>
              <a:sym typeface="Times New Roman"/>
            </a:endParaRPr>
          </a:p>
        </p:txBody>
      </p:sp>
      <p:graphicFrame>
        <p:nvGraphicFramePr>
          <p:cNvPr id="1177" name="Google Shape;1177;g38ca009c97a_0_3"/>
          <p:cNvGraphicFramePr/>
          <p:nvPr/>
        </p:nvGraphicFramePr>
        <p:xfrm>
          <a:off x="511926" y="938850"/>
          <a:ext cx="3000000" cy="3000000"/>
        </p:xfrm>
        <a:graphic>
          <a:graphicData uri="http://schemas.openxmlformats.org/drawingml/2006/table">
            <a:tbl>
              <a:tblPr>
                <a:noFill/>
                <a:tableStyleId>{3E603A28-FFD9-49F6-A8E3-1C9D12FBBF8B}</a:tableStyleId>
              </a:tblPr>
              <a:tblGrid>
                <a:gridCol w="1764050"/>
                <a:gridCol w="3430825"/>
                <a:gridCol w="2925250"/>
              </a:tblGrid>
              <a:tr h="4274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659075">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Large Language Models in Equity Markets: Applications, Techniques, and Insights.</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Authors: </a:t>
                      </a:r>
                      <a:r>
                        <a:rPr lang="en-US" sz="1000" u="none" cap="none" strike="noStrike">
                          <a:solidFill>
                            <a:schemeClr val="dk1"/>
                          </a:solidFill>
                          <a:latin typeface="Times New Roman"/>
                          <a:ea typeface="Times New Roman"/>
                          <a:cs typeface="Times New Roman"/>
                          <a:sym typeface="Times New Roman"/>
                        </a:rPr>
                        <a:t>Jadhav, Aakanksha, and Vishal Mirza. - 2025.</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A comprehensive peer-reviewed survey looks at how LLMs are altering stock market research and trading.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It analyzes 80+ studies published between 2020 and 2025 on sentiment analysis, predictive modeling, trading bots, reinforcement learning, and risk management.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The research also looks at interpretability and ethics in financial AI.</a:t>
                      </a:r>
                      <a:endParaRPr sz="10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It demonstrates that textual sentiment and narrative signals from financial papers may accurately forecast price fluctuations, which is the primary notion of research.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It also frames </a:t>
                      </a:r>
                      <a:r>
                        <a:rPr b="1" lang="en-US" sz="1000" u="none" cap="none" strike="noStrike">
                          <a:latin typeface="Times New Roman"/>
                          <a:ea typeface="Times New Roman"/>
                          <a:cs typeface="Times New Roman"/>
                          <a:sym typeface="Times New Roman"/>
                        </a:rPr>
                        <a:t>LLMs as competent of delivering both interpretability (explaining the sentiment behind recommendations) and decision orientation (buy, hold, or sell)</a:t>
                      </a:r>
                      <a:r>
                        <a:rPr lang="en-US" sz="1000" u="none" cap="none" strike="noStrike">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691025">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Large Language Model Agent in Financial Trading: A Surve.</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latin typeface="Times New Roman"/>
                          <a:ea typeface="Times New Roman"/>
                          <a:cs typeface="Times New Roman"/>
                          <a:sym typeface="Times New Roman"/>
                        </a:rPr>
                        <a:t>Authors:</a:t>
                      </a:r>
                      <a:r>
                        <a:rPr lang="en-US" sz="1000" u="none" cap="none" strike="noStrike">
                          <a:solidFill>
                            <a:schemeClr val="dk1"/>
                          </a:solidFill>
                          <a:latin typeface="Times New Roman"/>
                          <a:ea typeface="Times New Roman"/>
                          <a:cs typeface="Times New Roman"/>
                          <a:sym typeface="Times New Roman"/>
                        </a:rPr>
                        <a:t> Ding, H., Y. Li, J. Wang, and H. Chen. - 2024.</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sng" cap="none" strike="noStrike">
                          <a:solidFill>
                            <a:schemeClr val="hlink"/>
                          </a:solidFill>
                          <a:latin typeface="Times New Roman"/>
                          <a:ea typeface="Times New Roman"/>
                          <a:cs typeface="Times New Roman"/>
                          <a:sym typeface="Times New Roman"/>
                          <a:hlinkClick r:id="rId4"/>
                        </a:rPr>
                        <a:t>LINK TO THE PAPER</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This survey focuses on LLM-based trading agents, which understand text and trade autonomously in simulations or live markets.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It examines how LLMs function as reasoning agents, coordinate in multi-agent systems, and interact with reinforcement learning to make judgments.</a:t>
                      </a:r>
                      <a:endParaRPr sz="10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The technology could turn into a decision-making trading helper.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survey demonstrates the "</a:t>
                      </a:r>
                      <a:r>
                        <a:rPr b="1" lang="en-US" sz="1000" u="none" cap="none" strike="noStrike">
                          <a:latin typeface="Times New Roman"/>
                          <a:ea typeface="Times New Roman"/>
                          <a:cs typeface="Times New Roman"/>
                          <a:sym typeface="Times New Roman"/>
                        </a:rPr>
                        <a:t>predict → decide → act</a:t>
                      </a:r>
                      <a:r>
                        <a:rPr lang="en-US" sz="1000" u="none" cap="none" strike="noStrike">
                          <a:latin typeface="Times New Roman"/>
                          <a:ea typeface="Times New Roman"/>
                          <a:cs typeface="Times New Roman"/>
                          <a:sym typeface="Times New Roman"/>
                        </a:rPr>
                        <a:t>" pipeline, which transforms language-understanding capabilities into trading bots.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It also </a:t>
                      </a:r>
                      <a:r>
                        <a:rPr b="1" lang="en-US" sz="1000" u="none" cap="none" strike="noStrike">
                          <a:latin typeface="Times New Roman"/>
                          <a:ea typeface="Times New Roman"/>
                          <a:cs typeface="Times New Roman"/>
                          <a:sym typeface="Times New Roman"/>
                        </a:rPr>
                        <a:t>emphasizes the relationship between sentiment extraction and automated trading behavior</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g38ca009c97a_0_16"/>
          <p:cNvSpPr txBox="1"/>
          <p:nvPr/>
        </p:nvSpPr>
        <p:spPr>
          <a:xfrm>
            <a:off x="650930" y="1114375"/>
            <a:ext cx="7865400" cy="3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t/>
            </a:r>
            <a:endParaRPr b="0" i="0" sz="1250" u="none" cap="none" strike="noStrike">
              <a:solidFill>
                <a:srgbClr val="000000"/>
              </a:solidFill>
              <a:latin typeface="Times New Roman"/>
              <a:ea typeface="Times New Roman"/>
              <a:cs typeface="Times New Roman"/>
              <a:sym typeface="Times New Roman"/>
            </a:endParaRPr>
          </a:p>
        </p:txBody>
      </p:sp>
      <p:graphicFrame>
        <p:nvGraphicFramePr>
          <p:cNvPr id="1183" name="Google Shape;1183;g38ca009c97a_0_16"/>
          <p:cNvGraphicFramePr/>
          <p:nvPr/>
        </p:nvGraphicFramePr>
        <p:xfrm>
          <a:off x="510525" y="394400"/>
          <a:ext cx="3000000" cy="3000000"/>
        </p:xfrm>
        <a:graphic>
          <a:graphicData uri="http://schemas.openxmlformats.org/drawingml/2006/table">
            <a:tbl>
              <a:tblPr>
                <a:noFill/>
                <a:tableStyleId>{3E603A28-FFD9-49F6-A8E3-1C9D12FBBF8B}</a:tableStyleId>
              </a:tblPr>
              <a:tblGrid>
                <a:gridCol w="2192725"/>
                <a:gridCol w="2964475"/>
                <a:gridCol w="2971275"/>
              </a:tblGrid>
              <a:tr h="4873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tc>
              </a:tr>
              <a:tr h="1931700">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AI Powered Indicatorless Algorithmic Trading Bot for Cryptocurrency and Financial Market.</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Authors: </a:t>
                      </a:r>
                      <a:r>
                        <a:rPr lang="en-US" sz="1000" u="none" cap="none" strike="noStrike">
                          <a:solidFill>
                            <a:schemeClr val="dk1"/>
                          </a:solidFill>
                          <a:latin typeface="Times New Roman"/>
                          <a:ea typeface="Times New Roman"/>
                          <a:cs typeface="Times New Roman"/>
                          <a:sym typeface="Times New Roman"/>
                        </a:rPr>
                        <a:t>Olorunsheye, Akinlemi Olushola, and S. P. Meenakshi. </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latin typeface="Times New Roman"/>
                          <a:ea typeface="Times New Roman"/>
                          <a:cs typeface="Times New Roman"/>
                          <a:sym typeface="Times New Roman"/>
                        </a:rPr>
                        <a:t>- 2024.</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just">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presents an AI-based trading bot that predicts market movements and executes </a:t>
                      </a:r>
                      <a:r>
                        <a:rPr b="1" lang="en-US" sz="1000" u="none" cap="none" strike="noStrike">
                          <a:latin typeface="Times New Roman"/>
                          <a:ea typeface="Times New Roman"/>
                          <a:cs typeface="Times New Roman"/>
                          <a:sym typeface="Times New Roman"/>
                        </a:rPr>
                        <a:t>trades without relying on traditional indicators</a:t>
                      </a:r>
                      <a:r>
                        <a:rPr lang="en-US" sz="1000" u="none" cap="none" strike="noStrike">
                          <a:latin typeface="Times New Roman"/>
                          <a:ea typeface="Times New Roman"/>
                          <a:cs typeface="Times New Roman"/>
                          <a:sym typeface="Times New Roman"/>
                        </a:rPr>
                        <a:t>. </a:t>
                      </a:r>
                      <a:endParaRPr sz="1000" u="none" cap="none" strike="noStrike">
                        <a:latin typeface="Times New Roman"/>
                        <a:ea typeface="Times New Roman"/>
                        <a:cs typeface="Times New Roman"/>
                        <a:sym typeface="Times New Roman"/>
                      </a:endParaRPr>
                    </a:p>
                    <a:p>
                      <a:pPr indent="-292100" lvl="0" marL="457200" marR="0" rtl="0" algn="just">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Using price action analysis and a mathematical recovery lot-sizing model trained on eight years of data, </a:t>
                      </a:r>
                      <a:r>
                        <a:rPr b="1" lang="en-US" sz="1000" u="none" cap="none" strike="noStrike">
                          <a:latin typeface="Times New Roman"/>
                          <a:ea typeface="Times New Roman"/>
                          <a:cs typeface="Times New Roman"/>
                          <a:sym typeface="Times New Roman"/>
                        </a:rPr>
                        <a:t>it achieved a 297% profit over 22 months with only 1.06% drawdown</a:t>
                      </a:r>
                      <a:r>
                        <a:rPr lang="en-US" sz="1000" u="none" cap="none" strike="noStrike">
                          <a:latin typeface="Times New Roman"/>
                          <a:ea typeface="Times New Roman"/>
                          <a:cs typeface="Times New Roman"/>
                          <a:sym typeface="Times New Roman"/>
                        </a:rPr>
                        <a:t>, outperforming indicator-based methods.</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just">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supports our project by showing how AI can learn patterns directly from raw market data, similar to your goal of using large language models to </a:t>
                      </a:r>
                      <a:r>
                        <a:rPr b="1" lang="en-US" sz="1000" u="none" cap="none" strike="noStrike">
                          <a:latin typeface="Times New Roman"/>
                          <a:ea typeface="Times New Roman"/>
                          <a:cs typeface="Times New Roman"/>
                          <a:sym typeface="Times New Roman"/>
                        </a:rPr>
                        <a:t>extract sentiment and predictive insights from financial news</a:t>
                      </a:r>
                      <a:r>
                        <a:rPr lang="en-US" sz="1000" u="none" cap="none" strike="noStrike">
                          <a:latin typeface="Times New Roman"/>
                          <a:ea typeface="Times New Roman"/>
                          <a:cs typeface="Times New Roman"/>
                          <a:sym typeface="Times New Roman"/>
                        </a:rPr>
                        <a:t> for smarter, adaptive trading strategies.</a:t>
                      </a:r>
                      <a:endParaRPr sz="1000" u="none" cap="none" strike="noStrike">
                        <a:latin typeface="Times New Roman"/>
                        <a:ea typeface="Times New Roman"/>
                        <a:cs typeface="Times New Roman"/>
                        <a:sym typeface="Times New Roman"/>
                      </a:endParaRPr>
                    </a:p>
                  </a:txBody>
                  <a:tcPr marT="91425" marB="91425" marR="91425" marL="91425"/>
                </a:tc>
              </a:tr>
              <a:tr h="1929725">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Machine Learning, Stock Market Forecasting, and Market Efficiency: A Comparative Study.</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Authors: </a:t>
                      </a:r>
                      <a:r>
                        <a:rPr lang="en-US" sz="1000" u="none" cap="none" strike="noStrike">
                          <a:solidFill>
                            <a:schemeClr val="dk1"/>
                          </a:solidFill>
                          <a:latin typeface="Times New Roman"/>
                          <a:ea typeface="Times New Roman"/>
                          <a:cs typeface="Times New Roman"/>
                          <a:sym typeface="Times New Roman"/>
                        </a:rPr>
                        <a:t>Bustos, Oscar, Alexandra Pomares-Quimbaya, and Rémi Stellian. - 2025.</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sng" cap="none" strike="noStrike">
                          <a:solidFill>
                            <a:schemeClr val="hlink"/>
                          </a:solidFill>
                          <a:latin typeface="Times New Roman"/>
                          <a:ea typeface="Times New Roman"/>
                          <a:cs typeface="Times New Roman"/>
                          <a:sym typeface="Times New Roman"/>
                          <a:hlinkClick r:id="rId4"/>
                        </a:rPr>
                        <a:t>LINK TO THE PAPER</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study compares and tests numerous machine learning models for stock forecasting (</a:t>
                      </a:r>
                      <a:r>
                        <a:rPr b="1" lang="en-US" sz="1000" u="none" cap="none" strike="noStrike">
                          <a:latin typeface="Times New Roman"/>
                          <a:ea typeface="Times New Roman"/>
                          <a:cs typeface="Times New Roman"/>
                          <a:sym typeface="Times New Roman"/>
                        </a:rPr>
                        <a:t>Random Forest, SVM, LSTM, XGBoost</a:t>
                      </a:r>
                      <a:r>
                        <a:rPr lang="en-US" sz="1000" u="none" cap="none" strike="noStrike">
                          <a:latin typeface="Times New Roman"/>
                          <a:ea typeface="Times New Roman"/>
                          <a:cs typeface="Times New Roman"/>
                          <a:sym typeface="Times New Roman"/>
                        </a:rPr>
                        <a:t>, etc.) using the Efficient Market Hypothesis.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It concludes that, while ML </a:t>
                      </a:r>
                      <a:r>
                        <a:rPr b="1" lang="en-US" sz="1000" u="none" cap="none" strike="noStrike">
                          <a:latin typeface="Times New Roman"/>
                          <a:ea typeface="Times New Roman"/>
                          <a:cs typeface="Times New Roman"/>
                          <a:sym typeface="Times New Roman"/>
                        </a:rPr>
                        <a:t>may identify short-term predictive patterns</a:t>
                      </a:r>
                      <a:r>
                        <a:rPr lang="en-US" sz="1000" u="none" cap="none" strike="noStrike">
                          <a:latin typeface="Times New Roman"/>
                          <a:ea typeface="Times New Roman"/>
                          <a:cs typeface="Times New Roman"/>
                          <a:sym typeface="Times New Roman"/>
                        </a:rPr>
                        <a:t>, true long-term forecasting is limited by market efficiency.</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It serves as the non-text baseline for work, demonstrating what typical machine learning can do in the absence of language models.</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LLM-based approach incorporates the missing </a:t>
                      </a:r>
                      <a:r>
                        <a:rPr b="1" lang="en-US" sz="1000" u="none" cap="none" strike="noStrike">
                          <a:latin typeface="Times New Roman"/>
                          <a:ea typeface="Times New Roman"/>
                          <a:cs typeface="Times New Roman"/>
                          <a:sym typeface="Times New Roman"/>
                        </a:rPr>
                        <a:t>"semantic sentiment layer," potentially providing an advantage in less efficient, sentiment-driven times</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graphicFrame>
        <p:nvGraphicFramePr>
          <p:cNvPr id="1188" name="Google Shape;1188;g38ca009c97a_0_21"/>
          <p:cNvGraphicFramePr/>
          <p:nvPr/>
        </p:nvGraphicFramePr>
        <p:xfrm>
          <a:off x="518663" y="392425"/>
          <a:ext cx="3000000" cy="3000000"/>
        </p:xfrm>
        <a:graphic>
          <a:graphicData uri="http://schemas.openxmlformats.org/drawingml/2006/table">
            <a:tbl>
              <a:tblPr>
                <a:noFill/>
                <a:tableStyleId>{3E603A28-FFD9-49F6-A8E3-1C9D12FBBF8B}</a:tableStyleId>
              </a:tblPr>
              <a:tblGrid>
                <a:gridCol w="2231125"/>
                <a:gridCol w="2865825"/>
                <a:gridCol w="3009725"/>
              </a:tblGrid>
              <a:tr h="4286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tc>
              </a:tr>
              <a:tr h="1911525">
                <a:tc>
                  <a:txBody>
                    <a:bodyPr/>
                    <a:lstStyle/>
                    <a:p>
                      <a:pPr indent="0" lvl="0" marL="0" marR="0" rtl="0" algn="just">
                        <a:lnSpc>
                          <a:spcPct val="100000"/>
                        </a:lnSpc>
                        <a:spcBef>
                          <a:spcPts val="0"/>
                        </a:spcBef>
                        <a:spcAft>
                          <a:spcPts val="0"/>
                        </a:spcAft>
                        <a:buClr>
                          <a:srgbClr val="000000"/>
                        </a:buClr>
                        <a:buSzPts val="1250"/>
                        <a:buFont typeface="Arial"/>
                        <a:buNone/>
                      </a:pPr>
                      <a:r>
                        <a:rPr b="1" lang="en-US" sz="1000" u="none" cap="none" strike="noStrike">
                          <a:latin typeface="Times New Roman"/>
                          <a:ea typeface="Times New Roman"/>
                          <a:cs typeface="Times New Roman"/>
                          <a:sym typeface="Times New Roman"/>
                        </a:rPr>
                        <a:t>Transforming Algorithmic Trading with AI: Achieving Competitive Market Edge.</a:t>
                      </a:r>
                      <a:endParaRPr b="1" sz="10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250"/>
                        <a:buFont typeface="Arial"/>
                        <a:buNone/>
                      </a:pPr>
                      <a:r>
                        <a:t/>
                      </a:r>
                      <a:endParaRPr b="1" sz="10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250"/>
                        <a:buFont typeface="Arial"/>
                        <a:buNone/>
                      </a:pPr>
                      <a:r>
                        <a:rPr b="1" lang="en-US" sz="1000" u="none" cap="none" strike="noStrike">
                          <a:latin typeface="Times New Roman"/>
                          <a:ea typeface="Times New Roman"/>
                          <a:cs typeface="Times New Roman"/>
                          <a:sym typeface="Times New Roman"/>
                        </a:rPr>
                        <a:t>Authors: </a:t>
                      </a:r>
                      <a:r>
                        <a:rPr lang="en-US" sz="1000" u="none" cap="none" strike="noStrike">
                          <a:solidFill>
                            <a:schemeClr val="dk1"/>
                          </a:solidFill>
                          <a:latin typeface="Times New Roman"/>
                          <a:ea typeface="Times New Roman"/>
                          <a:cs typeface="Times New Roman"/>
                          <a:sym typeface="Times New Roman"/>
                        </a:rPr>
                        <a:t>Vardhan, Harsh, Neha Sharma, Manish Kumar, Rahul Kumar Singh, Riman Mandal, and Imran Siraj. - 2024.</a:t>
                      </a:r>
                      <a:endParaRPr sz="1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25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just">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explores an AI-based trading bot that applies the </a:t>
                      </a:r>
                      <a:r>
                        <a:rPr b="1" lang="en-US" sz="1000" u="none" cap="none" strike="noStrike">
                          <a:latin typeface="Times New Roman"/>
                          <a:ea typeface="Times New Roman"/>
                          <a:cs typeface="Times New Roman"/>
                          <a:sym typeface="Times New Roman"/>
                        </a:rPr>
                        <a:t>Dollar Cost Averaging (DCA) strategy to automate market orders</a:t>
                      </a:r>
                      <a:r>
                        <a:rPr lang="en-US" sz="1000" u="none" cap="none" strike="noStrike">
                          <a:latin typeface="Times New Roman"/>
                          <a:ea typeface="Times New Roman"/>
                          <a:cs typeface="Times New Roman"/>
                          <a:sym typeface="Times New Roman"/>
                        </a:rPr>
                        <a:t>, manage risk, and ensure consistent profits. </a:t>
                      </a:r>
                      <a:endParaRPr sz="1000" u="none" cap="none" strike="noStrike">
                        <a:latin typeface="Times New Roman"/>
                        <a:ea typeface="Times New Roman"/>
                        <a:cs typeface="Times New Roman"/>
                        <a:sym typeface="Times New Roman"/>
                      </a:endParaRPr>
                    </a:p>
                    <a:p>
                      <a:pPr indent="-292100" lvl="0" marL="457200" marR="0" rtl="0" algn="just">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Tested on historical data, the bot achieved steady 2% gains per trade while maintaining effective risk control. </a:t>
                      </a:r>
                      <a:endParaRPr sz="1000" u="none" cap="none" strike="noStrike">
                        <a:latin typeface="Times New Roman"/>
                        <a:ea typeface="Times New Roman"/>
                        <a:cs typeface="Times New Roman"/>
                        <a:sym typeface="Times New Roman"/>
                      </a:endParaRPr>
                    </a:p>
                    <a:p>
                      <a:pPr indent="-292100" lvl="0" marL="457200" marR="0" rtl="0" algn="just">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The study also reviews AI techniques such as </a:t>
                      </a:r>
                      <a:r>
                        <a:rPr b="1" lang="en-US" sz="1000" u="none" cap="none" strike="noStrike">
                          <a:latin typeface="Times New Roman"/>
                          <a:ea typeface="Times New Roman"/>
                          <a:cs typeface="Times New Roman"/>
                          <a:sym typeface="Times New Roman"/>
                        </a:rPr>
                        <a:t>deep learning and reinforcement learning</a:t>
                      </a:r>
                      <a:r>
                        <a:rPr lang="en-US" sz="1000" u="none" cap="none" strike="noStrike">
                          <a:latin typeface="Times New Roman"/>
                          <a:ea typeface="Times New Roman"/>
                          <a:cs typeface="Times New Roman"/>
                          <a:sym typeface="Times New Roman"/>
                        </a:rPr>
                        <a:t> for market forecasting and trading optimization.</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just">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helps our project by showing how </a:t>
                      </a:r>
                      <a:r>
                        <a:rPr b="1" lang="en-US" sz="1000" u="none" cap="none" strike="noStrike">
                          <a:latin typeface="Times New Roman"/>
                          <a:ea typeface="Times New Roman"/>
                          <a:cs typeface="Times New Roman"/>
                          <a:sym typeface="Times New Roman"/>
                        </a:rPr>
                        <a:t>AI can automate trading and analyze market patterns</a:t>
                      </a:r>
                      <a:r>
                        <a:rPr lang="en-US" sz="1000" u="none" cap="none" strike="noStrike">
                          <a:latin typeface="Times New Roman"/>
                          <a:ea typeface="Times New Roman"/>
                          <a:cs typeface="Times New Roman"/>
                          <a:sym typeface="Times New Roman"/>
                        </a:rPr>
                        <a:t>—an approach we can extend using LLMs to interpret financial news, earnings reports, and global events for sentiment-based predictions. </a:t>
                      </a:r>
                      <a:endParaRPr sz="1000" u="none" cap="none" strike="noStrike">
                        <a:latin typeface="Times New Roman"/>
                        <a:ea typeface="Times New Roman"/>
                        <a:cs typeface="Times New Roman"/>
                        <a:sym typeface="Times New Roman"/>
                      </a:endParaRPr>
                    </a:p>
                    <a:p>
                      <a:pPr indent="-292100" lvl="0" marL="457200" marR="0" rtl="0" algn="just">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It </a:t>
                      </a:r>
                      <a:r>
                        <a:rPr b="1" lang="en-US" sz="1000" u="none" cap="none" strike="noStrike">
                          <a:latin typeface="Times New Roman"/>
                          <a:ea typeface="Times New Roman"/>
                          <a:cs typeface="Times New Roman"/>
                          <a:sym typeface="Times New Roman"/>
                        </a:rPr>
                        <a:t>provides a strong foundation for linking quantitative trading algorithms with language-driven financial intelligence</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8c99c5b328_0_0"/>
          <p:cNvSpPr txBox="1"/>
          <p:nvPr/>
        </p:nvSpPr>
        <p:spPr>
          <a:xfrm>
            <a:off x="511955" y="401400"/>
            <a:ext cx="7865400" cy="531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rPr b="0" i="0" lang="en-US" sz="2250" u="none" cap="none" strike="noStrike">
                <a:solidFill>
                  <a:srgbClr val="000000"/>
                </a:solidFill>
                <a:latin typeface="Times New Roman"/>
                <a:ea typeface="Times New Roman"/>
                <a:cs typeface="Times New Roman"/>
                <a:sym typeface="Times New Roman"/>
              </a:rPr>
              <a:t>2) LLMs using Financial News</a:t>
            </a:r>
            <a:endParaRPr b="0" i="0" sz="2250" u="none" cap="none" strike="noStrike">
              <a:solidFill>
                <a:srgbClr val="000000"/>
              </a:solidFill>
              <a:latin typeface="Times New Roman"/>
              <a:ea typeface="Times New Roman"/>
              <a:cs typeface="Times New Roman"/>
              <a:sym typeface="Times New Roman"/>
            </a:endParaRPr>
          </a:p>
        </p:txBody>
      </p:sp>
      <p:graphicFrame>
        <p:nvGraphicFramePr>
          <p:cNvPr id="1194" name="Google Shape;1194;g38c99c5b328_0_0"/>
          <p:cNvGraphicFramePr/>
          <p:nvPr/>
        </p:nvGraphicFramePr>
        <p:xfrm>
          <a:off x="511926" y="932400"/>
          <a:ext cx="3000000" cy="3000000"/>
        </p:xfrm>
        <a:graphic>
          <a:graphicData uri="http://schemas.openxmlformats.org/drawingml/2006/table">
            <a:tbl>
              <a:tblPr>
                <a:noFill/>
                <a:tableStyleId>{3E603A28-FFD9-49F6-A8E3-1C9D12FBBF8B}</a:tableStyleId>
              </a:tblPr>
              <a:tblGrid>
                <a:gridCol w="1842250"/>
                <a:gridCol w="3975200"/>
                <a:gridCol w="2302675"/>
              </a:tblGrid>
              <a:tr h="39282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692350">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Stock Price Trend Prediction using Emotion Analysis of Financial Headlines with Distilled LLM Model.</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Authors: </a:t>
                      </a:r>
                      <a:r>
                        <a:rPr lang="en-US" sz="1000" u="none" cap="none" strike="noStrike">
                          <a:solidFill>
                            <a:schemeClr val="dk1"/>
                          </a:solidFill>
                          <a:latin typeface="Times New Roman"/>
                          <a:ea typeface="Times New Roman"/>
                          <a:cs typeface="Times New Roman"/>
                          <a:sym typeface="Times New Roman"/>
                        </a:rPr>
                        <a:t>Bhat, Rithesh, and Bhanu Jain. - 2024.</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shows </a:t>
                      </a:r>
                      <a:r>
                        <a:rPr b="1" lang="en-US" sz="1000" u="none" cap="none" strike="noStrike">
                          <a:latin typeface="Times New Roman"/>
                          <a:ea typeface="Times New Roman"/>
                          <a:cs typeface="Times New Roman"/>
                          <a:sym typeface="Times New Roman"/>
                        </a:rPr>
                        <a:t>how emotions in financial news headlines can predict stock price movements</a:t>
                      </a:r>
                      <a:r>
                        <a:rPr lang="en-US" sz="1000" u="none" cap="none" strike="noStrike">
                          <a:latin typeface="Times New Roman"/>
                          <a:ea typeface="Times New Roman"/>
                          <a:cs typeface="Times New Roman"/>
                          <a:sym typeface="Times New Roman"/>
                        </a:rPr>
                        <a:t> without relying on traditional market data.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Using APIs to collect headlines from major U.S. companies, the authors fine-tuned a Distilled LLM (</a:t>
                      </a:r>
                      <a:r>
                        <a:rPr b="1" lang="en-US" sz="1000" u="none" cap="none" strike="noStrike">
                          <a:latin typeface="Times New Roman"/>
                          <a:ea typeface="Times New Roman"/>
                          <a:cs typeface="Times New Roman"/>
                          <a:sym typeface="Times New Roman"/>
                        </a:rPr>
                        <a:t>DistilRoBERTa</a:t>
                      </a:r>
                      <a:r>
                        <a:rPr lang="en-US" sz="1000" u="none" cap="none" strike="noStrike">
                          <a:latin typeface="Times New Roman"/>
                          <a:ea typeface="Times New Roman"/>
                          <a:cs typeface="Times New Roman"/>
                          <a:sym typeface="Times New Roman"/>
                        </a:rPr>
                        <a:t>) model to detect emotional tones like joy, fear, and sadness, and trained machine learning models to forecast next-day price direction. </a:t>
                      </a:r>
                      <a:endParaRPr sz="8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helps our project by providing evidence that </a:t>
                      </a:r>
                      <a:r>
                        <a:rPr b="1" lang="en-US" sz="1000" u="none" cap="none" strike="noStrike">
                          <a:latin typeface="Times New Roman"/>
                          <a:ea typeface="Times New Roman"/>
                          <a:cs typeface="Times New Roman"/>
                          <a:sym typeface="Times New Roman"/>
                        </a:rPr>
                        <a:t>lightweight LLMs can efficiently analyze financial text</a:t>
                      </a:r>
                      <a:r>
                        <a:rPr lang="en-US" sz="1000" u="none" cap="none" strike="noStrike">
                          <a:latin typeface="Times New Roman"/>
                          <a:ea typeface="Times New Roman"/>
                          <a:cs typeface="Times New Roman"/>
                          <a:sym typeface="Times New Roman"/>
                        </a:rPr>
                        <a:t>, supporting our goal of using large language models to </a:t>
                      </a:r>
                      <a:r>
                        <a:rPr b="1" lang="en-US" sz="1000" u="none" cap="none" strike="noStrike">
                          <a:latin typeface="Times New Roman"/>
                          <a:ea typeface="Times New Roman"/>
                          <a:cs typeface="Times New Roman"/>
                          <a:sym typeface="Times New Roman"/>
                        </a:rPr>
                        <a:t>interpret news and global events for sentiment-driven trading forecasts</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722575">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FinLlama: LLM-Based Financial Sentiment Analysis for Algorithmic Trading.</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Authors: </a:t>
                      </a:r>
                      <a:r>
                        <a:rPr lang="en-US" sz="1000" u="none" cap="none" strike="noStrike">
                          <a:solidFill>
                            <a:schemeClr val="dk1"/>
                          </a:solidFill>
                          <a:latin typeface="Times New Roman"/>
                          <a:ea typeface="Times New Roman"/>
                          <a:cs typeface="Times New Roman"/>
                          <a:sym typeface="Times New Roman"/>
                        </a:rPr>
                        <a:t>Iacovides, Giorgos, Thanos Konstantinidis, Mingxue Xu, and Danilo Mandic.</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latin typeface="Times New Roman"/>
                          <a:ea typeface="Times New Roman"/>
                          <a:cs typeface="Times New Roman"/>
                          <a:sym typeface="Times New Roman"/>
                        </a:rPr>
                        <a:t> - 2024.</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sng" cap="none" strike="noStrike">
                          <a:solidFill>
                            <a:schemeClr val="hlink"/>
                          </a:solidFill>
                          <a:latin typeface="Times New Roman"/>
                          <a:ea typeface="Times New Roman"/>
                          <a:cs typeface="Times New Roman"/>
                          <a:sym typeface="Times New Roman"/>
                          <a:hlinkClick r:id="rId4"/>
                        </a:rPr>
                        <a:t>LINK TO THE PAPER</a:t>
                      </a:r>
                      <a:r>
                        <a:rPr lang="en-US" sz="1000" u="none" cap="none" strike="noStrike">
                          <a:solidFill>
                            <a:schemeClr val="dk1"/>
                          </a:solidFill>
                          <a:latin typeface="Times New Roman"/>
                          <a:ea typeface="Times New Roman"/>
                          <a:cs typeface="Times New Roman"/>
                          <a:sym typeface="Times New Roman"/>
                        </a:rPr>
                        <a:t> </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85750" lvl="0" marL="457200" marR="0" rtl="0" algn="l">
                        <a:lnSpc>
                          <a:spcPct val="100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This paper introduces </a:t>
                      </a:r>
                      <a:r>
                        <a:rPr b="1" lang="en-US" sz="1000" u="none" cap="none" strike="noStrike">
                          <a:latin typeface="Times New Roman"/>
                          <a:ea typeface="Times New Roman"/>
                          <a:cs typeface="Times New Roman"/>
                          <a:sym typeface="Times New Roman"/>
                        </a:rPr>
                        <a:t>FinLlama</a:t>
                      </a:r>
                      <a:r>
                        <a:rPr lang="en-US" sz="1000" u="none" cap="none" strike="noStrike">
                          <a:latin typeface="Times New Roman"/>
                          <a:ea typeface="Times New Roman"/>
                          <a:cs typeface="Times New Roman"/>
                          <a:sym typeface="Times New Roman"/>
                        </a:rPr>
                        <a:t>, a finance-specific LLM fine-tuned from </a:t>
                      </a:r>
                      <a:r>
                        <a:rPr b="1" lang="en-US" sz="1000" u="none" cap="none" strike="noStrike">
                          <a:latin typeface="Times New Roman"/>
                          <a:ea typeface="Times New Roman"/>
                          <a:cs typeface="Times New Roman"/>
                          <a:sym typeface="Times New Roman"/>
                        </a:rPr>
                        <a:t>Llama 2 (7B)</a:t>
                      </a:r>
                      <a:r>
                        <a:rPr lang="en-US" sz="1000" u="none" cap="none" strike="noStrike">
                          <a:latin typeface="Times New Roman"/>
                          <a:ea typeface="Times New Roman"/>
                          <a:cs typeface="Times New Roman"/>
                          <a:sym typeface="Times New Roman"/>
                        </a:rPr>
                        <a:t> using </a:t>
                      </a:r>
                      <a:r>
                        <a:rPr b="1" lang="en-US" sz="1000" u="none" cap="none" strike="noStrike">
                          <a:latin typeface="Times New Roman"/>
                          <a:ea typeface="Times New Roman"/>
                          <a:cs typeface="Times New Roman"/>
                          <a:sym typeface="Times New Roman"/>
                        </a:rPr>
                        <a:t>LoRA</a:t>
                      </a:r>
                      <a:r>
                        <a:rPr lang="en-US" sz="1000" u="none" cap="none" strike="noStrike">
                          <a:latin typeface="Times New Roman"/>
                          <a:ea typeface="Times New Roman"/>
                          <a:cs typeface="Times New Roman"/>
                          <a:sym typeface="Times New Roman"/>
                        </a:rPr>
                        <a:t> for financial sentiment analysis and trading.</a:t>
                      </a:r>
                      <a:endParaRPr sz="1000" u="none" cap="none" strike="noStrike">
                        <a:latin typeface="Times New Roman"/>
                        <a:ea typeface="Times New Roman"/>
                        <a:cs typeface="Times New Roman"/>
                        <a:sym typeface="Times New Roman"/>
                      </a:endParaRPr>
                    </a:p>
                    <a:p>
                      <a:pPr indent="-285750" lvl="0" marL="457200" marR="0" rtl="0" algn="l">
                        <a:lnSpc>
                          <a:spcPct val="100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It classifies sentiment as positive, negative, or neutral while measuring its strength, analyzing news from sources like </a:t>
                      </a:r>
                      <a:r>
                        <a:rPr b="1" lang="en-US" sz="1000" u="none" cap="none" strike="noStrike">
                          <a:latin typeface="Times New Roman"/>
                          <a:ea typeface="Times New Roman"/>
                          <a:cs typeface="Times New Roman"/>
                          <a:sym typeface="Times New Roman"/>
                        </a:rPr>
                        <a:t>Reuters</a:t>
                      </a:r>
                      <a:r>
                        <a:rPr lang="en-US" sz="1000" u="none" cap="none" strike="noStrike">
                          <a:latin typeface="Times New Roman"/>
                          <a:ea typeface="Times New Roman"/>
                          <a:cs typeface="Times New Roman"/>
                          <a:sym typeface="Times New Roman"/>
                        </a:rPr>
                        <a:t> and </a:t>
                      </a:r>
                      <a:r>
                        <a:rPr b="1" lang="en-US" sz="1000" u="none" cap="none" strike="noStrike">
                          <a:latin typeface="Times New Roman"/>
                          <a:ea typeface="Times New Roman"/>
                          <a:cs typeface="Times New Roman"/>
                          <a:sym typeface="Times New Roman"/>
                        </a:rPr>
                        <a:t>MarketWatch</a:t>
                      </a:r>
                      <a:r>
                        <a:rPr lang="en-US" sz="1000" u="none" cap="none" strike="noStrike">
                          <a:latin typeface="Times New Roman"/>
                          <a:ea typeface="Times New Roman"/>
                          <a:cs typeface="Times New Roman"/>
                          <a:sym typeface="Times New Roman"/>
                        </a:rPr>
                        <a:t> to generate trading signals.</a:t>
                      </a:r>
                      <a:endParaRPr sz="1000" u="none" cap="none" strike="noStrike">
                        <a:latin typeface="Times New Roman"/>
                        <a:ea typeface="Times New Roman"/>
                        <a:cs typeface="Times New Roman"/>
                        <a:sym typeface="Times New Roman"/>
                      </a:endParaRPr>
                    </a:p>
                    <a:p>
                      <a:pPr indent="-285750" lvl="0" marL="457200" marR="0" rtl="0" algn="l">
                        <a:lnSpc>
                          <a:spcPct val="100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FinLlama outperforms lexicon-based methods and </a:t>
                      </a:r>
                      <a:r>
                        <a:rPr b="1" lang="en-US" sz="1000" u="none" cap="none" strike="noStrike">
                          <a:latin typeface="Times New Roman"/>
                          <a:ea typeface="Times New Roman"/>
                          <a:cs typeface="Times New Roman"/>
                          <a:sym typeface="Times New Roman"/>
                        </a:rPr>
                        <a:t>FinBERT</a:t>
                      </a:r>
                      <a:r>
                        <a:rPr lang="en-US" sz="1000" u="none" cap="none" strike="noStrike">
                          <a:latin typeface="Times New Roman"/>
                          <a:ea typeface="Times New Roman"/>
                          <a:cs typeface="Times New Roman"/>
                          <a:sym typeface="Times New Roman"/>
                        </a:rPr>
                        <a:t>, achieving </a:t>
                      </a:r>
                      <a:r>
                        <a:rPr b="1" lang="en-US" sz="1000" u="none" cap="none" strike="noStrike">
                          <a:latin typeface="Times New Roman"/>
                          <a:ea typeface="Times New Roman"/>
                          <a:cs typeface="Times New Roman"/>
                          <a:sym typeface="Times New Roman"/>
                        </a:rPr>
                        <a:t>308% cumulative returns</a:t>
                      </a:r>
                      <a:r>
                        <a:rPr lang="en-US" sz="1000" u="none" cap="none" strike="noStrike">
                          <a:latin typeface="Times New Roman"/>
                          <a:ea typeface="Times New Roman"/>
                          <a:cs typeface="Times New Roman"/>
                          <a:sym typeface="Times New Roman"/>
                        </a:rPr>
                        <a:t> and a </a:t>
                      </a:r>
                      <a:r>
                        <a:rPr b="1" lang="en-US" sz="1000" u="none" cap="none" strike="noStrike">
                          <a:latin typeface="Times New Roman"/>
                          <a:ea typeface="Times New Roman"/>
                          <a:cs typeface="Times New Roman"/>
                          <a:sym typeface="Times New Roman"/>
                        </a:rPr>
                        <a:t>Sharpe ratio of 2.4</a:t>
                      </a:r>
                      <a:r>
                        <a:rPr lang="en-US" sz="1000" u="none" cap="none" strike="noStrike">
                          <a:latin typeface="Times New Roman"/>
                          <a:ea typeface="Times New Roman"/>
                          <a:cs typeface="Times New Roman"/>
                          <a:sym typeface="Times New Roman"/>
                        </a:rPr>
                        <a:t>, showing that fine-tuned LLMs can turn news sentiment into profitable trading insights.</a:t>
                      </a:r>
                      <a:endParaRPr sz="9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supports our project by showing how fine-tuned LLMs can turn financial text into actionable trading signals, aligning with our goal of using </a:t>
                      </a:r>
                      <a:r>
                        <a:rPr b="1" lang="en-US" sz="1000" u="none" cap="none" strike="noStrike">
                          <a:latin typeface="Times New Roman"/>
                          <a:ea typeface="Times New Roman"/>
                          <a:cs typeface="Times New Roman"/>
                          <a:sym typeface="Times New Roman"/>
                        </a:rPr>
                        <a:t>large language models for sentiment-driven market forecasting</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g38c99c5b328_0_14"/>
          <p:cNvSpPr txBox="1"/>
          <p:nvPr/>
        </p:nvSpPr>
        <p:spPr>
          <a:xfrm>
            <a:off x="650930" y="1114375"/>
            <a:ext cx="7865400" cy="3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t/>
            </a:r>
            <a:endParaRPr b="0" i="0" sz="1250" u="none" cap="none" strike="noStrike">
              <a:solidFill>
                <a:srgbClr val="000000"/>
              </a:solidFill>
              <a:latin typeface="Times New Roman"/>
              <a:ea typeface="Times New Roman"/>
              <a:cs typeface="Times New Roman"/>
              <a:sym typeface="Times New Roman"/>
            </a:endParaRPr>
          </a:p>
        </p:txBody>
      </p:sp>
      <p:graphicFrame>
        <p:nvGraphicFramePr>
          <p:cNvPr id="1200" name="Google Shape;1200;g38c99c5b328_0_14"/>
          <p:cNvGraphicFramePr/>
          <p:nvPr/>
        </p:nvGraphicFramePr>
        <p:xfrm>
          <a:off x="510525" y="394400"/>
          <a:ext cx="3000000" cy="3000000"/>
        </p:xfrm>
        <a:graphic>
          <a:graphicData uri="http://schemas.openxmlformats.org/drawingml/2006/table">
            <a:tbl>
              <a:tblPr>
                <a:noFill/>
                <a:tableStyleId>{3E603A28-FFD9-49F6-A8E3-1C9D12FBBF8B}</a:tableStyleId>
              </a:tblPr>
              <a:tblGrid>
                <a:gridCol w="1844675"/>
                <a:gridCol w="4213175"/>
                <a:gridCol w="2045125"/>
              </a:tblGrid>
              <a:tr h="5597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tc>
              </a:tr>
              <a:tr h="2059450">
                <a:tc>
                  <a:txBody>
                    <a:bodyPr/>
                    <a:lstStyle/>
                    <a:p>
                      <a:pPr indent="0" lvl="0" marL="0" marR="0" rtl="0" algn="l">
                        <a:lnSpc>
                          <a:spcPct val="100000"/>
                        </a:lnSpc>
                        <a:spcBef>
                          <a:spcPts val="0"/>
                        </a:spcBef>
                        <a:spcAft>
                          <a:spcPts val="0"/>
                        </a:spcAft>
                        <a:buClr>
                          <a:srgbClr val="000000"/>
                        </a:buClr>
                        <a:buSzPts val="1250"/>
                        <a:buFont typeface="Arial"/>
                        <a:buNone/>
                      </a:pPr>
                      <a:r>
                        <a:rPr b="1" lang="en-US" sz="1000" u="none" cap="none" strike="noStrike">
                          <a:latin typeface="Times New Roman"/>
                          <a:ea typeface="Times New Roman"/>
                          <a:cs typeface="Times New Roman"/>
                          <a:sym typeface="Times New Roman"/>
                        </a:rPr>
                        <a:t>Fine-Tuning Large Language Models for Stock Return Prediction.</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5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chemeClr val="dk1"/>
                          </a:solidFill>
                          <a:latin typeface="Times New Roman"/>
                          <a:ea typeface="Times New Roman"/>
                          <a:cs typeface="Times New Roman"/>
                          <a:sym typeface="Times New Roman"/>
                        </a:rPr>
                        <a:t>Guo, Tian, and Emmanuel Hauptmann. - 2024.</a:t>
                      </a:r>
                      <a:endParaRPr sz="1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chemeClr val="dk1"/>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a:t>
                      </a:r>
                      <a:r>
                        <a:rPr b="1" lang="en-US" sz="1000" u="none" cap="none" strike="noStrike">
                          <a:latin typeface="Times New Roman"/>
                          <a:ea typeface="Times New Roman"/>
                          <a:cs typeface="Times New Roman"/>
                          <a:sym typeface="Times New Roman"/>
                        </a:rPr>
                        <a:t>fine-tunes Large Language Models (LLMs) to predict stock returns from financial news</a:t>
                      </a:r>
                      <a:r>
                        <a:rPr lang="en-US" sz="1000" u="none" cap="none" strike="noStrike">
                          <a:latin typeface="Times New Roman"/>
                          <a:ea typeface="Times New Roman"/>
                          <a:cs typeface="Times New Roman"/>
                          <a:sym typeface="Times New Roman"/>
                        </a:rPr>
                        <a:t>—a key task in quantitative investing.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It </a:t>
                      </a:r>
                      <a:r>
                        <a:rPr b="1" lang="en-US" sz="1000" u="none" cap="none" strike="noStrike">
                          <a:latin typeface="Times New Roman"/>
                          <a:ea typeface="Times New Roman"/>
                          <a:cs typeface="Times New Roman"/>
                          <a:sym typeface="Times New Roman"/>
                        </a:rPr>
                        <a:t>compares encoder-only and decoder-only LLMs</a:t>
                      </a:r>
                      <a:r>
                        <a:rPr lang="en-US" sz="1000" u="none" cap="none" strike="noStrike">
                          <a:latin typeface="Times New Roman"/>
                          <a:ea typeface="Times New Roman"/>
                          <a:cs typeface="Times New Roman"/>
                          <a:sym typeface="Times New Roman"/>
                        </a:rPr>
                        <a:t>, testing two ways to integrate token embeddings into forecasting.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Results show that: </a:t>
                      </a:r>
                      <a:r>
                        <a:rPr b="1" lang="en-US" sz="1000" u="none" cap="none" strike="noStrike">
                          <a:latin typeface="Times New Roman"/>
                          <a:ea typeface="Times New Roman"/>
                          <a:cs typeface="Times New Roman"/>
                          <a:sym typeface="Times New Roman"/>
                        </a:rPr>
                        <a:t>(1) aggregated LLM representations boost portfolio performance, (2) decoder-based models excel in larger universes, and (3) LLM predictions outperform sentiment-based methods</a:t>
                      </a:r>
                      <a:r>
                        <a:rPr lang="en-US" sz="1000" u="none" cap="none" strike="noStrike">
                          <a:latin typeface="Times New Roman"/>
                          <a:ea typeface="Times New Roman"/>
                          <a:cs typeface="Times New Roman"/>
                          <a:sym typeface="Times New Roman"/>
                        </a:rPr>
                        <a:t>.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Fine-tuned LLMs thus show strong promise for stock return prediction and portfolio optimization.</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helps our project because we also use </a:t>
                      </a:r>
                      <a:r>
                        <a:rPr b="1" lang="en-US" sz="1000" u="none" cap="none" strike="noStrike">
                          <a:latin typeface="Times New Roman"/>
                          <a:ea typeface="Times New Roman"/>
                          <a:cs typeface="Times New Roman"/>
                          <a:sym typeface="Times New Roman"/>
                        </a:rPr>
                        <a:t>LLM’s to study financial news and link language patterns with stock performance</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tc>
              </a:tr>
              <a:tr h="1720225">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From News to Forecast: Integrating Event Analysis in LLM-Based Time Series Forecasting with Reflection</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rgbClr val="222222"/>
                          </a:solidFill>
                          <a:latin typeface="Times New Roman"/>
                          <a:ea typeface="Times New Roman"/>
                          <a:cs typeface="Times New Roman"/>
                          <a:sym typeface="Times New Roman"/>
                        </a:rPr>
                        <a:t>Wang, Xinlei, Maike Feng, Jing Qiu, Jinjin Gu, and Junhua Zhao. - 2024.</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sng" cap="none" strike="noStrike">
                          <a:solidFill>
                            <a:schemeClr val="hlink"/>
                          </a:solidFill>
                          <a:latin typeface="Times New Roman"/>
                          <a:ea typeface="Times New Roman"/>
                          <a:cs typeface="Times New Roman"/>
                          <a:sym typeface="Times New Roman"/>
                          <a:hlinkClick r:id="rId4"/>
                        </a:rPr>
                        <a:t>LINK TO THE PAPER</a:t>
                      </a:r>
                      <a:endParaRPr sz="1000" u="none" cap="none" strike="noStrike">
                        <a:solidFill>
                          <a:srgbClr val="222222"/>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presents a method that </a:t>
                      </a:r>
                      <a:r>
                        <a:rPr b="1" lang="en-US" sz="1000" u="none" cap="none" strike="noStrike">
                          <a:latin typeface="Times New Roman"/>
                          <a:ea typeface="Times New Roman"/>
                          <a:cs typeface="Times New Roman"/>
                          <a:sym typeface="Times New Roman"/>
                        </a:rPr>
                        <a:t>combines large language models (LLMs) with time-series forecasting</a:t>
                      </a:r>
                      <a:r>
                        <a:rPr lang="en-US" sz="1000" u="none" cap="none" strike="noStrike">
                          <a:latin typeface="Times New Roman"/>
                          <a:ea typeface="Times New Roman"/>
                          <a:cs typeface="Times New Roman"/>
                          <a:sym typeface="Times New Roman"/>
                        </a:rPr>
                        <a:t> by incorporating event information from news data.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Using a reflection mechanism, the model reasons about how external </a:t>
                      </a:r>
                      <a:r>
                        <a:rPr b="1" lang="en-US" sz="1000" u="none" cap="none" strike="noStrike">
                          <a:latin typeface="Times New Roman"/>
                          <a:ea typeface="Times New Roman"/>
                          <a:cs typeface="Times New Roman"/>
                          <a:sym typeface="Times New Roman"/>
                        </a:rPr>
                        <a:t>events like financial crises or policy changes influence future market trends</a:t>
                      </a:r>
                      <a:r>
                        <a:rPr lang="en-US" sz="1000" u="none" cap="none" strike="noStrike">
                          <a:latin typeface="Times New Roman"/>
                          <a:ea typeface="Times New Roman"/>
                          <a:cs typeface="Times New Roman"/>
                          <a:sym typeface="Times New Roman"/>
                        </a:rPr>
                        <a:t>.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By merging </a:t>
                      </a:r>
                      <a:r>
                        <a:rPr b="1" lang="en-US" sz="1000" u="none" cap="none" strike="noStrike">
                          <a:latin typeface="Times New Roman"/>
                          <a:ea typeface="Times New Roman"/>
                          <a:cs typeface="Times New Roman"/>
                          <a:sym typeface="Times New Roman"/>
                        </a:rPr>
                        <a:t>event embeddings from text with numerical data, it achieves higher forecasting accuracy</a:t>
                      </a:r>
                      <a:r>
                        <a:rPr lang="en-US" sz="1000" u="none" cap="none" strike="noStrike">
                          <a:latin typeface="Times New Roman"/>
                          <a:ea typeface="Times New Roman"/>
                          <a:cs typeface="Times New Roman"/>
                          <a:sym typeface="Times New Roman"/>
                        </a:rPr>
                        <a:t> than traditional models.</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supports our project by showing how integrating event-driven insights into </a:t>
                      </a:r>
                      <a:r>
                        <a:rPr b="1" lang="en-US" sz="1000" u="none" cap="none" strike="noStrike">
                          <a:latin typeface="Times New Roman"/>
                          <a:ea typeface="Times New Roman"/>
                          <a:cs typeface="Times New Roman"/>
                          <a:sym typeface="Times New Roman"/>
                        </a:rPr>
                        <a:t>LLMs can improve sentiment-based trading predictions and make forecasts more context-aware and adaptive</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graphicFrame>
        <p:nvGraphicFramePr>
          <p:cNvPr id="1205" name="Google Shape;1205;g38c99c5b328_0_26"/>
          <p:cNvGraphicFramePr/>
          <p:nvPr/>
        </p:nvGraphicFramePr>
        <p:xfrm>
          <a:off x="518663" y="392425"/>
          <a:ext cx="3000000" cy="3000000"/>
        </p:xfrm>
        <a:graphic>
          <a:graphicData uri="http://schemas.openxmlformats.org/drawingml/2006/table">
            <a:tbl>
              <a:tblPr>
                <a:noFill/>
                <a:tableStyleId>{3E603A28-FFD9-49F6-A8E3-1C9D12FBBF8B}</a:tableStyleId>
              </a:tblPr>
              <a:tblGrid>
                <a:gridCol w="2078875"/>
                <a:gridCol w="3159425"/>
                <a:gridCol w="2868375"/>
              </a:tblGrid>
              <a:tr h="4688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tc>
              </a:tr>
              <a:tr h="3876400">
                <a:tc>
                  <a:txBody>
                    <a:bodyPr/>
                    <a:lstStyle/>
                    <a:p>
                      <a:pPr indent="0" lvl="0" marL="0" marR="0" rtl="0" algn="l">
                        <a:lnSpc>
                          <a:spcPct val="115000"/>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Predicting Market Reactions to News: An LLM-Based Approach Using Spanish Business Articles.</a:t>
                      </a:r>
                      <a:endParaRPr b="1" sz="1000" u="none" cap="none" strike="noStrike">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rgbClr val="222222"/>
                          </a:solidFill>
                          <a:latin typeface="Times New Roman"/>
                          <a:ea typeface="Times New Roman"/>
                          <a:cs typeface="Times New Roman"/>
                          <a:sym typeface="Times New Roman"/>
                        </a:rPr>
                        <a:t>Villota Miranda, Jesus. -  2024.</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rgbClr val="222222"/>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presents a </a:t>
                      </a:r>
                      <a:r>
                        <a:rPr b="1" lang="en-US" sz="1000" u="none" cap="none" strike="noStrike">
                          <a:latin typeface="Times New Roman"/>
                          <a:ea typeface="Times New Roman"/>
                          <a:cs typeface="Times New Roman"/>
                          <a:sym typeface="Times New Roman"/>
                        </a:rPr>
                        <a:t>method using LLMs to classify firm-specific economic shocks</a:t>
                      </a:r>
                      <a:r>
                        <a:rPr lang="en-US" sz="1000" u="none" cap="none" strike="noStrike">
                          <a:latin typeface="Times New Roman"/>
                          <a:ea typeface="Times New Roman"/>
                          <a:cs typeface="Times New Roman"/>
                          <a:sym typeface="Times New Roman"/>
                        </a:rPr>
                        <a:t> in financial news by type, size, and direction.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It overcomes traditional text analysis limits in interpreting complex market information.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By </a:t>
                      </a:r>
                      <a:r>
                        <a:rPr b="1" lang="en-US" sz="1000" u="none" cap="none" strike="noStrike">
                          <a:latin typeface="Times New Roman"/>
                          <a:ea typeface="Times New Roman"/>
                          <a:cs typeface="Times New Roman"/>
                          <a:sym typeface="Times New Roman"/>
                        </a:rPr>
                        <a:t>applying economic frameworks, the model improves understanding of market reactions</a:t>
                      </a:r>
                      <a:r>
                        <a:rPr lang="en-US" sz="1000" u="none" cap="none" strike="noStrike">
                          <a:latin typeface="Times New Roman"/>
                          <a:ea typeface="Times New Roman"/>
                          <a:cs typeface="Times New Roman"/>
                          <a:sym typeface="Times New Roman"/>
                        </a:rPr>
                        <a:t> to news.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A trading </a:t>
                      </a:r>
                      <a:r>
                        <a:rPr b="1" lang="en-US" sz="1000" u="none" cap="none" strike="noStrike">
                          <a:latin typeface="Times New Roman"/>
                          <a:ea typeface="Times New Roman"/>
                          <a:cs typeface="Times New Roman"/>
                          <a:sym typeface="Times New Roman"/>
                        </a:rPr>
                        <a:t>strategy based on LLM classifications outperforms benchmark methods</a:t>
                      </a:r>
                      <a:r>
                        <a:rPr lang="en-US" sz="1000" u="none" cap="none" strike="noStrike">
                          <a:latin typeface="Times New Roman"/>
                          <a:ea typeface="Times New Roman"/>
                          <a:cs typeface="Times New Roman"/>
                          <a:sym typeface="Times New Roman"/>
                        </a:rPr>
                        <a:t> with consistent profits.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The study shows LLMs can enhance market efficiency analysis and identify reliable trading patterns.</a:t>
                      </a:r>
                      <a:endParaRPr sz="10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Clr>
                          <a:srgbClr val="000000"/>
                        </a:buClr>
                        <a:buSzPts val="1250"/>
                        <a:buFont typeface="Arial"/>
                        <a:buNone/>
                      </a:pPr>
                      <a:r>
                        <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supports our project by showing how </a:t>
                      </a:r>
                      <a:r>
                        <a:rPr b="1" lang="en-US" sz="1000" u="none" cap="none" strike="noStrike">
                          <a:latin typeface="Times New Roman"/>
                          <a:ea typeface="Times New Roman"/>
                          <a:cs typeface="Times New Roman"/>
                          <a:sym typeface="Times New Roman"/>
                        </a:rPr>
                        <a:t>LLMs can analyze financial news to detect firm-specific market impacts</a:t>
                      </a:r>
                      <a:r>
                        <a:rPr lang="en-US" sz="1000" u="none" cap="none" strike="noStrike">
                          <a:latin typeface="Times New Roman"/>
                          <a:ea typeface="Times New Roman"/>
                          <a:cs typeface="Times New Roman"/>
                          <a:sym typeface="Times New Roman"/>
                        </a:rPr>
                        <a:t>.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It helps improve prediction accuracy by linking economic context with market reactions.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The study shows LLMs outperform traditional models in news-based trading strategies. </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It provides a </a:t>
                      </a:r>
                      <a:r>
                        <a:rPr b="1" lang="en-US" sz="1000" u="none" cap="none" strike="noStrike">
                          <a:latin typeface="Times New Roman"/>
                          <a:ea typeface="Times New Roman"/>
                          <a:cs typeface="Times New Roman"/>
                          <a:sym typeface="Times New Roman"/>
                        </a:rPr>
                        <a:t>strong base for developing interpretable and profit-driven stock prediction models</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g38ca009c97a_0_26"/>
          <p:cNvSpPr txBox="1"/>
          <p:nvPr/>
        </p:nvSpPr>
        <p:spPr>
          <a:xfrm>
            <a:off x="650930" y="1114375"/>
            <a:ext cx="7865400" cy="3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t/>
            </a:r>
            <a:endParaRPr b="0" i="0" sz="1250" u="none" cap="none" strike="noStrike">
              <a:solidFill>
                <a:srgbClr val="000000"/>
              </a:solidFill>
              <a:latin typeface="Times New Roman"/>
              <a:ea typeface="Times New Roman"/>
              <a:cs typeface="Times New Roman"/>
              <a:sym typeface="Times New Roman"/>
            </a:endParaRPr>
          </a:p>
        </p:txBody>
      </p:sp>
      <p:graphicFrame>
        <p:nvGraphicFramePr>
          <p:cNvPr id="1211" name="Google Shape;1211;g38ca009c97a_0_26"/>
          <p:cNvGraphicFramePr/>
          <p:nvPr/>
        </p:nvGraphicFramePr>
        <p:xfrm>
          <a:off x="514425" y="879350"/>
          <a:ext cx="3000000" cy="3000000"/>
        </p:xfrm>
        <a:graphic>
          <a:graphicData uri="http://schemas.openxmlformats.org/drawingml/2006/table">
            <a:tbl>
              <a:tblPr>
                <a:noFill/>
                <a:tableStyleId>{3E603A28-FFD9-49F6-A8E3-1C9D12FBBF8B}</a:tableStyleId>
              </a:tblPr>
              <a:tblGrid>
                <a:gridCol w="1814750"/>
                <a:gridCol w="2895425"/>
                <a:gridCol w="3404950"/>
              </a:tblGrid>
              <a:tr h="4192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tc>
              </a:tr>
              <a:tr h="1822775">
                <a:tc>
                  <a:txBody>
                    <a:bodyPr/>
                    <a:lstStyle/>
                    <a:p>
                      <a:pPr indent="0" lvl="0" marL="0" marR="0" rtl="0" algn="l">
                        <a:lnSpc>
                          <a:spcPct val="125454"/>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FinBERT: A Large Language Model for Extracting Information from Financial Text.</a:t>
                      </a:r>
                      <a:endParaRPr b="1" sz="1000" u="none" cap="none" strike="noStrike">
                        <a:latin typeface="Times New Roman"/>
                        <a:ea typeface="Times New Roman"/>
                        <a:cs typeface="Times New Roman"/>
                        <a:sym typeface="Times New Roman"/>
                      </a:endParaRPr>
                    </a:p>
                    <a:p>
                      <a:pPr indent="0" lvl="0" marL="0" marR="0" rtl="0" algn="l">
                        <a:lnSpc>
                          <a:spcPct val="125454"/>
                        </a:lnSpc>
                        <a:spcBef>
                          <a:spcPts val="0"/>
                        </a:spcBef>
                        <a:spcAft>
                          <a:spcPts val="0"/>
                        </a:spcAft>
                        <a:buClr>
                          <a:srgbClr val="000000"/>
                        </a:buClr>
                        <a:buSzPts val="10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rgbClr val="222222"/>
                          </a:solidFill>
                          <a:latin typeface="Times New Roman"/>
                          <a:ea typeface="Times New Roman"/>
                          <a:cs typeface="Times New Roman"/>
                          <a:sym typeface="Times New Roman"/>
                        </a:rPr>
                        <a:t>A. H. Huang, H. Wang, and Y. Yang. </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none" cap="none" strike="noStrike">
                          <a:solidFill>
                            <a:srgbClr val="222222"/>
                          </a:solidFill>
                          <a:latin typeface="Times New Roman"/>
                          <a:ea typeface="Times New Roman"/>
                          <a:cs typeface="Times New Roman"/>
                          <a:sym typeface="Times New Roman"/>
                        </a:rPr>
                        <a:t>-  2023.</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sz="1000" u="none" cap="none" strike="noStrike">
                        <a:solidFill>
                          <a:srgbClr val="222222"/>
                        </a:solidFill>
                        <a:latin typeface="Times New Roman"/>
                        <a:ea typeface="Times New Roman"/>
                        <a:cs typeface="Times New Roman"/>
                        <a:sym typeface="Times New Roman"/>
                      </a:endParaRPr>
                    </a:p>
                  </a:txBody>
                  <a:tcPr marT="91425" marB="91425" marR="91425" marL="91425"/>
                </a:tc>
                <a:tc>
                  <a:txBody>
                    <a:bodyPr/>
                    <a:lstStyle/>
                    <a:p>
                      <a:pPr indent="-285750" lvl="0" marL="457200" marR="0" rtl="0" algn="l">
                        <a:lnSpc>
                          <a:spcPct val="100000"/>
                        </a:lnSpc>
                        <a:spcBef>
                          <a:spcPts val="0"/>
                        </a:spcBef>
                        <a:spcAft>
                          <a:spcPts val="0"/>
                        </a:spcAft>
                        <a:buClr>
                          <a:srgbClr val="000000"/>
                        </a:buClr>
                        <a:buSzPts val="900"/>
                        <a:buFont typeface="Arial"/>
                        <a:buChar char="●"/>
                      </a:pPr>
                      <a:r>
                        <a:rPr b="1" lang="en-US" sz="1000" u="none" cap="none" strike="noStrike">
                          <a:latin typeface="Times New Roman"/>
                          <a:ea typeface="Times New Roman"/>
                          <a:cs typeface="Times New Roman"/>
                          <a:sym typeface="Times New Roman"/>
                        </a:rPr>
                        <a:t>FinBERT</a:t>
                      </a:r>
                      <a:r>
                        <a:rPr lang="en-US" sz="1000" u="none" cap="none" strike="noStrike">
                          <a:latin typeface="Times New Roman"/>
                          <a:ea typeface="Times New Roman"/>
                          <a:cs typeface="Times New Roman"/>
                          <a:sym typeface="Times New Roman"/>
                        </a:rPr>
                        <a:t> is a finance-specific language model that outperforms standard models like </a:t>
                      </a:r>
                      <a:r>
                        <a:rPr b="1" lang="en-US" sz="1000" u="none" cap="none" strike="noStrike">
                          <a:latin typeface="Times New Roman"/>
                          <a:ea typeface="Times New Roman"/>
                          <a:cs typeface="Times New Roman"/>
                          <a:sym typeface="Times New Roman"/>
                        </a:rPr>
                        <a:t>SVM, CNN, and LSTM</a:t>
                      </a:r>
                      <a:r>
                        <a:rPr lang="en-US" sz="1000" u="none" cap="none" strike="noStrike">
                          <a:latin typeface="Times New Roman"/>
                          <a:ea typeface="Times New Roman"/>
                          <a:cs typeface="Times New Roman"/>
                          <a:sym typeface="Times New Roman"/>
                        </a:rPr>
                        <a:t>, as well as general </a:t>
                      </a:r>
                      <a:r>
                        <a:rPr b="1" lang="en-US" sz="1000" u="none" cap="none" strike="noStrike">
                          <a:latin typeface="Times New Roman"/>
                          <a:ea typeface="Times New Roman"/>
                          <a:cs typeface="Times New Roman"/>
                          <a:sym typeface="Times New Roman"/>
                        </a:rPr>
                        <a:t>BERT</a:t>
                      </a:r>
                      <a:r>
                        <a:rPr lang="en-US" sz="1000" u="none" cap="none" strike="noStrike">
                          <a:latin typeface="Times New Roman"/>
                          <a:ea typeface="Times New Roman"/>
                          <a:cs typeface="Times New Roman"/>
                          <a:sym typeface="Times New Roman"/>
                        </a:rPr>
                        <a:t> variants.</a:t>
                      </a:r>
                      <a:endParaRPr sz="1000" u="none" cap="none" strike="noStrike">
                        <a:latin typeface="Times New Roman"/>
                        <a:ea typeface="Times New Roman"/>
                        <a:cs typeface="Times New Roman"/>
                        <a:sym typeface="Times New Roman"/>
                      </a:endParaRPr>
                    </a:p>
                    <a:p>
                      <a:pPr indent="-285750" lvl="0" marL="457200" marR="0" rtl="0" algn="l">
                        <a:lnSpc>
                          <a:spcPct val="100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It excels at detecting subtle sentiment in analyst reports, and effectively identifying </a:t>
                      </a:r>
                      <a:r>
                        <a:rPr b="1" lang="en-US" sz="1000" u="none" cap="none" strike="noStrike">
                          <a:latin typeface="Times New Roman"/>
                          <a:ea typeface="Times New Roman"/>
                          <a:cs typeface="Times New Roman"/>
                          <a:sym typeface="Times New Roman"/>
                        </a:rPr>
                        <a:t>ESG-related</a:t>
                      </a:r>
                      <a:r>
                        <a:rPr lang="en-US" sz="1000" u="none" cap="none" strike="noStrike">
                          <a:latin typeface="Times New Roman"/>
                          <a:ea typeface="Times New Roman"/>
                          <a:cs typeface="Times New Roman"/>
                          <a:sym typeface="Times New Roman"/>
                        </a:rPr>
                        <a:t> content to </a:t>
                      </a:r>
                      <a:r>
                        <a:rPr b="1" lang="en-US" sz="1000" u="none" cap="none" strike="noStrike">
                          <a:latin typeface="Times New Roman"/>
                          <a:ea typeface="Times New Roman"/>
                          <a:cs typeface="Times New Roman"/>
                          <a:sym typeface="Times New Roman"/>
                        </a:rPr>
                        <a:t>enhance insights from financial documents like earnings calls</a:t>
                      </a:r>
                      <a:r>
                        <a:rPr lang="en-US" sz="1000" u="none" cap="none" strike="noStrike">
                          <a:latin typeface="Times New Roman"/>
                          <a:ea typeface="Times New Roman"/>
                          <a:cs typeface="Times New Roman"/>
                          <a:sym typeface="Times New Roman"/>
                        </a:rPr>
                        <a:t>.</a:t>
                      </a:r>
                      <a:endParaRPr sz="900" u="none" cap="none" strike="noStrike">
                        <a:latin typeface="Times New Roman"/>
                        <a:ea typeface="Times New Roman"/>
                        <a:cs typeface="Times New Roman"/>
                        <a:sym typeface="Times New Roman"/>
                      </a:endParaRPr>
                    </a:p>
                  </a:txBody>
                  <a:tcPr marT="91425" marB="91425" marR="91425" marL="91425"/>
                </a:tc>
                <a:tc>
                  <a:txBody>
                    <a:bodyPr/>
                    <a:lstStyle/>
                    <a:p>
                      <a:pPr indent="-285750" lvl="0" marL="457200" marR="0" rtl="0" algn="l">
                        <a:lnSpc>
                          <a:spcPct val="115000"/>
                        </a:lnSpc>
                        <a:spcBef>
                          <a:spcPts val="0"/>
                        </a:spcBef>
                        <a:spcAft>
                          <a:spcPts val="0"/>
                        </a:spcAft>
                        <a:buClr>
                          <a:srgbClr val="000000"/>
                        </a:buClr>
                        <a:buSzPts val="900"/>
                        <a:buFont typeface="Arial"/>
                        <a:buChar char="●"/>
                      </a:pPr>
                      <a:r>
                        <a:rPr b="1" lang="en-US" sz="1000" u="none" cap="none" strike="noStrike">
                          <a:latin typeface="Times New Roman"/>
                          <a:ea typeface="Times New Roman"/>
                          <a:cs typeface="Times New Roman"/>
                          <a:sym typeface="Times New Roman"/>
                        </a:rPr>
                        <a:t>FinBERT</a:t>
                      </a:r>
                      <a:r>
                        <a:rPr lang="en-US" sz="1000" u="none" cap="none" strike="noStrike">
                          <a:latin typeface="Times New Roman"/>
                          <a:ea typeface="Times New Roman"/>
                          <a:cs typeface="Times New Roman"/>
                          <a:sym typeface="Times New Roman"/>
                        </a:rPr>
                        <a:t> is valuable for our project as it understands </a:t>
                      </a:r>
                      <a:r>
                        <a:rPr b="1" lang="en-US" sz="1000" u="none" cap="none" strike="noStrike">
                          <a:latin typeface="Times New Roman"/>
                          <a:ea typeface="Times New Roman"/>
                          <a:cs typeface="Times New Roman"/>
                          <a:sym typeface="Times New Roman"/>
                        </a:rPr>
                        <a:t>financial language</a:t>
                      </a:r>
                      <a:r>
                        <a:rPr lang="en-US" sz="1000" u="none" cap="none" strike="noStrike">
                          <a:latin typeface="Times New Roman"/>
                          <a:ea typeface="Times New Roman"/>
                          <a:cs typeface="Times New Roman"/>
                          <a:sym typeface="Times New Roman"/>
                        </a:rPr>
                        <a:t>, enabling accurate </a:t>
                      </a:r>
                      <a:r>
                        <a:rPr b="1" lang="en-US" sz="1000" u="none" cap="none" strike="noStrike">
                          <a:latin typeface="Times New Roman"/>
                          <a:ea typeface="Times New Roman"/>
                          <a:cs typeface="Times New Roman"/>
                          <a:sym typeface="Times New Roman"/>
                        </a:rPr>
                        <a:t>sentiment detection</a:t>
                      </a:r>
                      <a:r>
                        <a:rPr lang="en-US" sz="1000" u="none" cap="none" strike="noStrike">
                          <a:latin typeface="Times New Roman"/>
                          <a:ea typeface="Times New Roman"/>
                          <a:cs typeface="Times New Roman"/>
                          <a:sym typeface="Times New Roman"/>
                        </a:rPr>
                        <a:t> from news and reports.</a:t>
                      </a:r>
                      <a:endParaRPr sz="1000" u="none" cap="none" strike="noStrike">
                        <a:latin typeface="Times New Roman"/>
                        <a:ea typeface="Times New Roman"/>
                        <a:cs typeface="Times New Roman"/>
                        <a:sym typeface="Times New Roman"/>
                      </a:endParaRPr>
                    </a:p>
                    <a:p>
                      <a:pPr indent="-285750" lvl="0" marL="457200" marR="0" rtl="0" algn="l">
                        <a:lnSpc>
                          <a:spcPct val="115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Its </a:t>
                      </a:r>
                      <a:r>
                        <a:rPr b="1" lang="en-US" sz="1000" u="none" cap="none" strike="noStrike">
                          <a:latin typeface="Times New Roman"/>
                          <a:ea typeface="Times New Roman"/>
                          <a:cs typeface="Times New Roman"/>
                          <a:sym typeface="Times New Roman"/>
                        </a:rPr>
                        <a:t>context-aware analysis</a:t>
                      </a:r>
                      <a:r>
                        <a:rPr lang="en-US" sz="1000" u="none" cap="none" strike="noStrike">
                          <a:latin typeface="Times New Roman"/>
                          <a:ea typeface="Times New Roman"/>
                          <a:cs typeface="Times New Roman"/>
                          <a:sym typeface="Times New Roman"/>
                        </a:rPr>
                        <a:t> captures subtle cues that drive market movements.</a:t>
                      </a:r>
                      <a:endParaRPr sz="1000" u="none" cap="none" strike="noStrike">
                        <a:latin typeface="Times New Roman"/>
                        <a:ea typeface="Times New Roman"/>
                        <a:cs typeface="Times New Roman"/>
                        <a:sym typeface="Times New Roman"/>
                      </a:endParaRPr>
                    </a:p>
                    <a:p>
                      <a:pPr indent="-285750" lvl="0" marL="457200" marR="0" rtl="0" algn="l">
                        <a:lnSpc>
                          <a:spcPct val="115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FinBERT can be </a:t>
                      </a:r>
                      <a:r>
                        <a:rPr b="1" lang="en-US" sz="1000" u="none" cap="none" strike="noStrike">
                          <a:latin typeface="Times New Roman"/>
                          <a:ea typeface="Times New Roman"/>
                          <a:cs typeface="Times New Roman"/>
                          <a:sym typeface="Times New Roman"/>
                        </a:rPr>
                        <a:t>fine-tuned</a:t>
                      </a:r>
                      <a:r>
                        <a:rPr lang="en-US" sz="1000" u="none" cap="none" strike="noStrike">
                          <a:latin typeface="Times New Roman"/>
                          <a:ea typeface="Times New Roman"/>
                          <a:cs typeface="Times New Roman"/>
                          <a:sym typeface="Times New Roman"/>
                        </a:rPr>
                        <a:t> on our dataset as a strong </a:t>
                      </a:r>
                      <a:r>
                        <a:rPr b="1" lang="en-US" sz="1000" u="none" cap="none" strike="noStrike">
                          <a:latin typeface="Times New Roman"/>
                          <a:ea typeface="Times New Roman"/>
                          <a:cs typeface="Times New Roman"/>
                          <a:sym typeface="Times New Roman"/>
                        </a:rPr>
                        <a:t>baseline for prediction</a:t>
                      </a:r>
                      <a:r>
                        <a:rPr lang="en-US" sz="1000" u="none" cap="none" strike="noStrike">
                          <a:latin typeface="Times New Roman"/>
                          <a:ea typeface="Times New Roman"/>
                          <a:cs typeface="Times New Roman"/>
                          <a:sym typeface="Times New Roman"/>
                        </a:rPr>
                        <a:t>, while also supporting deeper insights like </a:t>
                      </a:r>
                      <a:r>
                        <a:rPr b="1" lang="en-US" sz="1000" u="none" cap="none" strike="noStrike">
                          <a:latin typeface="Times New Roman"/>
                          <a:ea typeface="Times New Roman"/>
                          <a:cs typeface="Times New Roman"/>
                          <a:sym typeface="Times New Roman"/>
                        </a:rPr>
                        <a:t>ESG</a:t>
                      </a:r>
                      <a:r>
                        <a:rPr lang="en-US" sz="1000" u="none" cap="none" strike="noStrike">
                          <a:latin typeface="Times New Roman"/>
                          <a:ea typeface="Times New Roman"/>
                          <a:cs typeface="Times New Roman"/>
                          <a:sym typeface="Times New Roman"/>
                        </a:rPr>
                        <a:t> and </a:t>
                      </a:r>
                      <a:r>
                        <a:rPr b="1" lang="en-US" sz="1000" u="none" cap="none" strike="noStrike">
                          <a:latin typeface="Times New Roman"/>
                          <a:ea typeface="Times New Roman"/>
                          <a:cs typeface="Times New Roman"/>
                          <a:sym typeface="Times New Roman"/>
                        </a:rPr>
                        <a:t>trend analysis</a:t>
                      </a:r>
                      <a:r>
                        <a:rPr lang="en-US" sz="1000" u="none" cap="none" strike="noStrike">
                          <a:latin typeface="Times New Roman"/>
                          <a:ea typeface="Times New Roman"/>
                          <a:cs typeface="Times New Roman"/>
                          <a:sym typeface="Times New Roman"/>
                        </a:rPr>
                        <a:t> to enhance market forecasting.</a:t>
                      </a:r>
                      <a:endParaRPr sz="900" u="none" cap="none" strike="noStrike">
                        <a:latin typeface="Times New Roman"/>
                        <a:ea typeface="Times New Roman"/>
                        <a:cs typeface="Times New Roman"/>
                        <a:sym typeface="Times New Roman"/>
                      </a:endParaRPr>
                    </a:p>
                  </a:txBody>
                  <a:tcPr marT="91425" marB="91425" marR="91425" marL="91425"/>
                </a:tc>
              </a:tr>
              <a:tr h="1564700">
                <a:tc>
                  <a:txBody>
                    <a:bodyPr/>
                    <a:lstStyle/>
                    <a:p>
                      <a:pPr indent="0" lvl="0" marL="0" marR="0" rtl="0" algn="l">
                        <a:lnSpc>
                          <a:spcPct val="125454"/>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Predicting Stock Price Movement with LLM-Enhanced Tweet Features.</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rgbClr val="222222"/>
                          </a:solidFill>
                          <a:latin typeface="Times New Roman"/>
                          <a:ea typeface="Times New Roman"/>
                          <a:cs typeface="Times New Roman"/>
                          <a:sym typeface="Times New Roman"/>
                        </a:rPr>
                        <a:t>Vuong, An, and Susan Gauch.    </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none" cap="none" strike="noStrike">
                          <a:solidFill>
                            <a:srgbClr val="222222"/>
                          </a:solidFill>
                          <a:latin typeface="Times New Roman"/>
                          <a:ea typeface="Times New Roman"/>
                          <a:cs typeface="Times New Roman"/>
                          <a:sym typeface="Times New Roman"/>
                        </a:rPr>
                        <a:t> - 2025.</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sng" cap="none" strike="noStrike">
                          <a:solidFill>
                            <a:schemeClr val="hlink"/>
                          </a:solidFill>
                          <a:latin typeface="Times New Roman"/>
                          <a:ea typeface="Times New Roman"/>
                          <a:cs typeface="Times New Roman"/>
                          <a:sym typeface="Times New Roman"/>
                          <a:hlinkClick r:id="rId4"/>
                        </a:rPr>
                        <a:t>LINK TO THE PAPER</a:t>
                      </a:r>
                      <a:endParaRPr sz="1000" u="none" cap="none" strike="noStrike">
                        <a:solidFill>
                          <a:srgbClr val="222222"/>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study builds a deep learning model for </a:t>
                      </a:r>
                      <a:r>
                        <a:rPr b="1" lang="en-US" sz="1000" u="none" cap="none" strike="noStrike">
                          <a:latin typeface="Times New Roman"/>
                          <a:ea typeface="Times New Roman"/>
                          <a:cs typeface="Times New Roman"/>
                          <a:sym typeface="Times New Roman"/>
                        </a:rPr>
                        <a:t>short-term stock prediction</a:t>
                      </a:r>
                      <a:r>
                        <a:rPr lang="en-US" sz="1000" u="none" cap="none" strike="noStrike">
                          <a:latin typeface="Times New Roman"/>
                          <a:ea typeface="Times New Roman"/>
                          <a:cs typeface="Times New Roman"/>
                          <a:sym typeface="Times New Roman"/>
                        </a:rPr>
                        <a:t> using </a:t>
                      </a:r>
                      <a:r>
                        <a:rPr b="1" lang="en-US" sz="1000" u="none" cap="none" strike="noStrike">
                          <a:latin typeface="Times New Roman"/>
                          <a:ea typeface="Times New Roman"/>
                          <a:cs typeface="Times New Roman"/>
                          <a:sym typeface="Times New Roman"/>
                        </a:rPr>
                        <a:t>tweet sentiments</a:t>
                      </a:r>
                      <a:r>
                        <a:rPr lang="en-US" sz="1000" u="none" cap="none" strike="noStrike">
                          <a:latin typeface="Times New Roman"/>
                          <a:ea typeface="Times New Roman"/>
                          <a:cs typeface="Times New Roman"/>
                          <a:sym typeface="Times New Roman"/>
                        </a:rPr>
                        <a:t> and </a:t>
                      </a:r>
                      <a:r>
                        <a:rPr b="1" lang="en-US" sz="1000" u="none" cap="none" strike="noStrike">
                          <a:latin typeface="Times New Roman"/>
                          <a:ea typeface="Times New Roman"/>
                          <a:cs typeface="Times New Roman"/>
                          <a:sym typeface="Times New Roman"/>
                        </a:rPr>
                        <a:t>price data</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With </a:t>
                      </a:r>
                      <a:r>
                        <a:rPr b="1" lang="en-US" sz="1000" u="none" cap="none" strike="noStrike">
                          <a:latin typeface="Times New Roman"/>
                          <a:ea typeface="Times New Roman"/>
                          <a:cs typeface="Times New Roman"/>
                          <a:sym typeface="Times New Roman"/>
                        </a:rPr>
                        <a:t>LLaMA 3.1-8B</a:t>
                      </a:r>
                      <a:r>
                        <a:rPr lang="en-US" sz="1000" u="none" cap="none" strike="noStrike">
                          <a:latin typeface="Times New Roman"/>
                          <a:ea typeface="Times New Roman"/>
                          <a:cs typeface="Times New Roman"/>
                          <a:sym typeface="Times New Roman"/>
                        </a:rPr>
                        <a:t> and </a:t>
                      </a:r>
                      <a:r>
                        <a:rPr b="1" lang="en-US" sz="1000" u="none" cap="none" strike="noStrike">
                          <a:latin typeface="Times New Roman"/>
                          <a:ea typeface="Times New Roman"/>
                          <a:cs typeface="Times New Roman"/>
                          <a:sym typeface="Times New Roman"/>
                        </a:rPr>
                        <a:t>DistilRoBERTa</a:t>
                      </a:r>
                      <a:r>
                        <a:rPr lang="en-US" sz="1000" u="none" cap="none" strike="noStrike">
                          <a:latin typeface="Times New Roman"/>
                          <a:ea typeface="Times New Roman"/>
                          <a:cs typeface="Times New Roman"/>
                          <a:sym typeface="Times New Roman"/>
                        </a:rPr>
                        <a:t>, it raises accuracy from </a:t>
                      </a:r>
                      <a:r>
                        <a:rPr b="1" lang="en-US" sz="1000" u="none" cap="none" strike="noStrike">
                          <a:latin typeface="Times New Roman"/>
                          <a:ea typeface="Times New Roman"/>
                          <a:cs typeface="Times New Roman"/>
                          <a:sym typeface="Times New Roman"/>
                        </a:rPr>
                        <a:t>13.5% to 38.5%</a:t>
                      </a:r>
                      <a:r>
                        <a:rPr lang="en-US" sz="1000" u="none" cap="none" strike="noStrike">
                          <a:latin typeface="Times New Roman"/>
                          <a:ea typeface="Times New Roman"/>
                          <a:cs typeface="Times New Roman"/>
                          <a:sym typeface="Times New Roman"/>
                        </a:rPr>
                        <a:t>, showing that </a:t>
                      </a:r>
                      <a:r>
                        <a:rPr b="1" lang="en-US" sz="1000" u="none" cap="none" strike="noStrike">
                          <a:latin typeface="Times New Roman"/>
                          <a:ea typeface="Times New Roman"/>
                          <a:cs typeface="Times New Roman"/>
                          <a:sym typeface="Times New Roman"/>
                        </a:rPr>
                        <a:t>LLM-driven emotion analysis</a:t>
                      </a:r>
                      <a:r>
                        <a:rPr lang="en-US" sz="1000" u="none" cap="none" strike="noStrike">
                          <a:latin typeface="Times New Roman"/>
                          <a:ea typeface="Times New Roman"/>
                          <a:cs typeface="Times New Roman"/>
                          <a:sym typeface="Times New Roman"/>
                        </a:rPr>
                        <a:t> improves forecasts.</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85750" lvl="0" marL="457200" marR="0" rtl="0" algn="l">
                        <a:lnSpc>
                          <a:spcPct val="115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This paper supports our </a:t>
                      </a:r>
                      <a:r>
                        <a:rPr b="1" lang="en-US" sz="1000" u="none" cap="none" strike="noStrike">
                          <a:latin typeface="Times New Roman"/>
                          <a:ea typeface="Times New Roman"/>
                          <a:cs typeface="Times New Roman"/>
                          <a:sym typeface="Times New Roman"/>
                        </a:rPr>
                        <a:t>MarketMind</a:t>
                      </a:r>
                      <a:r>
                        <a:rPr lang="en-US" sz="1000" u="none" cap="none" strike="noStrike">
                          <a:latin typeface="Times New Roman"/>
                          <a:ea typeface="Times New Roman"/>
                          <a:cs typeface="Times New Roman"/>
                          <a:sym typeface="Times New Roman"/>
                        </a:rPr>
                        <a:t> project by showing how </a:t>
                      </a:r>
                      <a:r>
                        <a:rPr b="1" lang="en-US" sz="1000" u="none" cap="none" strike="noStrike">
                          <a:latin typeface="Times New Roman"/>
                          <a:ea typeface="Times New Roman"/>
                          <a:cs typeface="Times New Roman"/>
                          <a:sym typeface="Times New Roman"/>
                        </a:rPr>
                        <a:t>LLMs</a:t>
                      </a:r>
                      <a:r>
                        <a:rPr lang="en-US" sz="1000" u="none" cap="none" strike="noStrike">
                          <a:latin typeface="Times New Roman"/>
                          <a:ea typeface="Times New Roman"/>
                          <a:cs typeface="Times New Roman"/>
                          <a:sym typeface="Times New Roman"/>
                        </a:rPr>
                        <a:t> enhance </a:t>
                      </a:r>
                      <a:r>
                        <a:rPr b="1" lang="en-US" sz="1000" u="none" cap="none" strike="noStrike">
                          <a:latin typeface="Times New Roman"/>
                          <a:ea typeface="Times New Roman"/>
                          <a:cs typeface="Times New Roman"/>
                          <a:sym typeface="Times New Roman"/>
                        </a:rPr>
                        <a:t>emotion-based stock prediction</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p>
                      <a:pPr indent="-285750" lvl="0" marL="457200" marR="0" rtl="0" algn="l">
                        <a:lnSpc>
                          <a:spcPct val="115000"/>
                        </a:lnSpc>
                        <a:spcBef>
                          <a:spcPts val="0"/>
                        </a:spcBef>
                        <a:spcAft>
                          <a:spcPts val="0"/>
                        </a:spcAft>
                        <a:buClr>
                          <a:srgbClr val="000000"/>
                        </a:buClr>
                        <a:buSzPts val="900"/>
                        <a:buFont typeface="Arial"/>
                        <a:buChar char="●"/>
                      </a:pPr>
                      <a:r>
                        <a:rPr lang="en-US" sz="1000" u="none" cap="none" strike="noStrike">
                          <a:latin typeface="Times New Roman"/>
                          <a:ea typeface="Times New Roman"/>
                          <a:cs typeface="Times New Roman"/>
                          <a:sym typeface="Times New Roman"/>
                        </a:rPr>
                        <a:t>Using </a:t>
                      </a:r>
                      <a:r>
                        <a:rPr b="1" lang="en-US" sz="1000" u="none" cap="none" strike="noStrike">
                          <a:latin typeface="Times New Roman"/>
                          <a:ea typeface="Times New Roman"/>
                          <a:cs typeface="Times New Roman"/>
                          <a:sym typeface="Times New Roman"/>
                        </a:rPr>
                        <a:t>LLaMA</a:t>
                      </a:r>
                      <a:r>
                        <a:rPr lang="en-US" sz="1000" u="none" cap="none" strike="noStrike">
                          <a:latin typeface="Times New Roman"/>
                          <a:ea typeface="Times New Roman"/>
                          <a:cs typeface="Times New Roman"/>
                          <a:sym typeface="Times New Roman"/>
                        </a:rPr>
                        <a:t> to preprocess tweets improves sentiment features, and combining </a:t>
                      </a:r>
                      <a:r>
                        <a:rPr b="1" lang="en-US" sz="1000" u="none" cap="none" strike="noStrike">
                          <a:latin typeface="Times New Roman"/>
                          <a:ea typeface="Times New Roman"/>
                          <a:cs typeface="Times New Roman"/>
                          <a:sym typeface="Times New Roman"/>
                        </a:rPr>
                        <a:t>textual and numerical data</a:t>
                      </a:r>
                      <a:r>
                        <a:rPr lang="en-US" sz="1000" u="none" cap="none" strike="noStrike">
                          <a:latin typeface="Times New Roman"/>
                          <a:ea typeface="Times New Roman"/>
                          <a:cs typeface="Times New Roman"/>
                          <a:sym typeface="Times New Roman"/>
                        </a:rPr>
                        <a:t> boosts accuracy—advancing our goal of predicting </a:t>
                      </a:r>
                      <a:r>
                        <a:rPr b="1" lang="en-US" sz="1000" u="none" cap="none" strike="noStrike">
                          <a:latin typeface="Times New Roman"/>
                          <a:ea typeface="Times New Roman"/>
                          <a:cs typeface="Times New Roman"/>
                          <a:sym typeface="Times New Roman"/>
                        </a:rPr>
                        <a:t>stock highs and lows</a:t>
                      </a:r>
                      <a:r>
                        <a:rPr lang="en-US" sz="1000" u="none" cap="none" strike="noStrike">
                          <a:latin typeface="Times New Roman"/>
                          <a:ea typeface="Times New Roman"/>
                          <a:cs typeface="Times New Roman"/>
                          <a:sym typeface="Times New Roman"/>
                        </a:rPr>
                        <a:t> more precisely.</a:t>
                      </a:r>
                      <a:endParaRPr sz="900" u="none" cap="none" strike="noStrike">
                        <a:latin typeface="Times New Roman"/>
                        <a:ea typeface="Times New Roman"/>
                        <a:cs typeface="Times New Roman"/>
                        <a:sym typeface="Times New Roman"/>
                      </a:endParaRPr>
                    </a:p>
                  </a:txBody>
                  <a:tcPr marT="91425" marB="91425" marR="91425" marL="91425"/>
                </a:tc>
              </a:tr>
            </a:tbl>
          </a:graphicData>
        </a:graphic>
      </p:graphicFrame>
      <p:sp>
        <p:nvSpPr>
          <p:cNvPr id="1212" name="Google Shape;1212;g38ca009c97a_0_26"/>
          <p:cNvSpPr txBox="1"/>
          <p:nvPr/>
        </p:nvSpPr>
        <p:spPr>
          <a:xfrm>
            <a:off x="519567" y="402674"/>
            <a:ext cx="7651800" cy="531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50"/>
              <a:buFont typeface="Arial"/>
              <a:buNone/>
            </a:pPr>
            <a:r>
              <a:rPr b="0" i="0" lang="en-US" sz="2250" u="none" cap="none" strike="noStrike">
                <a:solidFill>
                  <a:srgbClr val="000000"/>
                </a:solidFill>
                <a:latin typeface="Times New Roman"/>
                <a:ea typeface="Times New Roman"/>
                <a:cs typeface="Times New Roman"/>
                <a:sym typeface="Times New Roman"/>
              </a:rPr>
              <a:t>3) LLMs using Textual data(Tweets or Sentiments)</a:t>
            </a:r>
            <a:endParaRPr b="0" i="0" sz="22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g38ca009c97a_2_31"/>
          <p:cNvSpPr txBox="1"/>
          <p:nvPr/>
        </p:nvSpPr>
        <p:spPr>
          <a:xfrm>
            <a:off x="650930" y="1114375"/>
            <a:ext cx="7865400" cy="3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t/>
            </a:r>
            <a:endParaRPr b="0" i="0" sz="1250" u="none" cap="none" strike="noStrike">
              <a:solidFill>
                <a:srgbClr val="000000"/>
              </a:solidFill>
              <a:latin typeface="Times New Roman"/>
              <a:ea typeface="Times New Roman"/>
              <a:cs typeface="Times New Roman"/>
              <a:sym typeface="Times New Roman"/>
            </a:endParaRPr>
          </a:p>
        </p:txBody>
      </p:sp>
      <p:graphicFrame>
        <p:nvGraphicFramePr>
          <p:cNvPr id="1218" name="Google Shape;1218;g38ca009c97a_2_31"/>
          <p:cNvGraphicFramePr/>
          <p:nvPr/>
        </p:nvGraphicFramePr>
        <p:xfrm>
          <a:off x="531138" y="381000"/>
          <a:ext cx="3000000" cy="3000000"/>
        </p:xfrm>
        <a:graphic>
          <a:graphicData uri="http://schemas.openxmlformats.org/drawingml/2006/table">
            <a:tbl>
              <a:tblPr>
                <a:noFill/>
                <a:tableStyleId>{3E603A28-FFD9-49F6-A8E3-1C9D12FBBF8B}</a:tableStyleId>
              </a:tblPr>
              <a:tblGrid>
                <a:gridCol w="2042900"/>
                <a:gridCol w="3351800"/>
                <a:gridCol w="2718925"/>
              </a:tblGrid>
              <a:tr h="3894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tc>
              </a:tr>
              <a:tr h="2126825">
                <a:tc>
                  <a:txBody>
                    <a:bodyPr/>
                    <a:lstStyle/>
                    <a:p>
                      <a:pPr indent="0" lvl="0" marL="0" marR="0" rtl="0" algn="l">
                        <a:lnSpc>
                          <a:spcPct val="125454"/>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TAT-LLM: A Specialized Language Model for Discrete Reasoning over Financial Tabular and Textual Data.</a:t>
                      </a:r>
                      <a:endParaRPr b="1" sz="1000" u="none" cap="none" strike="noStrike">
                        <a:latin typeface="Times New Roman"/>
                        <a:ea typeface="Times New Roman"/>
                        <a:cs typeface="Times New Roman"/>
                        <a:sym typeface="Times New Roman"/>
                      </a:endParaRPr>
                    </a:p>
                    <a:p>
                      <a:pPr indent="0" lvl="0" marL="0" marR="0" rtl="0" algn="l">
                        <a:lnSpc>
                          <a:spcPct val="125454"/>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rgbClr val="222222"/>
                          </a:solidFill>
                          <a:latin typeface="Times New Roman"/>
                          <a:ea typeface="Times New Roman"/>
                          <a:cs typeface="Times New Roman"/>
                          <a:sym typeface="Times New Roman"/>
                        </a:rPr>
                        <a:t>Zhu, Fengbin, Ziyang Liu, Fuli Feng, Chao Wang, Moxin Li, and Tat Seng Chua.     - 2024</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rgbClr val="222222"/>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15000"/>
                        </a:lnSpc>
                        <a:spcBef>
                          <a:spcPts val="0"/>
                        </a:spcBef>
                        <a:spcAft>
                          <a:spcPts val="0"/>
                        </a:spcAft>
                        <a:buClr>
                          <a:srgbClr val="000000"/>
                        </a:buClr>
                        <a:buSzPts val="1000"/>
                        <a:buFont typeface="Arial"/>
                        <a:buChar char="●"/>
                      </a:pPr>
                      <a:r>
                        <a:rPr b="1" lang="en-US" sz="1000" u="none" cap="none" strike="noStrike">
                          <a:latin typeface="Times New Roman"/>
                          <a:ea typeface="Times New Roman"/>
                          <a:cs typeface="Times New Roman"/>
                          <a:sym typeface="Times New Roman"/>
                        </a:rPr>
                        <a:t>TAT-LLM</a:t>
                      </a:r>
                      <a:r>
                        <a:rPr lang="en-US" sz="1000" u="none" cap="none" strike="noStrike">
                          <a:latin typeface="Times New Roman"/>
                          <a:ea typeface="Times New Roman"/>
                          <a:cs typeface="Times New Roman"/>
                          <a:sym typeface="Times New Roman"/>
                        </a:rPr>
                        <a:t> is a finance-specific model that answers questions using </a:t>
                      </a:r>
                      <a:r>
                        <a:rPr b="1" lang="en-US" sz="1000" u="none" cap="none" strike="noStrike">
                          <a:latin typeface="Times New Roman"/>
                          <a:ea typeface="Times New Roman"/>
                          <a:cs typeface="Times New Roman"/>
                          <a:sym typeface="Times New Roman"/>
                        </a:rPr>
                        <a:t>text and tables</a:t>
                      </a:r>
                      <a:r>
                        <a:rPr lang="en-US" sz="1000" u="none" cap="none" strike="noStrike">
                          <a:latin typeface="Times New Roman"/>
                          <a:ea typeface="Times New Roman"/>
                          <a:cs typeface="Times New Roman"/>
                          <a:sym typeface="Times New Roman"/>
                        </a:rPr>
                        <a:t> through a </a:t>
                      </a:r>
                      <a:r>
                        <a:rPr b="1" lang="en-US" sz="1000" u="none" cap="none" strike="noStrike">
                          <a:latin typeface="Times New Roman"/>
                          <a:ea typeface="Times New Roman"/>
                          <a:cs typeface="Times New Roman"/>
                          <a:sym typeface="Times New Roman"/>
                        </a:rPr>
                        <a:t>Step-wise Pipeline (Extractor → Reasoner → Executor)</a:t>
                      </a:r>
                      <a:r>
                        <a:rPr lang="en-US" sz="1000" u="none" cap="none" strike="noStrike">
                          <a:latin typeface="Times New Roman"/>
                          <a:ea typeface="Times New Roman"/>
                          <a:cs typeface="Times New Roman"/>
                          <a:sym typeface="Times New Roman"/>
                        </a:rPr>
                        <a:t> for better reasoning and transparency.</a:t>
                      </a:r>
                      <a:endParaRPr sz="1000" u="none" cap="none" strike="noStrike">
                        <a:latin typeface="Times New Roman"/>
                        <a:ea typeface="Times New Roman"/>
                        <a:cs typeface="Times New Roman"/>
                        <a:sym typeface="Times New Roman"/>
                      </a:endParaRPr>
                    </a:p>
                    <a:p>
                      <a:pPr indent="-292100" lvl="0" marL="457200" marR="0" rtl="0" algn="l">
                        <a:lnSpc>
                          <a:spcPct val="115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Fine-tuned on </a:t>
                      </a:r>
                      <a:r>
                        <a:rPr b="1" lang="en-US" sz="1000" u="none" cap="none" strike="noStrike">
                          <a:latin typeface="Times New Roman"/>
                          <a:ea typeface="Times New Roman"/>
                          <a:cs typeface="Times New Roman"/>
                          <a:sym typeface="Times New Roman"/>
                        </a:rPr>
                        <a:t>LLaMA 2</a:t>
                      </a:r>
                      <a:r>
                        <a:rPr lang="en-US" sz="1000" u="none" cap="none" strike="noStrike">
                          <a:latin typeface="Times New Roman"/>
                          <a:ea typeface="Times New Roman"/>
                          <a:cs typeface="Times New Roman"/>
                          <a:sym typeface="Times New Roman"/>
                        </a:rPr>
                        <a:t>, it outperforms </a:t>
                      </a:r>
                      <a:r>
                        <a:rPr b="1" lang="en-US" sz="1000" u="none" cap="none" strike="noStrike">
                          <a:latin typeface="Times New Roman"/>
                          <a:ea typeface="Times New Roman"/>
                          <a:cs typeface="Times New Roman"/>
                          <a:sym typeface="Times New Roman"/>
                        </a:rPr>
                        <a:t>GPT-4</a:t>
                      </a:r>
                      <a:r>
                        <a:rPr lang="en-US" sz="1000" u="none" cap="none" strike="noStrike">
                          <a:latin typeface="Times New Roman"/>
                          <a:ea typeface="Times New Roman"/>
                          <a:cs typeface="Times New Roman"/>
                          <a:sym typeface="Times New Roman"/>
                        </a:rPr>
                        <a:t> on </a:t>
                      </a:r>
                      <a:r>
                        <a:rPr b="1" lang="en-US" sz="1000" u="none" cap="none" strike="noStrike">
                          <a:latin typeface="Times New Roman"/>
                          <a:ea typeface="Times New Roman"/>
                          <a:cs typeface="Times New Roman"/>
                          <a:sym typeface="Times New Roman"/>
                        </a:rPr>
                        <a:t>FinQA</a:t>
                      </a:r>
                      <a:r>
                        <a:rPr lang="en-US" sz="1000" u="none" cap="none" strike="noStrike">
                          <a:latin typeface="Times New Roman"/>
                          <a:ea typeface="Times New Roman"/>
                          <a:cs typeface="Times New Roman"/>
                          <a:sym typeface="Times New Roman"/>
                        </a:rPr>
                        <a:t>, reducing costs, latency, and security risks while contributing new datasets for financial LLM research.</a:t>
                      </a:r>
                      <a:endParaRPr sz="10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paper helps our project by showing how </a:t>
                      </a:r>
                      <a:r>
                        <a:rPr b="1" lang="en-US" sz="1000" u="none" cap="none" strike="noStrike">
                          <a:latin typeface="Times New Roman"/>
                          <a:ea typeface="Times New Roman"/>
                          <a:cs typeface="Times New Roman"/>
                          <a:sym typeface="Times New Roman"/>
                        </a:rPr>
                        <a:t>LLMs</a:t>
                      </a:r>
                      <a:r>
                        <a:rPr lang="en-US" sz="1000" u="none" cap="none" strike="noStrike">
                          <a:latin typeface="Times New Roman"/>
                          <a:ea typeface="Times New Roman"/>
                          <a:cs typeface="Times New Roman"/>
                          <a:sym typeface="Times New Roman"/>
                        </a:rPr>
                        <a:t> can process both </a:t>
                      </a:r>
                      <a:r>
                        <a:rPr b="1" lang="en-US" sz="1000" u="none" cap="none" strike="noStrike">
                          <a:latin typeface="Times New Roman"/>
                          <a:ea typeface="Times New Roman"/>
                          <a:cs typeface="Times New Roman"/>
                          <a:sym typeface="Times New Roman"/>
                        </a:rPr>
                        <a:t>text</a:t>
                      </a:r>
                      <a:r>
                        <a:rPr lang="en-US" sz="1000" u="none" cap="none" strike="noStrike">
                          <a:latin typeface="Times New Roman"/>
                          <a:ea typeface="Times New Roman"/>
                          <a:cs typeface="Times New Roman"/>
                          <a:sym typeface="Times New Roman"/>
                        </a:rPr>
                        <a:t> and </a:t>
                      </a:r>
                      <a:r>
                        <a:rPr b="1" lang="en-US" sz="1000" u="none" cap="none" strike="noStrike">
                          <a:latin typeface="Times New Roman"/>
                          <a:ea typeface="Times New Roman"/>
                          <a:cs typeface="Times New Roman"/>
                          <a:sym typeface="Times New Roman"/>
                        </a:rPr>
                        <a:t>structured financial data</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The </a:t>
                      </a:r>
                      <a:r>
                        <a:rPr b="1" lang="en-US" sz="1000" u="none" cap="none" strike="noStrike">
                          <a:latin typeface="Times New Roman"/>
                          <a:ea typeface="Times New Roman"/>
                          <a:cs typeface="Times New Roman"/>
                          <a:sym typeface="Times New Roman"/>
                        </a:rPr>
                        <a:t>Step-wise Pipeline</a:t>
                      </a:r>
                      <a:r>
                        <a:rPr lang="en-US" sz="1000" u="none" cap="none" strike="noStrike">
                          <a:latin typeface="Times New Roman"/>
                          <a:ea typeface="Times New Roman"/>
                          <a:cs typeface="Times New Roman"/>
                          <a:sym typeface="Times New Roman"/>
                        </a:rPr>
                        <a:t> improves multi-step reasoning and accuracy by combining textual and structured insights, offering better </a:t>
                      </a:r>
                      <a:r>
                        <a:rPr b="1" lang="en-US" sz="1000" u="none" cap="none" strike="noStrike">
                          <a:latin typeface="Times New Roman"/>
                          <a:ea typeface="Times New Roman"/>
                          <a:cs typeface="Times New Roman"/>
                          <a:sym typeface="Times New Roman"/>
                        </a:rPr>
                        <a:t>interpretability</a:t>
                      </a:r>
                      <a:r>
                        <a:rPr lang="en-US" sz="1000" u="none" cap="none" strike="noStrike">
                          <a:latin typeface="Times New Roman"/>
                          <a:ea typeface="Times New Roman"/>
                          <a:cs typeface="Times New Roman"/>
                          <a:sym typeface="Times New Roman"/>
                        </a:rPr>
                        <a:t> and enhancing our model’s understanding of financial documents and trends.</a:t>
                      </a:r>
                      <a:endParaRPr sz="900" u="none" cap="none" strike="noStrike">
                        <a:latin typeface="Times New Roman"/>
                        <a:ea typeface="Times New Roman"/>
                        <a:cs typeface="Times New Roman"/>
                        <a:sym typeface="Times New Roman"/>
                      </a:endParaRPr>
                    </a:p>
                  </a:txBody>
                  <a:tcPr marT="91425" marB="91425" marR="91425" marL="91425"/>
                </a:tc>
              </a:tr>
              <a:tr h="1837375">
                <a:tc>
                  <a:txBody>
                    <a:bodyPr/>
                    <a:lstStyle/>
                    <a:p>
                      <a:pPr indent="0" lvl="0" marL="0" marR="0" rtl="0" algn="l">
                        <a:lnSpc>
                          <a:spcPct val="125454"/>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Predicting stock price trends using language models to extract sell-side analysts report signals.</a:t>
                      </a:r>
                      <a:endParaRPr b="1" sz="1000" u="none" cap="none" strike="noStrike">
                        <a:latin typeface="Times New Roman"/>
                        <a:ea typeface="Times New Roman"/>
                        <a:cs typeface="Times New Roman"/>
                        <a:sym typeface="Times New Roman"/>
                      </a:endParaRPr>
                    </a:p>
                    <a:p>
                      <a:pPr indent="0" lvl="0" marL="0" marR="0" rtl="0" algn="l">
                        <a:lnSpc>
                          <a:spcPct val="125454"/>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rgbClr val="222222"/>
                          </a:solidFill>
                          <a:latin typeface="Times New Roman"/>
                          <a:ea typeface="Times New Roman"/>
                          <a:cs typeface="Times New Roman"/>
                          <a:sym typeface="Times New Roman"/>
                        </a:rPr>
                        <a:t>Moreno, Alejandro, and Joaquín Ordieres-Meré.       - 2025</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sng" cap="none" strike="noStrike">
                          <a:solidFill>
                            <a:schemeClr val="hlink"/>
                          </a:solidFill>
                          <a:latin typeface="Times New Roman"/>
                          <a:ea typeface="Times New Roman"/>
                          <a:cs typeface="Times New Roman"/>
                          <a:sym typeface="Times New Roman"/>
                          <a:hlinkClick r:id="rId4"/>
                        </a:rPr>
                        <a:t>LINK TO THE PAPER</a:t>
                      </a:r>
                      <a:endParaRPr sz="1000" u="none" cap="none" strike="noStrike">
                        <a:solidFill>
                          <a:srgbClr val="222222"/>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study looks into how LLMs can extract sentiment from sell-side equity analyst reports and forecast stock trends for </a:t>
                      </a:r>
                      <a:r>
                        <a:rPr b="1" lang="en-US" sz="1000" u="none" cap="none" strike="noStrike">
                          <a:latin typeface="Times New Roman"/>
                          <a:ea typeface="Times New Roman"/>
                          <a:cs typeface="Times New Roman"/>
                          <a:sym typeface="Times New Roman"/>
                        </a:rPr>
                        <a:t>IBEX 35</a:t>
                      </a:r>
                      <a:r>
                        <a:rPr lang="en-US" sz="1000" u="none" cap="none" strike="noStrike">
                          <a:latin typeface="Times New Roman"/>
                          <a:ea typeface="Times New Roman"/>
                          <a:cs typeface="Times New Roman"/>
                          <a:sym typeface="Times New Roman"/>
                        </a:rPr>
                        <a:t> businesses.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Using </a:t>
                      </a:r>
                      <a:r>
                        <a:rPr b="1" lang="en-US" sz="1000" u="none" cap="none" strike="noStrike">
                          <a:latin typeface="Times New Roman"/>
                          <a:ea typeface="Times New Roman"/>
                          <a:cs typeface="Times New Roman"/>
                          <a:sym typeface="Times New Roman"/>
                        </a:rPr>
                        <a:t>RoBERTa</a:t>
                      </a:r>
                      <a:r>
                        <a:rPr lang="en-US" sz="1000" u="none" cap="none" strike="noStrike">
                          <a:latin typeface="Times New Roman"/>
                          <a:ea typeface="Times New Roman"/>
                          <a:cs typeface="Times New Roman"/>
                          <a:sym typeface="Times New Roman"/>
                        </a:rPr>
                        <a:t>, </a:t>
                      </a:r>
                      <a:r>
                        <a:rPr b="1" lang="en-US" sz="1000" u="none" cap="none" strike="noStrike">
                          <a:latin typeface="Times New Roman"/>
                          <a:ea typeface="Times New Roman"/>
                          <a:cs typeface="Times New Roman"/>
                          <a:sym typeface="Times New Roman"/>
                        </a:rPr>
                        <a:t>FinBERT</a:t>
                      </a:r>
                      <a:r>
                        <a:rPr lang="en-US" sz="1000" u="none" cap="none" strike="noStrike">
                          <a:latin typeface="Times New Roman"/>
                          <a:ea typeface="Times New Roman"/>
                          <a:cs typeface="Times New Roman"/>
                          <a:sym typeface="Times New Roman"/>
                        </a:rPr>
                        <a:t>, and </a:t>
                      </a:r>
                      <a:r>
                        <a:rPr b="1" lang="en-US" sz="1000" u="none" cap="none" strike="noStrike">
                          <a:latin typeface="Times New Roman"/>
                          <a:ea typeface="Times New Roman"/>
                          <a:cs typeface="Times New Roman"/>
                          <a:sym typeface="Times New Roman"/>
                        </a:rPr>
                        <a:t>GPT</a:t>
                      </a:r>
                      <a:r>
                        <a:rPr lang="en-US" sz="1000" u="none" cap="none" strike="noStrike">
                          <a:latin typeface="Times New Roman"/>
                          <a:ea typeface="Times New Roman"/>
                          <a:cs typeface="Times New Roman"/>
                          <a:sym typeface="Times New Roman"/>
                        </a:rPr>
                        <a:t>, an examination of reports from 2016-2022 reveals that sentiment signals can forecast price fluctuations while </a:t>
                      </a:r>
                      <a:r>
                        <a:rPr b="1" lang="en-US" sz="1000" u="none" cap="none" strike="noStrike">
                          <a:latin typeface="Times New Roman"/>
                          <a:ea typeface="Times New Roman"/>
                          <a:cs typeface="Times New Roman"/>
                          <a:sym typeface="Times New Roman"/>
                        </a:rPr>
                        <a:t>minimizing bias from target prices</a:t>
                      </a:r>
                      <a:r>
                        <a:rPr lang="en-US" sz="1000" u="none" cap="none" strike="noStrike">
                          <a:latin typeface="Times New Roman"/>
                          <a:ea typeface="Times New Roman"/>
                          <a:cs typeface="Times New Roman"/>
                          <a:sym typeface="Times New Roman"/>
                        </a:rPr>
                        <a:t>, proving LLMs' ability to enhance informed investment decisions.</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For our project this paper is useful because we also </a:t>
                      </a:r>
                      <a:r>
                        <a:rPr b="1" lang="en-US" sz="1000" u="none" cap="none" strike="noStrike">
                          <a:latin typeface="Times New Roman"/>
                          <a:ea typeface="Times New Roman"/>
                          <a:cs typeface="Times New Roman"/>
                          <a:sym typeface="Times New Roman"/>
                        </a:rPr>
                        <a:t>focus on using textual sentiment like from news or reports to forecast market highs and lows</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8ca009c97a_0_31"/>
          <p:cNvSpPr txBox="1"/>
          <p:nvPr/>
        </p:nvSpPr>
        <p:spPr>
          <a:xfrm>
            <a:off x="650930" y="1114375"/>
            <a:ext cx="7865400" cy="3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50"/>
              <a:buFont typeface="Arial"/>
              <a:buNone/>
            </a:pPr>
            <a:r>
              <a:t/>
            </a:r>
            <a:endParaRPr b="0" i="0" sz="1250" u="none" cap="none" strike="noStrike">
              <a:solidFill>
                <a:srgbClr val="000000"/>
              </a:solidFill>
              <a:latin typeface="Times New Roman"/>
              <a:ea typeface="Times New Roman"/>
              <a:cs typeface="Times New Roman"/>
              <a:sym typeface="Times New Roman"/>
            </a:endParaRPr>
          </a:p>
        </p:txBody>
      </p:sp>
      <p:graphicFrame>
        <p:nvGraphicFramePr>
          <p:cNvPr id="1224" name="Google Shape;1224;g38ca009c97a_0_31"/>
          <p:cNvGraphicFramePr/>
          <p:nvPr/>
        </p:nvGraphicFramePr>
        <p:xfrm>
          <a:off x="523875" y="402200"/>
          <a:ext cx="3000000" cy="3000000"/>
        </p:xfrm>
        <a:graphic>
          <a:graphicData uri="http://schemas.openxmlformats.org/drawingml/2006/table">
            <a:tbl>
              <a:tblPr>
                <a:noFill/>
                <a:tableStyleId>{3E603A28-FFD9-49F6-A8E3-1C9D12FBBF8B}</a:tableStyleId>
              </a:tblPr>
              <a:tblGrid>
                <a:gridCol w="2165900"/>
                <a:gridCol w="3231600"/>
                <a:gridCol w="2698750"/>
              </a:tblGrid>
              <a:tr h="3538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NAME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SUMMARY</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HOW IS IT RELATED</a:t>
                      </a:r>
                      <a:endParaRPr b="1" sz="1400" u="none" cap="none" strike="noStrike">
                        <a:latin typeface="Times New Roman"/>
                        <a:ea typeface="Times New Roman"/>
                        <a:cs typeface="Times New Roman"/>
                        <a:sym typeface="Times New Roman"/>
                      </a:endParaRPr>
                    </a:p>
                  </a:txBody>
                  <a:tcPr marT="91425" marB="91425" marR="91425" marL="91425"/>
                </a:tc>
              </a:tr>
              <a:tr h="3015850">
                <a:tc>
                  <a:txBody>
                    <a:bodyPr/>
                    <a:lstStyle/>
                    <a:p>
                      <a:pPr indent="0" lvl="0" marL="0" marR="0" rtl="0" algn="l">
                        <a:lnSpc>
                          <a:spcPct val="125454"/>
                        </a:lnSpc>
                        <a:spcBef>
                          <a:spcPts val="0"/>
                        </a:spcBef>
                        <a:spcAft>
                          <a:spcPts val="0"/>
                        </a:spcAft>
                        <a:buClr>
                          <a:srgbClr val="000000"/>
                        </a:buClr>
                        <a:buSzPts val="1000"/>
                        <a:buFont typeface="Arial"/>
                        <a:buNone/>
                      </a:pPr>
                      <a:r>
                        <a:rPr b="1" lang="en-US" sz="1000" u="none" cap="none" strike="noStrike">
                          <a:latin typeface="Times New Roman"/>
                          <a:ea typeface="Times New Roman"/>
                          <a:cs typeface="Times New Roman"/>
                          <a:sym typeface="Times New Roman"/>
                        </a:rPr>
                        <a:t>Stock Market Forecasting: From Traditional Predictive Methods to LLMs.</a:t>
                      </a:r>
                      <a:endParaRPr b="1" sz="1000" u="none" cap="none" strike="noStrike">
                        <a:latin typeface="Times New Roman"/>
                        <a:ea typeface="Times New Roman"/>
                        <a:cs typeface="Times New Roman"/>
                        <a:sym typeface="Times New Roman"/>
                      </a:endParaRPr>
                    </a:p>
                    <a:p>
                      <a:pPr indent="0" lvl="0" marL="0" marR="0" rtl="0" algn="l">
                        <a:lnSpc>
                          <a:spcPct val="125454"/>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lang="en-US" sz="1000" u="none" cap="none" strike="noStrike">
                          <a:solidFill>
                            <a:schemeClr val="dk1"/>
                          </a:solidFill>
                          <a:latin typeface="Times New Roman"/>
                          <a:ea typeface="Times New Roman"/>
                          <a:cs typeface="Times New Roman"/>
                          <a:sym typeface="Times New Roman"/>
                        </a:rPr>
                        <a:t>Authors: </a:t>
                      </a:r>
                      <a:r>
                        <a:rPr lang="en-US" sz="1000" u="none" cap="none" strike="noStrike">
                          <a:solidFill>
                            <a:srgbClr val="222222"/>
                          </a:solidFill>
                          <a:latin typeface="Times New Roman"/>
                          <a:ea typeface="Times New Roman"/>
                          <a:cs typeface="Times New Roman"/>
                          <a:sym typeface="Times New Roman"/>
                        </a:rPr>
                        <a:t>Darwish, Mahmoud, Ehab E. Hassanien, and Amany HB Eissa. - 2025</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lang="en-US" sz="1000" u="sng" cap="none" strike="noStrike">
                          <a:solidFill>
                            <a:schemeClr val="hlink"/>
                          </a:solidFill>
                          <a:latin typeface="Times New Roman"/>
                          <a:ea typeface="Times New Roman"/>
                          <a:cs typeface="Times New Roman"/>
                          <a:sym typeface="Times New Roman"/>
                          <a:hlinkClick r:id="rId3"/>
                        </a:rPr>
                        <a:t>LINK TO THE PAPER</a:t>
                      </a:r>
                      <a:endParaRPr sz="1000" u="none" cap="none" strike="noStrike">
                        <a:solidFill>
                          <a:srgbClr val="22222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sz="1000" u="none" cap="none" strike="noStrike">
                        <a:solidFill>
                          <a:srgbClr val="222222"/>
                        </a:solidFill>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survey reviews recent progress in stock market forecasting, </a:t>
                      </a:r>
                      <a:r>
                        <a:rPr b="1" lang="en-US" sz="1000" u="none" cap="none" strike="noStrike">
                          <a:latin typeface="Times New Roman"/>
                          <a:ea typeface="Times New Roman"/>
                          <a:cs typeface="Times New Roman"/>
                          <a:sym typeface="Times New Roman"/>
                        </a:rPr>
                        <a:t>focusing on the growing role of Large Language Models (LLMs) in financial analytics</a:t>
                      </a:r>
                      <a:r>
                        <a:rPr lang="en-US" sz="1000" u="none" cap="none" strike="noStrike">
                          <a:latin typeface="Times New Roman"/>
                          <a:ea typeface="Times New Roman"/>
                          <a:cs typeface="Times New Roman"/>
                          <a:sym typeface="Times New Roman"/>
                        </a:rPr>
                        <a:t>.</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It covers techniques like feature engineering, hybrid and ensemble models, and text-based prediction.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The study explains how </a:t>
                      </a:r>
                      <a:r>
                        <a:rPr b="1" lang="en-US" sz="1000" u="none" cap="none" strike="noStrike">
                          <a:latin typeface="Times New Roman"/>
                          <a:ea typeface="Times New Roman"/>
                          <a:cs typeface="Times New Roman"/>
                          <a:sym typeface="Times New Roman"/>
                        </a:rPr>
                        <a:t>LLMs enhance sentiment analysis and forecasting through transfer and few-shot learning</a:t>
                      </a:r>
                      <a:r>
                        <a:rPr lang="en-US" sz="1000" u="none" cap="none" strike="noStrike">
                          <a:latin typeface="Times New Roman"/>
                          <a:ea typeface="Times New Roman"/>
                          <a:cs typeface="Times New Roman"/>
                          <a:sym typeface="Times New Roman"/>
                        </a:rPr>
                        <a:t>.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It also discusses </a:t>
                      </a:r>
                      <a:r>
                        <a:rPr b="1" lang="en-US" sz="1000" u="none" cap="none" strike="noStrike">
                          <a:latin typeface="Times New Roman"/>
                          <a:ea typeface="Times New Roman"/>
                          <a:cs typeface="Times New Roman"/>
                          <a:sym typeface="Times New Roman"/>
                        </a:rPr>
                        <a:t>combining LLMs with machine learning and reinforcement learning to improve accuracy</a:t>
                      </a:r>
                      <a:r>
                        <a:rPr lang="en-US" sz="1000" u="none" cap="none" strike="noStrike">
                          <a:latin typeface="Times New Roman"/>
                          <a:ea typeface="Times New Roman"/>
                          <a:cs typeface="Times New Roman"/>
                          <a:sym typeface="Times New Roman"/>
                        </a:rPr>
                        <a:t> and explainability. </a:t>
                      </a:r>
                      <a:endParaRPr sz="1000" u="none" cap="none" strike="noStrike">
                        <a:latin typeface="Times New Roman"/>
                        <a:ea typeface="Times New Roman"/>
                        <a:cs typeface="Times New Roman"/>
                        <a:sym typeface="Times New Roman"/>
                      </a:endParaRPr>
                    </a:p>
                    <a:p>
                      <a:pPr indent="-292100" lvl="0" marL="457200" marR="0" rtl="0" algn="l">
                        <a:lnSpc>
                          <a:spcPct val="100000"/>
                        </a:lnSpc>
                        <a:spcBef>
                          <a:spcPts val="0"/>
                        </a:spcBef>
                        <a:spcAft>
                          <a:spcPts val="0"/>
                        </a:spcAft>
                        <a:buClr>
                          <a:srgbClr val="000000"/>
                        </a:buClr>
                        <a:buSzPts val="1000"/>
                        <a:buFont typeface="Times New Roman"/>
                        <a:buChar char="●"/>
                      </a:pPr>
                      <a:r>
                        <a:rPr lang="en-US" sz="1000" u="none" cap="none" strike="noStrike">
                          <a:latin typeface="Times New Roman"/>
                          <a:ea typeface="Times New Roman"/>
                          <a:cs typeface="Times New Roman"/>
                          <a:sym typeface="Times New Roman"/>
                        </a:rPr>
                        <a:t>Finally, it highlights research gaps and future directions for integrating LLMs with traditional predictive models.</a:t>
                      </a:r>
                      <a:endParaRPr sz="1000" u="none" cap="none" strike="noStrike">
                        <a:latin typeface="Times New Roman"/>
                        <a:ea typeface="Times New Roman"/>
                        <a:cs typeface="Times New Roman"/>
                        <a:sym typeface="Times New Roman"/>
                      </a:endParaRPr>
                    </a:p>
                  </a:txBody>
                  <a:tcPr marT="91425" marB="91425" marR="91425" marL="91425"/>
                </a:tc>
                <a:tc>
                  <a:txBody>
                    <a:bodyPr/>
                    <a:lstStyle/>
                    <a:p>
                      <a:pPr indent="-292100" lvl="0" marL="457200" marR="0" rtl="0" algn="l">
                        <a:lnSpc>
                          <a:spcPct val="100000"/>
                        </a:lnSpc>
                        <a:spcBef>
                          <a:spcPts val="0"/>
                        </a:spcBef>
                        <a:spcAft>
                          <a:spcPts val="0"/>
                        </a:spcAft>
                        <a:buClr>
                          <a:srgbClr val="000000"/>
                        </a:buClr>
                        <a:buSzPts val="1000"/>
                        <a:buFont typeface="Arial"/>
                        <a:buChar char="●"/>
                      </a:pPr>
                      <a:r>
                        <a:rPr lang="en-US" sz="1000" u="none" cap="none" strike="noStrike">
                          <a:latin typeface="Times New Roman"/>
                          <a:ea typeface="Times New Roman"/>
                          <a:cs typeface="Times New Roman"/>
                          <a:sym typeface="Times New Roman"/>
                        </a:rPr>
                        <a:t>This connects to our project because we aim to </a:t>
                      </a:r>
                      <a:r>
                        <a:rPr b="1" lang="en-US" sz="1000" u="none" cap="none" strike="noStrike">
                          <a:latin typeface="Times New Roman"/>
                          <a:ea typeface="Times New Roman"/>
                          <a:cs typeface="Times New Roman"/>
                          <a:sym typeface="Times New Roman"/>
                        </a:rPr>
                        <a:t>combine financial text analysis with data based forecasting using LLMs to make market predictions</a:t>
                      </a:r>
                      <a:r>
                        <a:rPr lang="en-US" sz="1000" u="none" cap="none" strike="noStrike">
                          <a:latin typeface="Times New Roman"/>
                          <a:ea typeface="Times New Roman"/>
                          <a:cs typeface="Times New Roman"/>
                          <a:sym typeface="Times New Roman"/>
                        </a:rPr>
                        <a:t> more accurate and understandable.</a:t>
                      </a:r>
                      <a:endParaRPr sz="10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g3a282e196e3_0_13"/>
          <p:cNvSpPr txBox="1"/>
          <p:nvPr>
            <p:ph type="title"/>
          </p:nvPr>
        </p:nvSpPr>
        <p:spPr>
          <a:xfrm>
            <a:off x="716550" y="437000"/>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1230" name="Google Shape;1230;g3a282e196e3_0_13"/>
          <p:cNvSpPr txBox="1"/>
          <p:nvPr/>
        </p:nvSpPr>
        <p:spPr>
          <a:xfrm>
            <a:off x="512850" y="1086000"/>
            <a:ext cx="8118300" cy="3724800"/>
          </a:xfrm>
          <a:prstGeom prst="rect">
            <a:avLst/>
          </a:prstGeom>
          <a:noFill/>
          <a:ln>
            <a:noFill/>
          </a:ln>
        </p:spPr>
        <p:txBody>
          <a:bodyPr anchorCtr="0" anchor="t" bIns="91425" lIns="91425" spcFirstLastPara="1" rIns="91425" wrap="square" tIns="91425">
            <a:spAutoFit/>
          </a:bodyPr>
          <a:lstStyle/>
          <a:p>
            <a:pPr indent="-301625" lvl="0" marL="457200" marR="0" rtl="0" algn="just">
              <a:lnSpc>
                <a:spcPct val="100000"/>
              </a:lnSpc>
              <a:spcBef>
                <a:spcPts val="0"/>
              </a:spcBef>
              <a:spcAft>
                <a:spcPts val="0"/>
              </a:spcAft>
              <a:buClr>
                <a:srgbClr val="000000"/>
              </a:buClr>
              <a:buSzPts val="1150"/>
              <a:buFont typeface="Arial"/>
              <a:buChar char="➢"/>
            </a:pPr>
            <a:r>
              <a:rPr b="0" i="0" lang="en-US" sz="1150" u="none" cap="none" strike="noStrike">
                <a:solidFill>
                  <a:srgbClr val="000000"/>
                </a:solidFill>
                <a:latin typeface="Times New Roman"/>
                <a:ea typeface="Times New Roman"/>
                <a:cs typeface="Times New Roman"/>
                <a:sym typeface="Times New Roman"/>
              </a:rPr>
              <a:t>MarketMind is an AI-powered investment assistant that integrates </a:t>
            </a:r>
            <a:r>
              <a:rPr b="1" i="0" lang="en-US" sz="1150" u="none" cap="none" strike="noStrike">
                <a:solidFill>
                  <a:srgbClr val="000000"/>
                </a:solidFill>
                <a:latin typeface="Times New Roman"/>
                <a:ea typeface="Times New Roman"/>
                <a:cs typeface="Times New Roman"/>
                <a:sym typeface="Times New Roman"/>
              </a:rPr>
              <a:t>Large Language Model (LLM) reasoning</a:t>
            </a:r>
            <a:r>
              <a:rPr b="0" i="0" lang="en-US" sz="1150" u="none" cap="none" strike="noStrike">
                <a:solidFill>
                  <a:srgbClr val="000000"/>
                </a:solidFill>
                <a:latin typeface="Times New Roman"/>
                <a:ea typeface="Times New Roman"/>
                <a:cs typeface="Times New Roman"/>
                <a:sym typeface="Times New Roman"/>
              </a:rPr>
              <a:t> with </a:t>
            </a:r>
            <a:r>
              <a:rPr b="1" i="0" lang="en-US" sz="1150" u="none" cap="none" strike="noStrike">
                <a:solidFill>
                  <a:srgbClr val="000000"/>
                </a:solidFill>
                <a:latin typeface="Times New Roman"/>
                <a:ea typeface="Times New Roman"/>
                <a:cs typeface="Times New Roman"/>
                <a:sym typeface="Times New Roman"/>
              </a:rPr>
              <a:t>domain-specific financial sentiment analysis</a:t>
            </a:r>
            <a:r>
              <a:rPr b="0" i="0" lang="en-US" sz="1150" u="none" cap="none" strike="noStrike">
                <a:solidFill>
                  <a:srgbClr val="000000"/>
                </a:solidFill>
                <a:latin typeface="Times New Roman"/>
                <a:ea typeface="Times New Roman"/>
                <a:cs typeface="Times New Roman"/>
                <a:sym typeface="Times New Roman"/>
              </a:rPr>
              <a:t>.</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Times New Roman"/>
              <a:buChar char="➢"/>
            </a:pPr>
            <a:r>
              <a:rPr b="0" i="0" lang="en-US" sz="1150" u="none" cap="none" strike="noStrike">
                <a:solidFill>
                  <a:srgbClr val="000000"/>
                </a:solidFill>
                <a:latin typeface="Times New Roman"/>
                <a:ea typeface="Times New Roman"/>
                <a:cs typeface="Times New Roman"/>
                <a:sym typeface="Times New Roman"/>
              </a:rPr>
              <a:t>The goal is to bridge the gap between natural investor queries and actionable market insights.</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Times New Roman"/>
              <a:buChar char="➢"/>
            </a:pPr>
            <a:r>
              <a:rPr b="0" i="0" lang="en-US" sz="1150" u="none" cap="none" strike="noStrike">
                <a:solidFill>
                  <a:srgbClr val="000000"/>
                </a:solidFill>
                <a:latin typeface="Times New Roman"/>
                <a:ea typeface="Times New Roman"/>
                <a:cs typeface="Times New Roman"/>
                <a:sym typeface="Times New Roman"/>
              </a:rPr>
              <a:t>Traditional financial models like FinBERT classify sentiment but lack contextual understanding and conversational adaptability.</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Arial"/>
              <a:buChar char="➢"/>
            </a:pPr>
            <a:r>
              <a:rPr b="0" i="0" lang="en-US" sz="1150" u="none" cap="none" strike="noStrike">
                <a:solidFill>
                  <a:srgbClr val="000000"/>
                </a:solidFill>
                <a:latin typeface="Times New Roman"/>
                <a:ea typeface="Times New Roman"/>
                <a:cs typeface="Times New Roman"/>
                <a:sym typeface="Times New Roman"/>
              </a:rPr>
              <a:t>To address this, MarketMind combines </a:t>
            </a:r>
            <a:r>
              <a:rPr b="1" i="0" lang="en-US" sz="1150" u="none" cap="none" strike="noStrike">
                <a:solidFill>
                  <a:srgbClr val="000000"/>
                </a:solidFill>
                <a:latin typeface="Times New Roman"/>
                <a:ea typeface="Times New Roman"/>
                <a:cs typeface="Times New Roman"/>
                <a:sym typeface="Times New Roman"/>
              </a:rPr>
              <a:t>OpenAI’s GPT-4o-mini</a:t>
            </a:r>
            <a:r>
              <a:rPr b="0" i="0" lang="en-US" sz="1150" u="none" cap="none" strike="noStrike">
                <a:solidFill>
                  <a:srgbClr val="000000"/>
                </a:solidFill>
                <a:latin typeface="Times New Roman"/>
                <a:ea typeface="Times New Roman"/>
                <a:cs typeface="Times New Roman"/>
                <a:sym typeface="Times New Roman"/>
              </a:rPr>
              <a:t> for reasoning with </a:t>
            </a:r>
            <a:r>
              <a:rPr b="1" i="0" lang="en-US" sz="1150" u="none" cap="none" strike="noStrike">
                <a:solidFill>
                  <a:srgbClr val="000000"/>
                </a:solidFill>
                <a:latin typeface="Times New Roman"/>
                <a:ea typeface="Times New Roman"/>
                <a:cs typeface="Times New Roman"/>
                <a:sym typeface="Times New Roman"/>
              </a:rPr>
              <a:t>FinBERT</a:t>
            </a:r>
            <a:r>
              <a:rPr b="0" i="0" lang="en-US" sz="1150" u="none" cap="none" strike="noStrike">
                <a:solidFill>
                  <a:srgbClr val="000000"/>
                </a:solidFill>
                <a:latin typeface="Times New Roman"/>
                <a:ea typeface="Times New Roman"/>
                <a:cs typeface="Times New Roman"/>
                <a:sym typeface="Times New Roman"/>
              </a:rPr>
              <a:t> for financial sentiment classification.</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Times New Roman"/>
              <a:buChar char="➢"/>
            </a:pPr>
            <a:r>
              <a:rPr b="0" i="0" lang="en-US" sz="1150" u="none" cap="none" strike="noStrike">
                <a:solidFill>
                  <a:srgbClr val="000000"/>
                </a:solidFill>
                <a:latin typeface="Times New Roman"/>
                <a:ea typeface="Times New Roman"/>
                <a:cs typeface="Times New Roman"/>
                <a:sym typeface="Times New Roman"/>
              </a:rPr>
              <a:t>GPT-4o-mini interprets investor language, rewriting vague or narrative queries into structured financial headlines.</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Arial"/>
              <a:buChar char="➢"/>
            </a:pPr>
            <a:r>
              <a:rPr b="0" i="0" lang="en-US" sz="1150" u="none" cap="none" strike="noStrike">
                <a:solidFill>
                  <a:srgbClr val="000000"/>
                </a:solidFill>
                <a:latin typeface="Times New Roman"/>
                <a:ea typeface="Times New Roman"/>
                <a:cs typeface="Times New Roman"/>
                <a:sym typeface="Times New Roman"/>
              </a:rPr>
              <a:t>These headlines are analyzed by FinBERT to predict sentiment as </a:t>
            </a:r>
            <a:r>
              <a:rPr b="1" i="0" lang="en-US" sz="1150" u="none" cap="none" strike="noStrike">
                <a:solidFill>
                  <a:srgbClr val="000000"/>
                </a:solidFill>
                <a:latin typeface="Times New Roman"/>
                <a:ea typeface="Times New Roman"/>
                <a:cs typeface="Times New Roman"/>
                <a:sym typeface="Times New Roman"/>
              </a:rPr>
              <a:t>Buy</a:t>
            </a:r>
            <a:r>
              <a:rPr b="0" i="0" lang="en-US" sz="1150" u="none" cap="none" strike="noStrike">
                <a:solidFill>
                  <a:srgbClr val="000000"/>
                </a:solidFill>
                <a:latin typeface="Times New Roman"/>
                <a:ea typeface="Times New Roman"/>
                <a:cs typeface="Times New Roman"/>
                <a:sym typeface="Times New Roman"/>
              </a:rPr>
              <a:t>, </a:t>
            </a:r>
            <a:r>
              <a:rPr b="1" i="0" lang="en-US" sz="1150" u="none" cap="none" strike="noStrike">
                <a:solidFill>
                  <a:srgbClr val="000000"/>
                </a:solidFill>
                <a:latin typeface="Times New Roman"/>
                <a:ea typeface="Times New Roman"/>
                <a:cs typeface="Times New Roman"/>
                <a:sym typeface="Times New Roman"/>
              </a:rPr>
              <a:t>Hold</a:t>
            </a:r>
            <a:r>
              <a:rPr b="0" i="0" lang="en-US" sz="1150" u="none" cap="none" strike="noStrike">
                <a:solidFill>
                  <a:srgbClr val="000000"/>
                </a:solidFill>
                <a:latin typeface="Times New Roman"/>
                <a:ea typeface="Times New Roman"/>
                <a:cs typeface="Times New Roman"/>
                <a:sym typeface="Times New Roman"/>
              </a:rPr>
              <a:t>, or </a:t>
            </a:r>
            <a:r>
              <a:rPr b="1" i="0" lang="en-US" sz="1150" u="none" cap="none" strike="noStrike">
                <a:solidFill>
                  <a:srgbClr val="000000"/>
                </a:solidFill>
                <a:latin typeface="Times New Roman"/>
                <a:ea typeface="Times New Roman"/>
                <a:cs typeface="Times New Roman"/>
                <a:sym typeface="Times New Roman"/>
              </a:rPr>
              <a:t>Sell</a:t>
            </a:r>
            <a:r>
              <a:rPr b="0" i="0" lang="en-US" sz="1150" u="none" cap="none" strike="noStrike">
                <a:solidFill>
                  <a:srgbClr val="000000"/>
                </a:solidFill>
                <a:latin typeface="Times New Roman"/>
                <a:ea typeface="Times New Roman"/>
                <a:cs typeface="Times New Roman"/>
                <a:sym typeface="Times New Roman"/>
              </a:rPr>
              <a:t>, along with confidence probabilities.</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Arial"/>
              <a:buChar char="➢"/>
            </a:pPr>
            <a:r>
              <a:rPr b="0" i="0" lang="en-US" sz="1150" u="none" cap="none" strike="noStrike">
                <a:solidFill>
                  <a:srgbClr val="000000"/>
                </a:solidFill>
                <a:latin typeface="Times New Roman"/>
                <a:ea typeface="Times New Roman"/>
                <a:cs typeface="Times New Roman"/>
                <a:sym typeface="Times New Roman"/>
              </a:rPr>
              <a:t>The system is implemented through a </a:t>
            </a:r>
            <a:r>
              <a:rPr b="1" i="0" lang="en-US" sz="1150" u="none" cap="none" strike="noStrike">
                <a:solidFill>
                  <a:srgbClr val="000000"/>
                </a:solidFill>
                <a:latin typeface="Times New Roman"/>
                <a:ea typeface="Times New Roman"/>
                <a:cs typeface="Times New Roman"/>
                <a:sym typeface="Times New Roman"/>
              </a:rPr>
              <a:t>Gradio-based interactive interface</a:t>
            </a:r>
            <a:r>
              <a:rPr b="0" i="0" lang="en-US" sz="1150" u="none" cap="none" strike="noStrike">
                <a:solidFill>
                  <a:srgbClr val="000000"/>
                </a:solidFill>
                <a:latin typeface="Times New Roman"/>
                <a:ea typeface="Times New Roman"/>
                <a:cs typeface="Times New Roman"/>
                <a:sym typeface="Times New Roman"/>
              </a:rPr>
              <a:t> that supports multi-turn conversation and zoom accessibility.</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Arial"/>
              <a:buChar char="➢"/>
            </a:pPr>
            <a:r>
              <a:rPr b="0" i="0" lang="en-US" sz="1150" u="none" cap="none" strike="noStrike">
                <a:solidFill>
                  <a:srgbClr val="000000"/>
                </a:solidFill>
                <a:latin typeface="Times New Roman"/>
                <a:ea typeface="Times New Roman"/>
                <a:cs typeface="Times New Roman"/>
                <a:sym typeface="Times New Roman"/>
              </a:rPr>
              <a:t>FinBERT was retrained over </a:t>
            </a:r>
            <a:r>
              <a:rPr b="1" i="0" lang="en-US" sz="1150" u="none" cap="none" strike="noStrike">
                <a:solidFill>
                  <a:srgbClr val="000000"/>
                </a:solidFill>
                <a:latin typeface="Times New Roman"/>
                <a:ea typeface="Times New Roman"/>
                <a:cs typeface="Times New Roman"/>
                <a:sym typeface="Times New Roman"/>
              </a:rPr>
              <a:t>10 epochs</a:t>
            </a:r>
            <a:r>
              <a:rPr b="0" i="0" lang="en-US" sz="1150" u="none" cap="none" strike="noStrike">
                <a:solidFill>
                  <a:srgbClr val="000000"/>
                </a:solidFill>
                <a:latin typeface="Times New Roman"/>
                <a:ea typeface="Times New Roman"/>
                <a:cs typeface="Times New Roman"/>
                <a:sym typeface="Times New Roman"/>
              </a:rPr>
              <a:t> on a curated financial dataset to enhance domain sensitivity.</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Times New Roman"/>
              <a:buChar char="➢"/>
            </a:pPr>
            <a:r>
              <a:rPr b="0" i="0" lang="en-US" sz="1150" u="none" cap="none" strike="noStrike">
                <a:solidFill>
                  <a:srgbClr val="000000"/>
                </a:solidFill>
                <a:latin typeface="Times New Roman"/>
                <a:ea typeface="Times New Roman"/>
                <a:cs typeface="Times New Roman"/>
                <a:sym typeface="Times New Roman"/>
              </a:rPr>
              <a:t>This dual-layer reasoning–classification pipeline enables the chatbot to provide intelligent, context-aware investment insights.</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Times New Roman"/>
              <a:buChar char="➢"/>
            </a:pPr>
            <a:r>
              <a:rPr b="0" i="0" lang="en-US" sz="1150" u="none" cap="none" strike="noStrike">
                <a:solidFill>
                  <a:srgbClr val="000000"/>
                </a:solidFill>
                <a:latin typeface="Times New Roman"/>
                <a:ea typeface="Times New Roman"/>
                <a:cs typeface="Times New Roman"/>
                <a:sym typeface="Times New Roman"/>
              </a:rPr>
              <a:t>The architecture is modular, comprising three layers — UI, reasoning, and decision — forming an end-to-end inference flow.</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Arial"/>
              <a:buChar char="➢"/>
            </a:pPr>
            <a:r>
              <a:rPr b="0" i="0" lang="en-US" sz="1150" u="none" cap="none" strike="noStrike">
                <a:solidFill>
                  <a:srgbClr val="000000"/>
                </a:solidFill>
                <a:latin typeface="Times New Roman"/>
                <a:ea typeface="Times New Roman"/>
                <a:cs typeface="Times New Roman"/>
                <a:sym typeface="Times New Roman"/>
              </a:rPr>
              <a:t>MarketMind demonstrates the synergy between </a:t>
            </a:r>
            <a:r>
              <a:rPr b="1" i="0" lang="en-US" sz="1150" u="none" cap="none" strike="noStrike">
                <a:solidFill>
                  <a:srgbClr val="000000"/>
                </a:solidFill>
                <a:latin typeface="Times New Roman"/>
                <a:ea typeface="Times New Roman"/>
                <a:cs typeface="Times New Roman"/>
                <a:sym typeface="Times New Roman"/>
              </a:rPr>
              <a:t>general-purpose LLMs</a:t>
            </a:r>
            <a:r>
              <a:rPr b="0" i="0" lang="en-US" sz="1150" u="none" cap="none" strike="noStrike">
                <a:solidFill>
                  <a:srgbClr val="000000"/>
                </a:solidFill>
                <a:latin typeface="Times New Roman"/>
                <a:ea typeface="Times New Roman"/>
                <a:cs typeface="Times New Roman"/>
                <a:sym typeface="Times New Roman"/>
              </a:rPr>
              <a:t> and </a:t>
            </a:r>
            <a:r>
              <a:rPr b="1" i="0" lang="en-US" sz="1150" u="none" cap="none" strike="noStrike">
                <a:solidFill>
                  <a:srgbClr val="000000"/>
                </a:solidFill>
                <a:latin typeface="Times New Roman"/>
                <a:ea typeface="Times New Roman"/>
                <a:cs typeface="Times New Roman"/>
                <a:sym typeface="Times New Roman"/>
              </a:rPr>
              <a:t>fine-tuned transformer models</a:t>
            </a:r>
            <a:r>
              <a:rPr b="0" i="0" lang="en-US" sz="1150" u="none" cap="none" strike="noStrike">
                <a:solidFill>
                  <a:srgbClr val="000000"/>
                </a:solidFill>
                <a:latin typeface="Times New Roman"/>
                <a:ea typeface="Times New Roman"/>
                <a:cs typeface="Times New Roman"/>
                <a:sym typeface="Times New Roman"/>
              </a:rPr>
              <a:t> for financial analytics.</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Times New Roman"/>
              <a:buChar char="➢"/>
            </a:pPr>
            <a:r>
              <a:rPr b="0" i="0" lang="en-US" sz="1150" u="none" cap="none" strike="noStrike">
                <a:solidFill>
                  <a:srgbClr val="000000"/>
                </a:solidFill>
                <a:latin typeface="Times New Roman"/>
                <a:ea typeface="Times New Roman"/>
                <a:cs typeface="Times New Roman"/>
                <a:sym typeface="Times New Roman"/>
              </a:rPr>
              <a:t>Evaluation metrics such as accuracy, F1-score, and confusion matrices confirm its prediction reliability.</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Times New Roman"/>
              <a:buChar char="➢"/>
            </a:pPr>
            <a:r>
              <a:rPr b="0" i="0" lang="en-US" sz="1150" u="none" cap="none" strike="noStrike">
                <a:solidFill>
                  <a:srgbClr val="000000"/>
                </a:solidFill>
                <a:latin typeface="Times New Roman"/>
                <a:ea typeface="Times New Roman"/>
                <a:cs typeface="Times New Roman"/>
                <a:sym typeface="Times New Roman"/>
              </a:rPr>
              <a:t>The chatbot offers an accessible interface for both investors and learners in finance and AI.</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just">
              <a:lnSpc>
                <a:spcPct val="100000"/>
              </a:lnSpc>
              <a:spcBef>
                <a:spcPts val="0"/>
              </a:spcBef>
              <a:spcAft>
                <a:spcPts val="0"/>
              </a:spcAft>
              <a:buClr>
                <a:srgbClr val="000000"/>
              </a:buClr>
              <a:buSzPts val="1150"/>
              <a:buFont typeface="Arial"/>
              <a:buChar char="➢"/>
            </a:pPr>
            <a:r>
              <a:rPr b="0" i="0" lang="en-US" sz="1150" u="none" cap="none" strike="noStrike">
                <a:solidFill>
                  <a:srgbClr val="000000"/>
                </a:solidFill>
                <a:latin typeface="Times New Roman"/>
                <a:ea typeface="Times New Roman"/>
                <a:cs typeface="Times New Roman"/>
                <a:sym typeface="Times New Roman"/>
              </a:rPr>
              <a:t>In summary, MarketMind represents a novel integration of </a:t>
            </a:r>
            <a:r>
              <a:rPr b="1" i="0" lang="en-US" sz="1150" u="none" cap="none" strike="noStrike">
                <a:solidFill>
                  <a:srgbClr val="000000"/>
                </a:solidFill>
                <a:latin typeface="Times New Roman"/>
                <a:ea typeface="Times New Roman"/>
                <a:cs typeface="Times New Roman"/>
                <a:sym typeface="Times New Roman"/>
              </a:rPr>
              <a:t>language understanding and financial intelligence</a:t>
            </a:r>
            <a:r>
              <a:rPr b="0" i="0" lang="en-US" sz="1150" u="none" cap="none" strike="noStrike">
                <a:solidFill>
                  <a:srgbClr val="000000"/>
                </a:solidFill>
                <a:latin typeface="Times New Roman"/>
                <a:ea typeface="Times New Roman"/>
                <a:cs typeface="Times New Roman"/>
                <a:sym typeface="Times New Roman"/>
              </a:rPr>
              <a:t>, paving the way for future </a:t>
            </a:r>
            <a:r>
              <a:rPr b="1" i="0" lang="en-US" sz="1150" u="none" cap="none" strike="noStrike">
                <a:solidFill>
                  <a:srgbClr val="000000"/>
                </a:solidFill>
                <a:latin typeface="Times New Roman"/>
                <a:ea typeface="Times New Roman"/>
                <a:cs typeface="Times New Roman"/>
                <a:sym typeface="Times New Roman"/>
              </a:rPr>
              <a:t>AI-driven advisory systems</a:t>
            </a:r>
            <a:r>
              <a:rPr b="0" i="0" lang="en-US" sz="1150" u="none" cap="none" strike="noStrike">
                <a:solidFill>
                  <a:srgbClr val="000000"/>
                </a:solidFill>
                <a:latin typeface="Times New Roman"/>
                <a:ea typeface="Times New Roman"/>
                <a:cs typeface="Times New Roman"/>
                <a:sym typeface="Times New Roman"/>
              </a:rPr>
              <a:t>.</a:t>
            </a:r>
            <a:endParaRPr b="0" i="0" sz="11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g3a282e196e3_0_23"/>
          <p:cNvSpPr txBox="1"/>
          <p:nvPr>
            <p:ph type="title"/>
          </p:nvPr>
        </p:nvSpPr>
        <p:spPr>
          <a:xfrm>
            <a:off x="626825" y="354300"/>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Dataset Overview</a:t>
            </a:r>
            <a:endParaRPr>
              <a:latin typeface="Times New Roman"/>
              <a:ea typeface="Times New Roman"/>
              <a:cs typeface="Times New Roman"/>
              <a:sym typeface="Times New Roman"/>
            </a:endParaRPr>
          </a:p>
        </p:txBody>
      </p:sp>
      <p:sp>
        <p:nvSpPr>
          <p:cNvPr id="1236" name="Google Shape;1236;g3a282e196e3_0_23"/>
          <p:cNvSpPr txBox="1"/>
          <p:nvPr/>
        </p:nvSpPr>
        <p:spPr>
          <a:xfrm>
            <a:off x="716550" y="3687425"/>
            <a:ext cx="7710900" cy="9543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We created a curated dataset covering 60 companies, including major corporations and emerging startups, by collecting five relevant news articles or tweets for each company. </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All items were manually selected from credible financial sources to ensure they reflected events that could influence stock movement. </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Each entry was labeled with company name, news text, year, sentiment, a Buy/Hold/Sell recommendation, and the original article link. </a:t>
            </a:r>
            <a:endParaRPr sz="1000">
              <a:latin typeface="Times New Roman"/>
              <a:ea typeface="Times New Roman"/>
              <a:cs typeface="Times New Roman"/>
              <a:sym typeface="Times New Roman"/>
            </a:endParaRPr>
          </a:p>
          <a:p>
            <a:pPr indent="-292100" lvl="0" marL="45720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This structured dataset was then organized into a clean CSV format and used to train and evaluate the MarketMind prediction system.</a:t>
            </a:r>
            <a:endParaRPr sz="1000">
              <a:latin typeface="Times New Roman"/>
              <a:ea typeface="Times New Roman"/>
              <a:cs typeface="Times New Roman"/>
              <a:sym typeface="Times New Roman"/>
            </a:endParaRPr>
          </a:p>
        </p:txBody>
      </p:sp>
      <p:pic>
        <p:nvPicPr>
          <p:cNvPr id="1237" name="Google Shape;1237;g3a282e196e3_0_23"/>
          <p:cNvPicPr preferRelativeResize="0"/>
          <p:nvPr/>
        </p:nvPicPr>
        <p:blipFill>
          <a:blip r:embed="rId3">
            <a:alphaModFix/>
          </a:blip>
          <a:stretch>
            <a:fillRect/>
          </a:stretch>
        </p:blipFill>
        <p:spPr>
          <a:xfrm>
            <a:off x="2336613" y="1037375"/>
            <a:ext cx="4291336" cy="2455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8"/>
          <p:cNvSpPr txBox="1"/>
          <p:nvPr>
            <p:ph type="title"/>
          </p:nvPr>
        </p:nvSpPr>
        <p:spPr>
          <a:xfrm>
            <a:off x="716550" y="478950"/>
            <a:ext cx="7710900" cy="471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Architecture Diagram</a:t>
            </a:r>
            <a:endParaRPr>
              <a:latin typeface="Times New Roman"/>
              <a:ea typeface="Times New Roman"/>
              <a:cs typeface="Times New Roman"/>
              <a:sym typeface="Times New Roman"/>
            </a:endParaRPr>
          </a:p>
        </p:txBody>
      </p:sp>
      <p:sp>
        <p:nvSpPr>
          <p:cNvPr id="1243" name="Google Shape;1243;p8"/>
          <p:cNvSpPr txBox="1"/>
          <p:nvPr/>
        </p:nvSpPr>
        <p:spPr>
          <a:xfrm>
            <a:off x="748213" y="4169275"/>
            <a:ext cx="77601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1" lang="en-US" sz="1100" u="none" cap="none" strike="noStrike">
                <a:solidFill>
                  <a:srgbClr val="000000"/>
                </a:solidFill>
                <a:latin typeface="Times New Roman"/>
                <a:ea typeface="Times New Roman"/>
                <a:cs typeface="Times New Roman"/>
                <a:sym typeface="Times New Roman"/>
              </a:rPr>
              <a:t>This architecture illustrates how MarketMind integrates LLM reasoning with FinBERT sentiment analysis to transform user queries into structured stock (Buy/Hold/Sell) predictions.</a:t>
            </a:r>
            <a:endParaRPr b="1" i="1" sz="1100" u="none" cap="none" strike="noStrike">
              <a:solidFill>
                <a:srgbClr val="000000"/>
              </a:solidFill>
              <a:latin typeface="Times New Roman"/>
              <a:ea typeface="Times New Roman"/>
              <a:cs typeface="Times New Roman"/>
              <a:sym typeface="Times New Roman"/>
            </a:endParaRPr>
          </a:p>
        </p:txBody>
      </p:sp>
      <p:pic>
        <p:nvPicPr>
          <p:cNvPr id="1244" name="Google Shape;1244;p8"/>
          <p:cNvPicPr preferRelativeResize="0"/>
          <p:nvPr/>
        </p:nvPicPr>
        <p:blipFill>
          <a:blip r:embed="rId3">
            <a:alphaModFix/>
          </a:blip>
          <a:stretch>
            <a:fillRect/>
          </a:stretch>
        </p:blipFill>
        <p:spPr>
          <a:xfrm>
            <a:off x="2043075" y="1129050"/>
            <a:ext cx="5170374" cy="3040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g3ae338ccf5b_1_0"/>
          <p:cNvSpPr txBox="1"/>
          <p:nvPr>
            <p:ph type="title"/>
          </p:nvPr>
        </p:nvSpPr>
        <p:spPr>
          <a:xfrm>
            <a:off x="634675" y="472275"/>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Implementation Details</a:t>
            </a:r>
            <a:endParaRPr>
              <a:latin typeface="Times New Roman"/>
              <a:ea typeface="Times New Roman"/>
              <a:cs typeface="Times New Roman"/>
              <a:sym typeface="Times New Roman"/>
            </a:endParaRPr>
          </a:p>
        </p:txBody>
      </p:sp>
      <p:sp>
        <p:nvSpPr>
          <p:cNvPr id="1250" name="Google Shape;1250;g3ae338ccf5b_1_0"/>
          <p:cNvSpPr txBox="1"/>
          <p:nvPr/>
        </p:nvSpPr>
        <p:spPr>
          <a:xfrm>
            <a:off x="634675" y="1218600"/>
            <a:ext cx="47559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latin typeface="Times New Roman"/>
                <a:ea typeface="Times New Roman"/>
                <a:cs typeface="Times New Roman"/>
                <a:sym typeface="Times New Roman"/>
              </a:rPr>
              <a:t>Data Preprocessing</a:t>
            </a:r>
            <a:endParaRPr b="1" sz="13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Loaded dataset of news/tweets + metadata + Buy/Hold/Sell labels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Combined text fields: NewsOrComment + Reason + Status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Encoded labels (sell=0, hold=1, buy=2)</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Balanced the dataset using upsampling → each class = 125 samples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Split into Train (262), Validation (56), Test (57)</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US" sz="1300">
                <a:latin typeface="Times New Roman"/>
                <a:ea typeface="Times New Roman"/>
                <a:cs typeface="Times New Roman"/>
                <a:sym typeface="Times New Roman"/>
              </a:rPr>
              <a:t>Model Architecture</a:t>
            </a:r>
            <a:endParaRPr b="1" sz="13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Used FinBERT (yiyanghkust/finbert-tone) tokenizer + model</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Extracted CLS embedding (768-dim) per text</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US" sz="1300">
                <a:latin typeface="Times New Roman"/>
                <a:ea typeface="Times New Roman"/>
                <a:cs typeface="Times New Roman"/>
                <a:sym typeface="Times New Roman"/>
              </a:rPr>
              <a:t>Classifier head:</a:t>
            </a:r>
            <a:endParaRPr b="1" sz="13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Dense(256, ReLU) → Dropout(0.3) → Dense(3-class Softmax)</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Trained with Adam (3e-5) for 10 epochs</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US" sz="1300">
                <a:latin typeface="Times New Roman"/>
                <a:ea typeface="Times New Roman"/>
                <a:cs typeface="Times New Roman"/>
                <a:sym typeface="Times New Roman"/>
              </a:rPr>
              <a:t>Training Performance</a:t>
            </a:r>
            <a:endParaRPr b="1" sz="13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Validation accuracy improved from 0.51 → 0.71 across epochs</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US" sz="1200">
                <a:latin typeface="Times New Roman"/>
                <a:ea typeface="Times New Roman"/>
                <a:cs typeface="Times New Roman"/>
                <a:sym typeface="Times New Roman"/>
              </a:rPr>
              <a:t>Loss consistently decreased (1.01 → 0.69)</a:t>
            </a:r>
            <a:endParaRPr sz="1200">
              <a:latin typeface="Times New Roman"/>
              <a:ea typeface="Times New Roman"/>
              <a:cs typeface="Times New Roman"/>
              <a:sym typeface="Times New Roman"/>
            </a:endParaRPr>
          </a:p>
        </p:txBody>
      </p:sp>
      <p:pic>
        <p:nvPicPr>
          <p:cNvPr id="1251" name="Google Shape;1251;g3ae338ccf5b_1_0"/>
          <p:cNvPicPr preferRelativeResize="0"/>
          <p:nvPr/>
        </p:nvPicPr>
        <p:blipFill>
          <a:blip r:embed="rId3">
            <a:alphaModFix/>
          </a:blip>
          <a:stretch>
            <a:fillRect/>
          </a:stretch>
        </p:blipFill>
        <p:spPr>
          <a:xfrm>
            <a:off x="5457575" y="1468613"/>
            <a:ext cx="3045300" cy="27015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5" name="Shape 1255"/>
        <p:cNvGrpSpPr/>
        <p:nvPr/>
      </p:nvGrpSpPr>
      <p:grpSpPr>
        <a:xfrm>
          <a:off x="0" y="0"/>
          <a:ext cx="0" cy="0"/>
          <a:chOff x="0" y="0"/>
          <a:chExt cx="0" cy="0"/>
        </a:xfrm>
      </p:grpSpPr>
      <p:sp>
        <p:nvSpPr>
          <p:cNvPr id="1256" name="Google Shape;1256;g3ae338ccf5b_1_8"/>
          <p:cNvSpPr txBox="1"/>
          <p:nvPr>
            <p:ph type="title"/>
          </p:nvPr>
        </p:nvSpPr>
        <p:spPr>
          <a:xfrm>
            <a:off x="634675" y="472275"/>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Evaluation</a:t>
            </a:r>
            <a:r>
              <a:rPr lang="en-US">
                <a:latin typeface="Times New Roman"/>
                <a:ea typeface="Times New Roman"/>
                <a:cs typeface="Times New Roman"/>
                <a:sym typeface="Times New Roman"/>
              </a:rPr>
              <a:t> Details and Results</a:t>
            </a:r>
            <a:endParaRPr>
              <a:latin typeface="Times New Roman"/>
              <a:ea typeface="Times New Roman"/>
              <a:cs typeface="Times New Roman"/>
              <a:sym typeface="Times New Roman"/>
            </a:endParaRPr>
          </a:p>
        </p:txBody>
      </p:sp>
      <p:sp>
        <p:nvSpPr>
          <p:cNvPr id="1257" name="Google Shape;1257;g3ae338ccf5b_1_8"/>
          <p:cNvSpPr txBox="1"/>
          <p:nvPr/>
        </p:nvSpPr>
        <p:spPr>
          <a:xfrm>
            <a:off x="525100" y="1124225"/>
            <a:ext cx="40470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Times New Roman"/>
                <a:ea typeface="Times New Roman"/>
                <a:cs typeface="Times New Roman"/>
                <a:sym typeface="Times New Roman"/>
              </a:rPr>
              <a:t>Final Test Results</a:t>
            </a:r>
            <a:endParaRPr b="1"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Accuracy: 0.719</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Macro F1-Score: 0.696</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US" sz="1200">
                <a:latin typeface="Times New Roman"/>
                <a:ea typeface="Times New Roman"/>
                <a:cs typeface="Times New Roman"/>
                <a:sym typeface="Times New Roman"/>
              </a:rPr>
              <a:t>Class-wise performance</a:t>
            </a:r>
            <a:r>
              <a:rPr lang="en-US"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Sell: F1 = 0.85</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Hold: F1 = 0.53</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Buy: F1 = 0.70</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Saved confusion matrix + training curves</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US" sz="1200">
                <a:latin typeface="Times New Roman"/>
                <a:ea typeface="Times New Roman"/>
                <a:cs typeface="Times New Roman"/>
                <a:sym typeface="Times New Roman"/>
              </a:rPr>
              <a:t>Sample Predictions (Model predicts reasonable sentiment for real-world headlines):</a:t>
            </a:r>
            <a:endParaRPr b="1"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McDonald’s falls after missing expectations → Sell</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Cisco stock falls after revenue cut → Sell</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Pfizer booster development → Hold</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Plenty files for bankruptcy → Sell</a:t>
            </a:r>
            <a:endParaRPr sz="1200">
              <a:latin typeface="Times New Roman"/>
              <a:ea typeface="Times New Roman"/>
              <a:cs typeface="Times New Roman"/>
              <a:sym typeface="Times New Roman"/>
            </a:endParaRPr>
          </a:p>
          <a:p>
            <a:pPr indent="0" lvl="0" marL="0" rtl="0" algn="l">
              <a:spcBef>
                <a:spcPts val="0"/>
              </a:spcBef>
              <a:spcAft>
                <a:spcPts val="0"/>
              </a:spcAft>
              <a:buNone/>
            </a:pPr>
            <a:r>
              <a:rPr b="1" lang="en-US" sz="1200">
                <a:latin typeface="Times New Roman"/>
                <a:ea typeface="Times New Roman"/>
                <a:cs typeface="Times New Roman"/>
                <a:sym typeface="Times New Roman"/>
              </a:rPr>
              <a:t>Outputs Saved</a:t>
            </a:r>
            <a:endParaRPr b="1"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Trained model: marketmind_finbert_model.keras</a:t>
            </a:r>
            <a:endParaRPr sz="1200">
              <a:latin typeface="Times New Roman"/>
              <a:ea typeface="Times New Roman"/>
              <a:cs typeface="Times New Roman"/>
              <a:sym typeface="Times New Roman"/>
            </a:endParaRPr>
          </a:p>
          <a:p>
            <a:pPr indent="-298450" lvl="0" marL="457200" rtl="0" algn="l">
              <a:spcBef>
                <a:spcPts val="0"/>
              </a:spcBef>
              <a:spcAft>
                <a:spcPts val="0"/>
              </a:spcAft>
              <a:buSzPts val="1100"/>
              <a:buFont typeface="Times New Roman"/>
              <a:buChar char="●"/>
            </a:pPr>
            <a:r>
              <a:rPr lang="en-US" sz="1200">
                <a:latin typeface="Times New Roman"/>
                <a:ea typeface="Times New Roman"/>
                <a:cs typeface="Times New Roman"/>
                <a:sym typeface="Times New Roman"/>
              </a:rPr>
              <a:t>Saved artifacts: training curves, confusion matrix, sample predictions</a:t>
            </a:r>
            <a:endParaRPr sz="1200">
              <a:latin typeface="Times New Roman"/>
              <a:ea typeface="Times New Roman"/>
              <a:cs typeface="Times New Roman"/>
              <a:sym typeface="Times New Roman"/>
            </a:endParaRPr>
          </a:p>
        </p:txBody>
      </p:sp>
      <p:pic>
        <p:nvPicPr>
          <p:cNvPr id="1258" name="Google Shape;1258;g3ae338ccf5b_1_8"/>
          <p:cNvPicPr preferRelativeResize="0"/>
          <p:nvPr/>
        </p:nvPicPr>
        <p:blipFill>
          <a:blip r:embed="rId3">
            <a:alphaModFix/>
          </a:blip>
          <a:stretch>
            <a:fillRect/>
          </a:stretch>
        </p:blipFill>
        <p:spPr>
          <a:xfrm>
            <a:off x="4435675" y="1635600"/>
            <a:ext cx="4106525" cy="2414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2" name="Shape 1262"/>
        <p:cNvGrpSpPr/>
        <p:nvPr/>
      </p:nvGrpSpPr>
      <p:grpSpPr>
        <a:xfrm>
          <a:off x="0" y="0"/>
          <a:ext cx="0" cy="0"/>
          <a:chOff x="0" y="0"/>
          <a:chExt cx="0" cy="0"/>
        </a:xfrm>
      </p:grpSpPr>
      <p:sp>
        <p:nvSpPr>
          <p:cNvPr id="1263" name="Google Shape;1263;g3ae338ccf5b_1_16"/>
          <p:cNvSpPr txBox="1"/>
          <p:nvPr>
            <p:ph type="title"/>
          </p:nvPr>
        </p:nvSpPr>
        <p:spPr>
          <a:xfrm>
            <a:off x="634675" y="425100"/>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UI Implementation</a:t>
            </a:r>
            <a:endParaRPr>
              <a:latin typeface="Times New Roman"/>
              <a:ea typeface="Times New Roman"/>
              <a:cs typeface="Times New Roman"/>
              <a:sym typeface="Times New Roman"/>
            </a:endParaRPr>
          </a:p>
        </p:txBody>
      </p:sp>
      <p:sp>
        <p:nvSpPr>
          <p:cNvPr id="1264" name="Google Shape;1264;g3ae338ccf5b_1_16"/>
          <p:cNvSpPr txBox="1"/>
          <p:nvPr/>
        </p:nvSpPr>
        <p:spPr>
          <a:xfrm>
            <a:off x="595500" y="997800"/>
            <a:ext cx="79530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Times New Roman"/>
                <a:ea typeface="Times New Roman"/>
                <a:cs typeface="Times New Roman"/>
                <a:sym typeface="Times New Roman"/>
              </a:rPr>
              <a:t>Model Components</a:t>
            </a:r>
            <a:endParaRPr b="1">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Loads trained FinBERT model: marketmind_finbert_model.keras</a:t>
            </a:r>
            <a:endParaRPr>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Uses FinBERT tokenizer for encoding input text</a:t>
            </a:r>
            <a:endParaRPr>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GPT-4o-mini used for:</a:t>
            </a:r>
            <a:endParaRPr>
              <a:latin typeface="Times New Roman"/>
              <a:ea typeface="Times New Roman"/>
              <a:cs typeface="Times New Roman"/>
              <a:sym typeface="Times New Roman"/>
            </a:endParaRPr>
          </a:p>
          <a:p>
            <a:pPr indent="-311150" lvl="1" marL="914400" rtl="0" algn="l">
              <a:spcBef>
                <a:spcPts val="0"/>
              </a:spcBef>
              <a:spcAft>
                <a:spcPts val="0"/>
              </a:spcAft>
              <a:buSzPts val="1300"/>
              <a:buFont typeface="Times New Roman"/>
              <a:buChar char="○"/>
            </a:pPr>
            <a:r>
              <a:rPr lang="en-US">
                <a:latin typeface="Times New Roman"/>
                <a:ea typeface="Times New Roman"/>
                <a:cs typeface="Times New Roman"/>
                <a:sym typeface="Times New Roman"/>
              </a:rPr>
              <a:t>Extracting one company name from user message</a:t>
            </a:r>
            <a:endParaRPr>
              <a:latin typeface="Times New Roman"/>
              <a:ea typeface="Times New Roman"/>
              <a:cs typeface="Times New Roman"/>
              <a:sym typeface="Times New Roman"/>
            </a:endParaRPr>
          </a:p>
          <a:p>
            <a:pPr indent="-311150" lvl="1" marL="914400" rtl="0" algn="l">
              <a:spcBef>
                <a:spcPts val="0"/>
              </a:spcBef>
              <a:spcAft>
                <a:spcPts val="0"/>
              </a:spcAft>
              <a:buSzPts val="1300"/>
              <a:buFont typeface="Times New Roman"/>
              <a:buChar char="○"/>
            </a:pPr>
            <a:r>
              <a:rPr lang="en-US">
                <a:latin typeface="Times New Roman"/>
                <a:ea typeface="Times New Roman"/>
                <a:cs typeface="Times New Roman"/>
                <a:sym typeface="Times New Roman"/>
              </a:rPr>
              <a:t>Rewriting the user’s input into a short factual headline with the current month/year</a:t>
            </a:r>
            <a:endParaRPr>
              <a:latin typeface="Times New Roman"/>
              <a:ea typeface="Times New Roman"/>
              <a:cs typeface="Times New Roman"/>
              <a:sym typeface="Times New Roman"/>
            </a:endParaRPr>
          </a:p>
          <a:p>
            <a:pPr indent="0" lvl="0" marL="0" rtl="0" algn="l">
              <a:spcBef>
                <a:spcPts val="0"/>
              </a:spcBef>
              <a:spcAft>
                <a:spcPts val="0"/>
              </a:spcAft>
              <a:buNone/>
            </a:pPr>
            <a:r>
              <a:rPr b="1" lang="en-US">
                <a:latin typeface="Times New Roman"/>
                <a:ea typeface="Times New Roman"/>
                <a:cs typeface="Times New Roman"/>
                <a:sym typeface="Times New Roman"/>
              </a:rPr>
              <a:t>Prediction Workflow</a:t>
            </a:r>
            <a:endParaRPr b="1">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User sends natural-language message</a:t>
            </a:r>
            <a:endParaRPr>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GPT extracts company_now</a:t>
            </a:r>
            <a:endParaRPr>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If same company as previous turn → merges context</a:t>
            </a:r>
            <a:endParaRPr>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GPT rewrites the merged text into a clean headline</a:t>
            </a:r>
            <a:endParaRPr>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FinBERT predicts Sell / Hold / Buy + probability scores</a:t>
            </a:r>
            <a:endParaRPr>
              <a:latin typeface="Times New Roman"/>
              <a:ea typeface="Times New Roman"/>
              <a:cs typeface="Times New Roman"/>
              <a:sym typeface="Times New Roman"/>
            </a:endParaRPr>
          </a:p>
          <a:p>
            <a:pPr indent="-311150" lvl="0" marL="457200" rtl="0" algn="l">
              <a:spcBef>
                <a:spcPts val="0"/>
              </a:spcBef>
              <a:spcAft>
                <a:spcPts val="0"/>
              </a:spcAft>
              <a:buSzPts val="1300"/>
              <a:buFont typeface="Times New Roman"/>
              <a:buChar char="●"/>
            </a:pPr>
            <a:r>
              <a:rPr lang="en-US">
                <a:latin typeface="Times New Roman"/>
                <a:ea typeface="Times New Roman"/>
                <a:cs typeface="Times New Roman"/>
                <a:sym typeface="Times New Roman"/>
              </a:rPr>
              <a:t>Chatbot returns:</a:t>
            </a:r>
            <a:endParaRPr>
              <a:latin typeface="Times New Roman"/>
              <a:ea typeface="Times New Roman"/>
              <a:cs typeface="Times New Roman"/>
              <a:sym typeface="Times New Roman"/>
            </a:endParaRPr>
          </a:p>
          <a:p>
            <a:pPr indent="-311150" lvl="1" marL="914400" rtl="0" algn="l">
              <a:spcBef>
                <a:spcPts val="0"/>
              </a:spcBef>
              <a:spcAft>
                <a:spcPts val="0"/>
              </a:spcAft>
              <a:buSzPts val="1300"/>
              <a:buFont typeface="Times New Roman"/>
              <a:buChar char="○"/>
            </a:pPr>
            <a:r>
              <a:rPr lang="en-US">
                <a:latin typeface="Times New Roman"/>
                <a:ea typeface="Times New Roman"/>
                <a:cs typeface="Times New Roman"/>
                <a:sym typeface="Times New Roman"/>
              </a:rPr>
              <a:t>Headline</a:t>
            </a:r>
            <a:endParaRPr>
              <a:latin typeface="Times New Roman"/>
              <a:ea typeface="Times New Roman"/>
              <a:cs typeface="Times New Roman"/>
              <a:sym typeface="Times New Roman"/>
            </a:endParaRPr>
          </a:p>
          <a:p>
            <a:pPr indent="-311150" lvl="1" marL="914400" rtl="0" algn="l">
              <a:spcBef>
                <a:spcPts val="0"/>
              </a:spcBef>
              <a:spcAft>
                <a:spcPts val="0"/>
              </a:spcAft>
              <a:buSzPts val="1300"/>
              <a:buFont typeface="Times New Roman"/>
              <a:buChar char="○"/>
            </a:pPr>
            <a:r>
              <a:rPr lang="en-US">
                <a:latin typeface="Times New Roman"/>
                <a:ea typeface="Times New Roman"/>
                <a:cs typeface="Times New Roman"/>
                <a:sym typeface="Times New Roman"/>
              </a:rPr>
              <a:t>Predicted action</a:t>
            </a:r>
            <a:endParaRPr>
              <a:latin typeface="Times New Roman"/>
              <a:ea typeface="Times New Roman"/>
              <a:cs typeface="Times New Roman"/>
              <a:sym typeface="Times New Roman"/>
            </a:endParaRPr>
          </a:p>
          <a:p>
            <a:pPr indent="-311150" lvl="1" marL="914400" rtl="0" algn="l">
              <a:spcBef>
                <a:spcPts val="0"/>
              </a:spcBef>
              <a:spcAft>
                <a:spcPts val="0"/>
              </a:spcAft>
              <a:buSzPts val="1300"/>
              <a:buFont typeface="Times New Roman"/>
              <a:buChar char="○"/>
            </a:pPr>
            <a:r>
              <a:rPr lang="en-US">
                <a:latin typeface="Times New Roman"/>
                <a:ea typeface="Times New Roman"/>
                <a:cs typeface="Times New Roman"/>
                <a:sym typeface="Times New Roman"/>
              </a:rPr>
              <a:t>Confidence percentages</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8" name="Shape 1268"/>
        <p:cNvGrpSpPr/>
        <p:nvPr/>
      </p:nvGrpSpPr>
      <p:grpSpPr>
        <a:xfrm>
          <a:off x="0" y="0"/>
          <a:ext cx="0" cy="0"/>
          <a:chOff x="0" y="0"/>
          <a:chExt cx="0" cy="0"/>
        </a:xfrm>
      </p:grpSpPr>
      <p:sp>
        <p:nvSpPr>
          <p:cNvPr id="1269" name="Google Shape;1269;g3ae338ccf5b_1_24"/>
          <p:cNvSpPr txBox="1"/>
          <p:nvPr>
            <p:ph type="title"/>
          </p:nvPr>
        </p:nvSpPr>
        <p:spPr>
          <a:xfrm>
            <a:off x="634675" y="425100"/>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UI Implementation</a:t>
            </a:r>
            <a:endParaRPr>
              <a:latin typeface="Times New Roman"/>
              <a:ea typeface="Times New Roman"/>
              <a:cs typeface="Times New Roman"/>
              <a:sym typeface="Times New Roman"/>
            </a:endParaRPr>
          </a:p>
        </p:txBody>
      </p:sp>
      <p:pic>
        <p:nvPicPr>
          <p:cNvPr id="1270" name="Google Shape;1270;g3ae338ccf5b_1_24"/>
          <p:cNvPicPr preferRelativeResize="0"/>
          <p:nvPr/>
        </p:nvPicPr>
        <p:blipFill>
          <a:blip r:embed="rId3">
            <a:alphaModFix/>
          </a:blip>
          <a:stretch>
            <a:fillRect/>
          </a:stretch>
        </p:blipFill>
        <p:spPr>
          <a:xfrm>
            <a:off x="1042250" y="1323013"/>
            <a:ext cx="7059500" cy="27019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4" name="Shape 1274"/>
        <p:cNvGrpSpPr/>
        <p:nvPr/>
      </p:nvGrpSpPr>
      <p:grpSpPr>
        <a:xfrm>
          <a:off x="0" y="0"/>
          <a:ext cx="0" cy="0"/>
          <a:chOff x="0" y="0"/>
          <a:chExt cx="0" cy="0"/>
        </a:xfrm>
      </p:grpSpPr>
      <p:sp>
        <p:nvSpPr>
          <p:cNvPr id="1275" name="Google Shape;1275;g3ae338ccf5b_1_39"/>
          <p:cNvSpPr txBox="1"/>
          <p:nvPr>
            <p:ph type="title"/>
          </p:nvPr>
        </p:nvSpPr>
        <p:spPr>
          <a:xfrm>
            <a:off x="634675" y="425100"/>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Impact</a:t>
            </a:r>
            <a:endParaRPr>
              <a:latin typeface="Times New Roman"/>
              <a:ea typeface="Times New Roman"/>
              <a:cs typeface="Times New Roman"/>
              <a:sym typeface="Times New Roman"/>
            </a:endParaRPr>
          </a:p>
        </p:txBody>
      </p:sp>
      <p:sp>
        <p:nvSpPr>
          <p:cNvPr id="1276" name="Google Shape;1276;g3ae338ccf5b_1_39"/>
          <p:cNvSpPr txBox="1"/>
          <p:nvPr/>
        </p:nvSpPr>
        <p:spPr>
          <a:xfrm>
            <a:off x="517650" y="1124675"/>
            <a:ext cx="8108700" cy="1108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Shows how NLP can support financial decision-making</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Demonstrates practical integration of LLMs + specialized financial models</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Produces consistent, explainable outputs rather than unreliable “pure LLM guessing”</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Highlights the potential of AI-assisted investment analysis</a:t>
            </a:r>
            <a:endParaRPr sz="1500">
              <a:latin typeface="Times New Roman"/>
              <a:ea typeface="Times New Roman"/>
              <a:cs typeface="Times New Roman"/>
              <a:sym typeface="Times New Roman"/>
            </a:endParaRPr>
          </a:p>
        </p:txBody>
      </p:sp>
      <p:sp>
        <p:nvSpPr>
          <p:cNvPr id="1277" name="Google Shape;1277;g3ae338ccf5b_1_39"/>
          <p:cNvSpPr txBox="1"/>
          <p:nvPr>
            <p:ph type="title"/>
          </p:nvPr>
        </p:nvSpPr>
        <p:spPr>
          <a:xfrm>
            <a:off x="536700" y="2339175"/>
            <a:ext cx="807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Limitations and Future Works</a:t>
            </a:r>
            <a:endParaRPr>
              <a:latin typeface="Times New Roman"/>
              <a:ea typeface="Times New Roman"/>
              <a:cs typeface="Times New Roman"/>
              <a:sym typeface="Times New Roman"/>
            </a:endParaRPr>
          </a:p>
        </p:txBody>
      </p:sp>
      <p:sp>
        <p:nvSpPr>
          <p:cNvPr id="1278" name="Google Shape;1278;g3ae338ccf5b_1_39"/>
          <p:cNvSpPr txBox="1"/>
          <p:nvPr/>
        </p:nvSpPr>
        <p:spPr>
          <a:xfrm>
            <a:off x="517650" y="3079675"/>
            <a:ext cx="8108700" cy="1108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Training data is limited and synthetic—real-world datasets would improve performance</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FinBERT is frozen; fine-tuning could boost accuracy further</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Expand coverage to multiple companies/concepts at once</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US" sz="1500">
                <a:latin typeface="Times New Roman"/>
                <a:ea typeface="Times New Roman"/>
                <a:cs typeface="Times New Roman"/>
                <a:sym typeface="Times New Roman"/>
              </a:rPr>
              <a:t>Add portfolio simulation, risk scoring, or multi-factor reasoning</a:t>
            </a:r>
            <a:endParaRPr sz="15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2" name="Shape 1282"/>
        <p:cNvGrpSpPr/>
        <p:nvPr/>
      </p:nvGrpSpPr>
      <p:grpSpPr>
        <a:xfrm>
          <a:off x="0" y="0"/>
          <a:ext cx="0" cy="0"/>
          <a:chOff x="0" y="0"/>
          <a:chExt cx="0" cy="0"/>
        </a:xfrm>
      </p:grpSpPr>
      <p:sp>
        <p:nvSpPr>
          <p:cNvPr id="1283" name="Google Shape;1283;g3ae338ccf5b_1_30"/>
          <p:cNvSpPr txBox="1"/>
          <p:nvPr>
            <p:ph type="title"/>
          </p:nvPr>
        </p:nvSpPr>
        <p:spPr>
          <a:xfrm>
            <a:off x="634675" y="425100"/>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
        <p:nvSpPr>
          <p:cNvPr id="1284" name="Google Shape;1284;g3ae338ccf5b_1_30"/>
          <p:cNvSpPr txBox="1"/>
          <p:nvPr/>
        </p:nvSpPr>
        <p:spPr>
          <a:xfrm>
            <a:off x="517650" y="1124675"/>
            <a:ext cx="8108700" cy="3417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The MarketMind project demonstrates the power of combining domain-specific NLP with advanced language models to build a practical, intelligent investment assistant.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By training a FinBERT-based classifier on curated financial news, influential tweets(involving various sentiments) and balancing the dataset, we achieved strong performance in predicting Buy, Hold, or Sell signals. </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This model was then integrated into a GPT-4o-mini powered chatbot capable of extracting companies, rewriting user inputs into clear financial headlines, and providing sentiment-driven investment suggestions with confidence scores. </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The system maintains conversational context, ensures accurate company identification, and presents insights in a clean, user-friendly Gradio interface. </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Overall, MarketMind shows how LLM reasoning and financial sentiment classification can work together to create a reliable, explainable decision-support tool. </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US">
                <a:latin typeface="Times New Roman"/>
                <a:ea typeface="Times New Roman"/>
                <a:cs typeface="Times New Roman"/>
                <a:sym typeface="Times New Roman"/>
              </a:rPr>
              <a:t>While not a substitute for professional financial advice, this project highlights the potential of modern NLP technologies to assist investors in interpreting market news, and it lays the foundation for future improvements in robustness, dataset scale, and advanced market-aware features.</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7"/>
          <p:cNvSpPr txBox="1"/>
          <p:nvPr>
            <p:ph type="title"/>
          </p:nvPr>
        </p:nvSpPr>
        <p:spPr>
          <a:xfrm>
            <a:off x="720000" y="541675"/>
            <a:ext cx="7710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Work Division</a:t>
            </a:r>
            <a:endParaRPr>
              <a:latin typeface="Times New Roman"/>
              <a:ea typeface="Times New Roman"/>
              <a:cs typeface="Times New Roman"/>
              <a:sym typeface="Times New Roman"/>
            </a:endParaRPr>
          </a:p>
        </p:txBody>
      </p:sp>
      <p:sp>
        <p:nvSpPr>
          <p:cNvPr id="1290" name="Google Shape;1290;p7"/>
          <p:cNvSpPr txBox="1"/>
          <p:nvPr/>
        </p:nvSpPr>
        <p:spPr>
          <a:xfrm>
            <a:off x="1741611" y="1739494"/>
            <a:ext cx="1098300" cy="45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Zaheen</a:t>
            </a:r>
            <a:endParaRPr b="1" i="0" sz="1800" u="none" cap="none" strike="noStrike">
              <a:solidFill>
                <a:schemeClr val="dk1"/>
              </a:solidFill>
              <a:latin typeface="Times New Roman"/>
              <a:ea typeface="Times New Roman"/>
              <a:cs typeface="Times New Roman"/>
              <a:sym typeface="Times New Roman"/>
            </a:endParaRPr>
          </a:p>
        </p:txBody>
      </p:sp>
      <p:sp>
        <p:nvSpPr>
          <p:cNvPr id="1291" name="Google Shape;1291;p7"/>
          <p:cNvSpPr txBox="1"/>
          <p:nvPr/>
        </p:nvSpPr>
        <p:spPr>
          <a:xfrm>
            <a:off x="1668612" y="2420028"/>
            <a:ext cx="1244298" cy="45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Sowmya</a:t>
            </a:r>
            <a:endParaRPr b="1" i="0" sz="1800" u="none" cap="none" strike="noStrike">
              <a:solidFill>
                <a:schemeClr val="dk1"/>
              </a:solidFill>
              <a:latin typeface="Times New Roman"/>
              <a:ea typeface="Times New Roman"/>
              <a:cs typeface="Times New Roman"/>
              <a:sym typeface="Times New Roman"/>
            </a:endParaRPr>
          </a:p>
        </p:txBody>
      </p:sp>
      <p:sp>
        <p:nvSpPr>
          <p:cNvPr id="1292" name="Google Shape;1292;p7"/>
          <p:cNvSpPr txBox="1"/>
          <p:nvPr/>
        </p:nvSpPr>
        <p:spPr>
          <a:xfrm>
            <a:off x="1814611" y="3100562"/>
            <a:ext cx="1098300" cy="45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Moin</a:t>
            </a:r>
            <a:endParaRPr b="1" i="0" sz="1800" u="none" cap="none" strike="noStrike">
              <a:solidFill>
                <a:schemeClr val="dk1"/>
              </a:solidFill>
              <a:latin typeface="Times New Roman"/>
              <a:ea typeface="Times New Roman"/>
              <a:cs typeface="Times New Roman"/>
              <a:sym typeface="Times New Roman"/>
            </a:endParaRPr>
          </a:p>
        </p:txBody>
      </p:sp>
      <p:sp>
        <p:nvSpPr>
          <p:cNvPr id="1293" name="Google Shape;1293;p7"/>
          <p:cNvSpPr txBox="1"/>
          <p:nvPr/>
        </p:nvSpPr>
        <p:spPr>
          <a:xfrm>
            <a:off x="2912910" y="1739494"/>
            <a:ext cx="5103107" cy="45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Data Collection, </a:t>
            </a:r>
            <a:r>
              <a:rPr lang="en-US" sz="1800">
                <a:solidFill>
                  <a:schemeClr val="dk1"/>
                </a:solidFill>
                <a:latin typeface="Times New Roman"/>
                <a:ea typeface="Times New Roman"/>
                <a:cs typeface="Times New Roman"/>
                <a:sym typeface="Times New Roman"/>
              </a:rPr>
              <a:t>Processing</a:t>
            </a:r>
            <a:r>
              <a:rPr b="0" i="0" lang="en-US" sz="1800" u="none" cap="none" strike="noStrike">
                <a:solidFill>
                  <a:schemeClr val="dk1"/>
                </a:solidFill>
                <a:latin typeface="Times New Roman"/>
                <a:ea typeface="Times New Roman"/>
                <a:cs typeface="Times New Roman"/>
                <a:sym typeface="Times New Roman"/>
              </a:rPr>
              <a:t> and Presentation</a:t>
            </a:r>
            <a:endParaRPr b="0" i="0" sz="1800" u="none" cap="none" strike="noStrike">
              <a:solidFill>
                <a:schemeClr val="dk1"/>
              </a:solidFill>
              <a:latin typeface="Times New Roman"/>
              <a:ea typeface="Times New Roman"/>
              <a:cs typeface="Times New Roman"/>
              <a:sym typeface="Times New Roman"/>
            </a:endParaRPr>
          </a:p>
        </p:txBody>
      </p:sp>
      <p:sp>
        <p:nvSpPr>
          <p:cNvPr id="1294" name="Google Shape;1294;p7"/>
          <p:cNvSpPr txBox="1"/>
          <p:nvPr/>
        </p:nvSpPr>
        <p:spPr>
          <a:xfrm>
            <a:off x="2912910" y="2420028"/>
            <a:ext cx="4535778" cy="45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Coding</a:t>
            </a:r>
            <a:r>
              <a:rPr b="0" i="0" lang="en-US" sz="1800" u="none" cap="none" strike="noStrike">
                <a:solidFill>
                  <a:schemeClr val="dk1"/>
                </a:solidFill>
                <a:latin typeface="Times New Roman"/>
                <a:ea typeface="Times New Roman"/>
                <a:cs typeface="Times New Roman"/>
                <a:sym typeface="Times New Roman"/>
              </a:rPr>
              <a:t> and Data Processing </a:t>
            </a:r>
            <a:endParaRPr b="0" i="0" sz="1800" u="none" cap="none" strike="noStrike">
              <a:solidFill>
                <a:schemeClr val="dk1"/>
              </a:solidFill>
              <a:latin typeface="Times New Roman"/>
              <a:ea typeface="Times New Roman"/>
              <a:cs typeface="Times New Roman"/>
              <a:sym typeface="Times New Roman"/>
            </a:endParaRPr>
          </a:p>
        </p:txBody>
      </p:sp>
      <p:sp>
        <p:nvSpPr>
          <p:cNvPr id="1295" name="Google Shape;1295;p7"/>
          <p:cNvSpPr txBox="1"/>
          <p:nvPr/>
        </p:nvSpPr>
        <p:spPr>
          <a:xfrm>
            <a:off x="2912910" y="3100562"/>
            <a:ext cx="3861658" cy="45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Coding and GUI implementation</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g39aeb08826c_0_17"/>
          <p:cNvSpPr txBox="1"/>
          <p:nvPr>
            <p:ph idx="14" type="subTitle"/>
          </p:nvPr>
        </p:nvSpPr>
        <p:spPr>
          <a:xfrm>
            <a:off x="515850" y="1114375"/>
            <a:ext cx="8103900" cy="35133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Jadhav, Aakanksha, and Vishal Mirza. "Large Language Models in Equity Markets: Applications, Techniques, and Insights." Techniques, and Insights (March 15, 2025) (2025).</a:t>
            </a:r>
            <a:endParaRPr b="0" sz="1100">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Ding, H., Y. Li, J. Wang, and H. Chen. "Large language model agent in financial trading: A survey. arXiv." arXiv preprint arXiv:2408.06361 (2024).</a:t>
            </a:r>
            <a:endParaRPr b="0" sz="1100">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Olorunsheye, Akinlemi Olushola, and S. P. Meenakshi. "AI powered indicatorless algorithmic trading bot for cryptocurrency and financial market." In 2024 International Conference on Emerging Technologies in Computer Science for Interdisciplinary Applications (ICETCS), pp. 1-6. IEEE, 2024.</a:t>
            </a:r>
            <a:endParaRPr b="0" sz="1100">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Bustos, Oscar, Alexandra Pomares-Quimbaya, and Rémi Stellian. "Machine learning, stock market forecasting, and market efficiency: a comparative study." International Journal of Data Science and Analytics (2025): 1-25.</a:t>
            </a:r>
            <a:endParaRPr b="0" sz="1100">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Vardhan, Harsh, Neha Sharma, Manish Kumar, Rahul Kumar Singh, Riman Mandal, and Imran Siraj. "Transforming Algorithmic Trading with AI: Achieving Competitive Market Edge." In 2024 13th International Conference on System Modeling &amp; Advancement in Research Trends (SMART), pp. 456-461. IEEE, 2024.</a:t>
            </a:r>
            <a:endParaRPr b="0" sz="1100">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Bhat, Rithesh, and Bhanu Jain. "Stock price trend prediction using emotion analysis of financial headlines with distilled llm model." In </a:t>
            </a:r>
            <a:r>
              <a:rPr b="0" i="1" lang="en-US" sz="1100">
                <a:latin typeface="Times New Roman"/>
                <a:ea typeface="Times New Roman"/>
                <a:cs typeface="Times New Roman"/>
                <a:sym typeface="Times New Roman"/>
              </a:rPr>
              <a:t>Proceedings of the 17th International Conference on PErvasive Technologies Related to Assistive Environments</a:t>
            </a:r>
            <a:r>
              <a:rPr b="0" lang="en-US" sz="1100">
                <a:latin typeface="Times New Roman"/>
                <a:ea typeface="Times New Roman"/>
                <a:cs typeface="Times New Roman"/>
                <a:sym typeface="Times New Roman"/>
              </a:rPr>
              <a:t>, pp. 67-73. 2024.</a:t>
            </a:r>
            <a:endParaRPr b="0" sz="1100">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Iacovides, Giorgos, Thanos Konstantinidis, Mingxue Xu, and Danilo Mandic. "Finllama: Llm-based financial sentiment analysis for algorithmic trading." In </a:t>
            </a:r>
            <a:r>
              <a:rPr b="0" i="1" lang="en-US" sz="1100">
                <a:latin typeface="Times New Roman"/>
                <a:ea typeface="Times New Roman"/>
                <a:cs typeface="Times New Roman"/>
                <a:sym typeface="Times New Roman"/>
              </a:rPr>
              <a:t>Proceedings of the 5th ACM International Conference on AI in Finance</a:t>
            </a:r>
            <a:r>
              <a:rPr b="0" lang="en-US" sz="1100">
                <a:latin typeface="Times New Roman"/>
                <a:ea typeface="Times New Roman"/>
                <a:cs typeface="Times New Roman"/>
                <a:sym typeface="Times New Roman"/>
              </a:rPr>
              <a:t>, pp. 134-141. 2024.</a:t>
            </a:r>
            <a:endParaRPr b="0" sz="1100">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AutoNum type="arabicPeriod"/>
            </a:pPr>
            <a:r>
              <a:rPr b="0" lang="en-US" sz="1100">
                <a:latin typeface="Times New Roman"/>
                <a:ea typeface="Times New Roman"/>
                <a:cs typeface="Times New Roman"/>
                <a:sym typeface="Times New Roman"/>
              </a:rPr>
              <a:t>Guo, Tian, and Emmanuel Hauptmann. "Fine-tuning large language models for stock return prediction using newsflow." </a:t>
            </a:r>
            <a:r>
              <a:rPr b="0" i="1" lang="en-US" sz="1100">
                <a:latin typeface="Times New Roman"/>
                <a:ea typeface="Times New Roman"/>
                <a:cs typeface="Times New Roman"/>
                <a:sym typeface="Times New Roman"/>
              </a:rPr>
              <a:t>arXiv preprint arXiv:2407.18103</a:t>
            </a:r>
            <a:r>
              <a:rPr b="0" lang="en-US" sz="1100">
                <a:latin typeface="Times New Roman"/>
                <a:ea typeface="Times New Roman"/>
                <a:cs typeface="Times New Roman"/>
                <a:sym typeface="Times New Roman"/>
              </a:rPr>
              <a:t> (2024).</a:t>
            </a:r>
            <a:endParaRPr b="0" sz="1100">
              <a:latin typeface="Times New Roman"/>
              <a:ea typeface="Times New Roman"/>
              <a:cs typeface="Times New Roman"/>
              <a:sym typeface="Times New Roman"/>
            </a:endParaRPr>
          </a:p>
        </p:txBody>
      </p:sp>
      <p:sp>
        <p:nvSpPr>
          <p:cNvPr id="1301" name="Google Shape;1301;g39aeb08826c_0_17"/>
          <p:cNvSpPr txBox="1"/>
          <p:nvPr>
            <p:ph idx="15" type="title"/>
          </p:nvPr>
        </p:nvSpPr>
        <p:spPr>
          <a:xfrm>
            <a:off x="720000" y="541675"/>
            <a:ext cx="77109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3000"/>
              <a:buNone/>
            </a:pPr>
            <a:r>
              <a:rPr lang="en-US" sz="2800"/>
              <a:t>References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9"/>
          <p:cNvSpPr txBox="1"/>
          <p:nvPr>
            <p:ph idx="14" type="subTitle"/>
          </p:nvPr>
        </p:nvSpPr>
        <p:spPr>
          <a:xfrm>
            <a:off x="515850" y="1114375"/>
            <a:ext cx="8103900" cy="351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400"/>
              <a:buNone/>
            </a:pPr>
            <a:r>
              <a:rPr b="0" lang="en-US" sz="1100">
                <a:latin typeface="Times New Roman"/>
                <a:ea typeface="Times New Roman"/>
                <a:cs typeface="Times New Roman"/>
                <a:sym typeface="Times New Roman"/>
              </a:rPr>
              <a:t>9.    </a:t>
            </a:r>
            <a:r>
              <a:rPr b="0" lang="en-US" sz="1100">
                <a:solidFill>
                  <a:srgbClr val="222222"/>
                </a:solidFill>
                <a:latin typeface="Times New Roman"/>
                <a:ea typeface="Times New Roman"/>
                <a:cs typeface="Times New Roman"/>
                <a:sym typeface="Times New Roman"/>
              </a:rPr>
              <a:t>Wang, Xinlei, Maike Feng, Jing Qiu, Jinjin Gu, and Junhua Zhao. "From news to forecast: Integrating event analysis in llm-based time series forecasting with reflection." </a:t>
            </a:r>
            <a:r>
              <a:rPr b="0" i="1" lang="en-US" sz="1100">
                <a:solidFill>
                  <a:srgbClr val="222222"/>
                </a:solidFill>
                <a:latin typeface="Times New Roman"/>
                <a:ea typeface="Times New Roman"/>
                <a:cs typeface="Times New Roman"/>
                <a:sym typeface="Times New Roman"/>
              </a:rPr>
              <a:t>Advances in Neural Information Processing Systems</a:t>
            </a:r>
            <a:r>
              <a:rPr b="0" lang="en-US" sz="1100">
                <a:solidFill>
                  <a:srgbClr val="222222"/>
                </a:solidFill>
                <a:latin typeface="Times New Roman"/>
                <a:ea typeface="Times New Roman"/>
                <a:cs typeface="Times New Roman"/>
                <a:sym typeface="Times New Roman"/>
              </a:rPr>
              <a:t> 37 (2024): 58118-58153.</a:t>
            </a:r>
            <a:endParaRPr b="0" sz="1100">
              <a:solidFill>
                <a:srgbClr val="222222"/>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2400"/>
              <a:buNone/>
            </a:pPr>
            <a:r>
              <a:rPr b="0" lang="en-US" sz="1100">
                <a:solidFill>
                  <a:srgbClr val="222222"/>
                </a:solidFill>
                <a:latin typeface="Times New Roman"/>
                <a:ea typeface="Times New Roman"/>
                <a:cs typeface="Times New Roman"/>
                <a:sym typeface="Times New Roman"/>
              </a:rPr>
              <a:t>10.   Villota Miranda, Jesus. "Predicting Market Reactions to News: An LLM-Based Approach Using Spanish Business Articles." In </a:t>
            </a:r>
            <a:r>
              <a:rPr b="0" i="1" lang="en-US" sz="1100">
                <a:solidFill>
                  <a:srgbClr val="222222"/>
                </a:solidFill>
                <a:latin typeface="Times New Roman"/>
                <a:ea typeface="Times New Roman"/>
                <a:cs typeface="Times New Roman"/>
                <a:sym typeface="Times New Roman"/>
              </a:rPr>
              <a:t>Generative AI in Finance Conference,(John Molson School of Business, Montreal)</a:t>
            </a:r>
            <a:r>
              <a:rPr b="0" lang="en-US" sz="1100">
                <a:solidFill>
                  <a:srgbClr val="222222"/>
                </a:solidFill>
                <a:latin typeface="Times New Roman"/>
                <a:ea typeface="Times New Roman"/>
                <a:cs typeface="Times New Roman"/>
                <a:sym typeface="Times New Roman"/>
              </a:rPr>
              <a:t>. 2024.</a:t>
            </a:r>
            <a:endParaRPr b="0" sz="1100">
              <a:solidFill>
                <a:srgbClr val="222222"/>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2400"/>
              <a:buNone/>
            </a:pPr>
            <a:r>
              <a:rPr b="0" lang="en-US" sz="1100">
                <a:solidFill>
                  <a:srgbClr val="222222"/>
                </a:solidFill>
                <a:latin typeface="Times New Roman"/>
                <a:ea typeface="Times New Roman"/>
                <a:cs typeface="Times New Roman"/>
                <a:sym typeface="Times New Roman"/>
              </a:rPr>
              <a:t>11.   A. H. Huang, H. Wang, and Y. Yang, “FinBERT: A large language model for extracting information from financial text,” Contemporary Accounting Research, vol. 40, no. 2, pp. 806-841, 2023, doi: 10.1111/1911-3846.12832.</a:t>
            </a:r>
            <a:endParaRPr b="0" sz="1100">
              <a:solidFill>
                <a:srgbClr val="222222"/>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2400"/>
              <a:buNone/>
            </a:pPr>
            <a:r>
              <a:rPr b="0" lang="en-US" sz="1100">
                <a:solidFill>
                  <a:srgbClr val="222222"/>
                </a:solidFill>
                <a:latin typeface="Times New Roman"/>
                <a:ea typeface="Times New Roman"/>
                <a:cs typeface="Times New Roman"/>
                <a:sym typeface="Times New Roman"/>
              </a:rPr>
              <a:t>12.   Vuong, An, and Susan Gauch. "Predicting Stock Price Movement with LLM-Enhanced Tweet Emotion Analysis." </a:t>
            </a:r>
            <a:r>
              <a:rPr b="0" i="1" lang="en-US" sz="1100">
                <a:solidFill>
                  <a:srgbClr val="222222"/>
                </a:solidFill>
                <a:latin typeface="Times New Roman"/>
                <a:ea typeface="Times New Roman"/>
                <a:cs typeface="Times New Roman"/>
                <a:sym typeface="Times New Roman"/>
              </a:rPr>
              <a:t>arXiv preprint arXiv:2510.03633</a:t>
            </a:r>
            <a:r>
              <a:rPr b="0" lang="en-US" sz="1100">
                <a:solidFill>
                  <a:srgbClr val="222222"/>
                </a:solidFill>
                <a:latin typeface="Times New Roman"/>
                <a:ea typeface="Times New Roman"/>
                <a:cs typeface="Times New Roman"/>
                <a:sym typeface="Times New Roman"/>
              </a:rPr>
              <a:t> (2025).</a:t>
            </a:r>
            <a:endParaRPr b="0" sz="1100">
              <a:solidFill>
                <a:srgbClr val="222222"/>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2400"/>
              <a:buNone/>
            </a:pPr>
            <a:r>
              <a:rPr b="0" lang="en-US" sz="1100">
                <a:solidFill>
                  <a:srgbClr val="222222"/>
                </a:solidFill>
                <a:latin typeface="Times New Roman"/>
                <a:ea typeface="Times New Roman"/>
                <a:cs typeface="Times New Roman"/>
                <a:sym typeface="Times New Roman"/>
              </a:rPr>
              <a:t>13.   Zhu, Fengbin, Ziyang Liu, Fuli Feng, Chao Wang, Moxin Li, and Tat Seng Chua. "Tat-llm: A specialized language model for discrete reasoning over financial tabular and textual data." In </a:t>
            </a:r>
            <a:r>
              <a:rPr b="0" i="1" lang="en-US" sz="1100">
                <a:solidFill>
                  <a:srgbClr val="222222"/>
                </a:solidFill>
                <a:latin typeface="Times New Roman"/>
                <a:ea typeface="Times New Roman"/>
                <a:cs typeface="Times New Roman"/>
                <a:sym typeface="Times New Roman"/>
              </a:rPr>
              <a:t>Proceedings of the 5th ACM International Conference on AI in Finance</a:t>
            </a:r>
            <a:r>
              <a:rPr b="0" lang="en-US" sz="1100">
                <a:solidFill>
                  <a:srgbClr val="222222"/>
                </a:solidFill>
                <a:latin typeface="Times New Roman"/>
                <a:ea typeface="Times New Roman"/>
                <a:cs typeface="Times New Roman"/>
                <a:sym typeface="Times New Roman"/>
              </a:rPr>
              <a:t>, pp. 310-318. 2024.</a:t>
            </a:r>
            <a:endParaRPr b="0" sz="1100">
              <a:solidFill>
                <a:srgbClr val="222222"/>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2400"/>
              <a:buNone/>
            </a:pPr>
            <a:r>
              <a:rPr b="0" lang="en-US" sz="1100">
                <a:solidFill>
                  <a:srgbClr val="222222"/>
                </a:solidFill>
                <a:latin typeface="Times New Roman"/>
                <a:ea typeface="Times New Roman"/>
                <a:cs typeface="Times New Roman"/>
                <a:sym typeface="Times New Roman"/>
              </a:rPr>
              <a:t>14.   Moreno, Alejandro, and Joaquín Ordieres-Meré. "Predicting stock price trends using language models to extract the sentiment from analyst reports: Evidence from IBEX 35-listed companies." </a:t>
            </a:r>
            <a:r>
              <a:rPr b="0" i="1" lang="en-US" sz="1100">
                <a:solidFill>
                  <a:srgbClr val="222222"/>
                </a:solidFill>
                <a:latin typeface="Times New Roman"/>
                <a:ea typeface="Times New Roman"/>
                <a:cs typeface="Times New Roman"/>
                <a:sym typeface="Times New Roman"/>
              </a:rPr>
              <a:t>Economics Letters</a:t>
            </a:r>
            <a:r>
              <a:rPr b="0" lang="en-US" sz="1100">
                <a:solidFill>
                  <a:srgbClr val="222222"/>
                </a:solidFill>
                <a:latin typeface="Times New Roman"/>
                <a:ea typeface="Times New Roman"/>
                <a:cs typeface="Times New Roman"/>
                <a:sym typeface="Times New Roman"/>
              </a:rPr>
              <a:t> (2025): 112404.</a:t>
            </a:r>
            <a:endParaRPr b="0" sz="1100">
              <a:solidFill>
                <a:srgbClr val="222222"/>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2400"/>
              <a:buNone/>
            </a:pPr>
            <a:r>
              <a:rPr b="0" lang="en-US" sz="1100">
                <a:solidFill>
                  <a:srgbClr val="222222"/>
                </a:solidFill>
                <a:latin typeface="Times New Roman"/>
                <a:ea typeface="Times New Roman"/>
                <a:cs typeface="Times New Roman"/>
                <a:sym typeface="Times New Roman"/>
              </a:rPr>
              <a:t>15.   Darwish, Mahmoud, Ehab E. Hassanien, and Amany HB Eissa. "Stock Market Forecasting: From Traditional Predictive Models to Large Language Models: M. Darwish et al." </a:t>
            </a:r>
            <a:r>
              <a:rPr b="0" i="1" lang="en-US" sz="1100">
                <a:solidFill>
                  <a:srgbClr val="222222"/>
                </a:solidFill>
                <a:latin typeface="Times New Roman"/>
                <a:ea typeface="Times New Roman"/>
                <a:cs typeface="Times New Roman"/>
                <a:sym typeface="Times New Roman"/>
              </a:rPr>
              <a:t>Computational Economics</a:t>
            </a:r>
            <a:r>
              <a:rPr b="0" lang="en-US" sz="1100">
                <a:solidFill>
                  <a:srgbClr val="222222"/>
                </a:solidFill>
                <a:latin typeface="Times New Roman"/>
                <a:ea typeface="Times New Roman"/>
                <a:cs typeface="Times New Roman"/>
                <a:sym typeface="Times New Roman"/>
              </a:rPr>
              <a:t> (2025): 1-45.</a:t>
            </a:r>
            <a:endParaRPr b="0" sz="1100">
              <a:solidFill>
                <a:srgbClr val="222222"/>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400"/>
              <a:buNone/>
            </a:pPr>
            <a:r>
              <a:t/>
            </a:r>
            <a:endParaRPr b="0" sz="1100">
              <a:latin typeface="Times New Roman"/>
              <a:ea typeface="Times New Roman"/>
              <a:cs typeface="Times New Roman"/>
              <a:sym typeface="Times New Roman"/>
            </a:endParaRPr>
          </a:p>
          <a:p>
            <a:pPr indent="0" lvl="0" marL="457200" rtl="0" algn="l">
              <a:lnSpc>
                <a:spcPct val="100000"/>
              </a:lnSpc>
              <a:spcBef>
                <a:spcPts val="0"/>
              </a:spcBef>
              <a:spcAft>
                <a:spcPts val="0"/>
              </a:spcAft>
              <a:buSzPts val="2400"/>
              <a:buNone/>
            </a:pPr>
            <a:r>
              <a:t/>
            </a:r>
            <a:endParaRPr b="0" sz="1100">
              <a:latin typeface="Times New Roman"/>
              <a:ea typeface="Times New Roman"/>
              <a:cs typeface="Times New Roman"/>
              <a:sym typeface="Times New Roman"/>
            </a:endParaRPr>
          </a:p>
        </p:txBody>
      </p:sp>
      <p:sp>
        <p:nvSpPr>
          <p:cNvPr id="1307" name="Google Shape;1307;p9"/>
          <p:cNvSpPr txBox="1"/>
          <p:nvPr>
            <p:ph idx="15" type="title"/>
          </p:nvPr>
        </p:nvSpPr>
        <p:spPr>
          <a:xfrm>
            <a:off x="720000" y="541675"/>
            <a:ext cx="7710900" cy="572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3000"/>
              <a:buNone/>
            </a:pPr>
            <a:r>
              <a:rPr lang="en-US" sz="2800"/>
              <a:t>References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0"/>
          <p:cNvSpPr txBox="1"/>
          <p:nvPr>
            <p:ph type="title"/>
          </p:nvPr>
        </p:nvSpPr>
        <p:spPr>
          <a:xfrm>
            <a:off x="3156176" y="2203613"/>
            <a:ext cx="2530458"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Zaheen Ansar</dc:creator>
</cp:coreProperties>
</file>